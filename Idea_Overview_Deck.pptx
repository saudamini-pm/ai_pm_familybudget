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six sections of this idea overview. Each section is one slide. The goal is to give any stakeholder a complete mental model of the product in under 10 minutes.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persona is Morgan — the Household CFO. She already downloads CSVs. We change nothing about her workflow except making it 6x faster and giving her AI-powered answers. Secondary segments extend reach. TAM/SAM/SOM grounds the market size.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4×2 grid of pain points. The goal is to make the investor feel the frustration Morgan feels on the 15th of the month. The JTBD strip at the bottom names the five outcomes she is hiring this product to deliver.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5-step flow — it is the user journey in 20 seconds. Key call-outs in the table: (1) 2 hours → 20 minutes, (2) File-only import = no credentials ever stored, (3) AI uses function calls over real DB = no hallucination.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feature areas cover the complete household budgeting loop. The AI assistant is the differentiator — every other feature exists in competitors. Bottom strip shows the success metrics we hold ourselves to — these gate Series 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column patterns: Household Sharing — only Monarch and us. AI Q&amp;A — only us with grounded answers. File Import + Privacy together — only us and Goodbudget, but Goodbudget is manual entry. Our ⭐ row is the only one with all four differentiating checkmarks.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Core message: do not start from scratch. Four layers each have a clear 'use existing' recommendation. The function-calling tool layer (Layer 2) is our IP — not the base model. MVP ships with zero model training. Phase 2 fine-tuning is targeted and funded by real user correction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summary. Six sections covered. Each card maps to one slide in the deck. Use this as the recap or leave-behind.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4631801" cy="6858000"/>
          </a:xfrm>
          <a:prstGeom prst="rect">
            <a:avLst/>
          </a:prstGeom>
          <a:solidFill>
            <a:srgbClr val="0D1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02336"/>
            <a:ext cx="640080" cy="640080"/>
          </a:xfrm>
          <a:prstGeom prst="rect">
            <a:avLst/>
          </a:prstGeom>
          <a:noFill/>
        </p:spPr>
        <p:txBody>
          <a:bodyPr wrap="square">
            <a:spAutoFit/>
          </a:bodyPr>
          <a:lstStyle/>
          <a:p>
            <a:pPr algn="ctr"/>
            <a:r>
              <a:rPr sz="2800" b="0" i="0">
                <a:solidFill>
                  <a:srgbClr val="E2E8F0"/>
                </a:solidFill>
                <a:latin typeface="Calibri"/>
              </a:rPr>
              <a:t>💡</a:t>
            </a:r>
          </a:p>
        </p:txBody>
      </p:sp>
      <p:sp>
        <p:nvSpPr>
          <p:cNvPr id="4" name="TextBox 3"/>
          <p:cNvSpPr txBox="1"/>
          <p:nvPr/>
        </p:nvSpPr>
        <p:spPr>
          <a:xfrm>
            <a:off x="457200" y="1005840"/>
            <a:ext cx="6703923" cy="640080"/>
          </a:xfrm>
          <a:prstGeom prst="rect">
            <a:avLst/>
          </a:prstGeom>
          <a:noFill/>
        </p:spPr>
        <p:txBody>
          <a:bodyPr wrap="square">
            <a:spAutoFit/>
          </a:bodyPr>
          <a:lstStyle/>
          <a:p>
            <a:pPr algn="l"/>
            <a:r>
              <a:rPr sz="4600" b="1" i="0">
                <a:solidFill>
                  <a:srgbClr val="FFFFFF"/>
                </a:solidFill>
                <a:latin typeface="Calibri"/>
              </a:rPr>
              <a:t>Idea Overview</a:t>
            </a:r>
          </a:p>
        </p:txBody>
      </p:sp>
      <p:sp>
        <p:nvSpPr>
          <p:cNvPr id="5" name="TextBox 4"/>
          <p:cNvSpPr txBox="1"/>
          <p:nvPr/>
        </p:nvSpPr>
        <p:spPr>
          <a:xfrm>
            <a:off x="457200" y="1627632"/>
            <a:ext cx="6703923" cy="502920"/>
          </a:xfrm>
          <a:prstGeom prst="rect">
            <a:avLst/>
          </a:prstGeom>
          <a:noFill/>
        </p:spPr>
        <p:txBody>
          <a:bodyPr wrap="square">
            <a:spAutoFit/>
          </a:bodyPr>
          <a:lstStyle/>
          <a:p>
            <a:pPr algn="l"/>
            <a:r>
              <a:rPr sz="3200" b="1" i="0">
                <a:solidFill>
                  <a:srgbClr val="4F8EF7"/>
                </a:solidFill>
                <a:latin typeface="Calibri"/>
              </a:rPr>
              <a:t>Family Budget Assistant</a:t>
            </a:r>
          </a:p>
        </p:txBody>
      </p:sp>
      <p:sp>
        <p:nvSpPr>
          <p:cNvPr id="6" name="TextBox 5"/>
          <p:cNvSpPr txBox="1"/>
          <p:nvPr/>
        </p:nvSpPr>
        <p:spPr>
          <a:xfrm>
            <a:off x="457200" y="2331720"/>
            <a:ext cx="6338255" cy="1005840"/>
          </a:xfrm>
          <a:prstGeom prst="rect">
            <a:avLst/>
          </a:prstGeom>
          <a:noFill/>
        </p:spPr>
        <p:txBody>
          <a:bodyPr wrap="square">
            <a:spAutoFit/>
          </a:bodyPr>
          <a:lstStyle/>
          <a:p>
            <a:pPr algn="l"/>
            <a:r>
              <a:rPr sz="1300" b="0" i="0">
                <a:solidFill>
                  <a:srgbClr val="94A3B8"/>
                </a:solidFill>
                <a:latin typeface="Calibri"/>
              </a:rPr>
              <a:t>A structured overview covering target customers, pain points,
our solution, key features, competitive landscape,
and the AI/data strategy behind the product.</a:t>
            </a:r>
          </a:p>
        </p:txBody>
      </p:sp>
      <p:sp>
        <p:nvSpPr>
          <p:cNvPr id="7" name="TextBox 6"/>
          <p:cNvSpPr txBox="1"/>
          <p:nvPr/>
        </p:nvSpPr>
        <p:spPr>
          <a:xfrm>
            <a:off x="502920" y="3520440"/>
            <a:ext cx="320040" cy="347472"/>
          </a:xfrm>
          <a:prstGeom prst="rect">
            <a:avLst/>
          </a:prstGeom>
          <a:noFill/>
        </p:spPr>
        <p:txBody>
          <a:bodyPr wrap="square">
            <a:spAutoFit/>
          </a:bodyPr>
          <a:lstStyle/>
          <a:p>
            <a:pPr algn="l"/>
            <a:r>
              <a:rPr sz="1400" b="1" i="0">
                <a:solidFill>
                  <a:srgbClr val="22C55E"/>
                </a:solidFill>
                <a:latin typeface="Calibri"/>
              </a:rPr>
              <a:t>☑</a:t>
            </a:r>
          </a:p>
        </p:txBody>
      </p:sp>
      <p:sp>
        <p:nvSpPr>
          <p:cNvPr id="8" name="TextBox 7"/>
          <p:cNvSpPr txBox="1"/>
          <p:nvPr/>
        </p:nvSpPr>
        <p:spPr>
          <a:xfrm>
            <a:off x="822960" y="3520440"/>
            <a:ext cx="5485028" cy="347472"/>
          </a:xfrm>
          <a:prstGeom prst="rect">
            <a:avLst/>
          </a:prstGeom>
          <a:noFill/>
        </p:spPr>
        <p:txBody>
          <a:bodyPr wrap="square">
            <a:spAutoFit/>
          </a:bodyPr>
          <a:lstStyle/>
          <a:p>
            <a:pPr algn="l"/>
            <a:r>
              <a:rPr sz="1200" b="0" i="0">
                <a:solidFill>
                  <a:srgbClr val="E2E8F0"/>
                </a:solidFill>
                <a:latin typeface="Calibri"/>
              </a:rPr>
              <a:t>Target Customer</a:t>
            </a:r>
          </a:p>
        </p:txBody>
      </p:sp>
      <p:sp>
        <p:nvSpPr>
          <p:cNvPr id="9" name="TextBox 8"/>
          <p:cNvSpPr txBox="1"/>
          <p:nvPr/>
        </p:nvSpPr>
        <p:spPr>
          <a:xfrm>
            <a:off x="502920" y="3904488"/>
            <a:ext cx="320040" cy="347472"/>
          </a:xfrm>
          <a:prstGeom prst="rect">
            <a:avLst/>
          </a:prstGeom>
          <a:noFill/>
        </p:spPr>
        <p:txBody>
          <a:bodyPr wrap="square">
            <a:spAutoFit/>
          </a:bodyPr>
          <a:lstStyle/>
          <a:p>
            <a:pPr algn="l"/>
            <a:r>
              <a:rPr sz="1400" b="1" i="0">
                <a:solidFill>
                  <a:srgbClr val="22C55E"/>
                </a:solidFill>
                <a:latin typeface="Calibri"/>
              </a:rPr>
              <a:t>☑</a:t>
            </a:r>
          </a:p>
        </p:txBody>
      </p:sp>
      <p:sp>
        <p:nvSpPr>
          <p:cNvPr id="10" name="TextBox 9"/>
          <p:cNvSpPr txBox="1"/>
          <p:nvPr/>
        </p:nvSpPr>
        <p:spPr>
          <a:xfrm>
            <a:off x="822960" y="3904488"/>
            <a:ext cx="5485028" cy="347472"/>
          </a:xfrm>
          <a:prstGeom prst="rect">
            <a:avLst/>
          </a:prstGeom>
          <a:noFill/>
        </p:spPr>
        <p:txBody>
          <a:bodyPr wrap="square">
            <a:spAutoFit/>
          </a:bodyPr>
          <a:lstStyle/>
          <a:p>
            <a:pPr algn="l"/>
            <a:r>
              <a:rPr sz="1200" b="0" i="0">
                <a:solidFill>
                  <a:srgbClr val="E2E8F0"/>
                </a:solidFill>
                <a:latin typeface="Calibri"/>
              </a:rPr>
              <a:t>Customer Pain Points &amp; Challenges</a:t>
            </a:r>
          </a:p>
        </p:txBody>
      </p:sp>
      <p:sp>
        <p:nvSpPr>
          <p:cNvPr id="11" name="TextBox 10"/>
          <p:cNvSpPr txBox="1"/>
          <p:nvPr/>
        </p:nvSpPr>
        <p:spPr>
          <a:xfrm>
            <a:off x="502920" y="4288536"/>
            <a:ext cx="320040" cy="347472"/>
          </a:xfrm>
          <a:prstGeom prst="rect">
            <a:avLst/>
          </a:prstGeom>
          <a:noFill/>
        </p:spPr>
        <p:txBody>
          <a:bodyPr wrap="square">
            <a:spAutoFit/>
          </a:bodyPr>
          <a:lstStyle/>
          <a:p>
            <a:pPr algn="l"/>
            <a:r>
              <a:rPr sz="1400" b="1" i="0">
                <a:solidFill>
                  <a:srgbClr val="22C55E"/>
                </a:solidFill>
                <a:latin typeface="Calibri"/>
              </a:rPr>
              <a:t>☑</a:t>
            </a:r>
          </a:p>
        </p:txBody>
      </p:sp>
      <p:sp>
        <p:nvSpPr>
          <p:cNvPr id="12" name="TextBox 11"/>
          <p:cNvSpPr txBox="1"/>
          <p:nvPr/>
        </p:nvSpPr>
        <p:spPr>
          <a:xfrm>
            <a:off x="822960" y="4288536"/>
            <a:ext cx="5485028" cy="347472"/>
          </a:xfrm>
          <a:prstGeom prst="rect">
            <a:avLst/>
          </a:prstGeom>
          <a:noFill/>
        </p:spPr>
        <p:txBody>
          <a:bodyPr wrap="square">
            <a:spAutoFit/>
          </a:bodyPr>
          <a:lstStyle/>
          <a:p>
            <a:pPr algn="l"/>
            <a:r>
              <a:rPr sz="1200" b="0" i="0">
                <a:solidFill>
                  <a:srgbClr val="E2E8F0"/>
                </a:solidFill>
                <a:latin typeface="Calibri"/>
              </a:rPr>
              <a:t>How We Plan to Solve the Problem</a:t>
            </a:r>
          </a:p>
        </p:txBody>
      </p:sp>
      <p:sp>
        <p:nvSpPr>
          <p:cNvPr id="13" name="TextBox 12"/>
          <p:cNvSpPr txBox="1"/>
          <p:nvPr/>
        </p:nvSpPr>
        <p:spPr>
          <a:xfrm>
            <a:off x="502920" y="4672584"/>
            <a:ext cx="320040" cy="347472"/>
          </a:xfrm>
          <a:prstGeom prst="rect">
            <a:avLst/>
          </a:prstGeom>
          <a:noFill/>
        </p:spPr>
        <p:txBody>
          <a:bodyPr wrap="square">
            <a:spAutoFit/>
          </a:bodyPr>
          <a:lstStyle/>
          <a:p>
            <a:pPr algn="l"/>
            <a:r>
              <a:rPr sz="1400" b="1" i="0">
                <a:solidFill>
                  <a:srgbClr val="22C55E"/>
                </a:solidFill>
                <a:latin typeface="Calibri"/>
              </a:rPr>
              <a:t>☑</a:t>
            </a:r>
          </a:p>
        </p:txBody>
      </p:sp>
      <p:sp>
        <p:nvSpPr>
          <p:cNvPr id="14" name="TextBox 13"/>
          <p:cNvSpPr txBox="1"/>
          <p:nvPr/>
        </p:nvSpPr>
        <p:spPr>
          <a:xfrm>
            <a:off x="822960" y="4672584"/>
            <a:ext cx="5485028" cy="347472"/>
          </a:xfrm>
          <a:prstGeom prst="rect">
            <a:avLst/>
          </a:prstGeom>
          <a:noFill/>
        </p:spPr>
        <p:txBody>
          <a:bodyPr wrap="square">
            <a:spAutoFit/>
          </a:bodyPr>
          <a:lstStyle/>
          <a:p>
            <a:pPr algn="l"/>
            <a:r>
              <a:rPr sz="1200" b="0" i="0">
                <a:solidFill>
                  <a:srgbClr val="E2E8F0"/>
                </a:solidFill>
                <a:latin typeface="Calibri"/>
              </a:rPr>
              <a:t>Key Features</a:t>
            </a:r>
          </a:p>
        </p:txBody>
      </p:sp>
      <p:sp>
        <p:nvSpPr>
          <p:cNvPr id="15" name="TextBox 14"/>
          <p:cNvSpPr txBox="1"/>
          <p:nvPr/>
        </p:nvSpPr>
        <p:spPr>
          <a:xfrm>
            <a:off x="502920" y="5056632"/>
            <a:ext cx="320040" cy="347472"/>
          </a:xfrm>
          <a:prstGeom prst="rect">
            <a:avLst/>
          </a:prstGeom>
          <a:noFill/>
        </p:spPr>
        <p:txBody>
          <a:bodyPr wrap="square">
            <a:spAutoFit/>
          </a:bodyPr>
          <a:lstStyle/>
          <a:p>
            <a:pPr algn="l"/>
            <a:r>
              <a:rPr sz="1400" b="1" i="0">
                <a:solidFill>
                  <a:srgbClr val="22C55E"/>
                </a:solidFill>
                <a:latin typeface="Calibri"/>
              </a:rPr>
              <a:t>☑</a:t>
            </a:r>
          </a:p>
        </p:txBody>
      </p:sp>
      <p:sp>
        <p:nvSpPr>
          <p:cNvPr id="16" name="TextBox 15"/>
          <p:cNvSpPr txBox="1"/>
          <p:nvPr/>
        </p:nvSpPr>
        <p:spPr>
          <a:xfrm>
            <a:off x="822960" y="5056632"/>
            <a:ext cx="5485028" cy="347472"/>
          </a:xfrm>
          <a:prstGeom prst="rect">
            <a:avLst/>
          </a:prstGeom>
          <a:noFill/>
        </p:spPr>
        <p:txBody>
          <a:bodyPr wrap="square">
            <a:spAutoFit/>
          </a:bodyPr>
          <a:lstStyle/>
          <a:p>
            <a:pPr algn="l"/>
            <a:r>
              <a:rPr sz="1200" b="0" i="0">
                <a:solidFill>
                  <a:srgbClr val="E2E8F0"/>
                </a:solidFill>
                <a:latin typeface="Calibri"/>
              </a:rPr>
              <a:t>Competitors in the Market</a:t>
            </a:r>
          </a:p>
        </p:txBody>
      </p:sp>
      <p:sp>
        <p:nvSpPr>
          <p:cNvPr id="17" name="TextBox 16"/>
          <p:cNvSpPr txBox="1"/>
          <p:nvPr/>
        </p:nvSpPr>
        <p:spPr>
          <a:xfrm>
            <a:off x="502920" y="5440680"/>
            <a:ext cx="320040" cy="347472"/>
          </a:xfrm>
          <a:prstGeom prst="rect">
            <a:avLst/>
          </a:prstGeom>
          <a:noFill/>
        </p:spPr>
        <p:txBody>
          <a:bodyPr wrap="square">
            <a:spAutoFit/>
          </a:bodyPr>
          <a:lstStyle/>
          <a:p>
            <a:pPr algn="l"/>
            <a:r>
              <a:rPr sz="1400" b="1" i="0">
                <a:solidFill>
                  <a:srgbClr val="22C55E"/>
                </a:solidFill>
                <a:latin typeface="Calibri"/>
              </a:rPr>
              <a:t>☑</a:t>
            </a:r>
          </a:p>
        </p:txBody>
      </p:sp>
      <p:sp>
        <p:nvSpPr>
          <p:cNvPr id="18" name="TextBox 17"/>
          <p:cNvSpPr txBox="1"/>
          <p:nvPr/>
        </p:nvSpPr>
        <p:spPr>
          <a:xfrm>
            <a:off x="822960" y="5440680"/>
            <a:ext cx="5485028" cy="347472"/>
          </a:xfrm>
          <a:prstGeom prst="rect">
            <a:avLst/>
          </a:prstGeom>
          <a:noFill/>
        </p:spPr>
        <p:txBody>
          <a:bodyPr wrap="square">
            <a:spAutoFit/>
          </a:bodyPr>
          <a:lstStyle/>
          <a:p>
            <a:pPr algn="l"/>
            <a:r>
              <a:rPr sz="1200" b="0" i="0">
                <a:solidFill>
                  <a:srgbClr val="E2E8F0"/>
                </a:solidFill>
                <a:latin typeface="Calibri"/>
              </a:rPr>
              <a:t>Existing Data &amp; Models for AI</a:t>
            </a:r>
          </a:p>
        </p:txBody>
      </p:sp>
      <p:sp>
        <p:nvSpPr>
          <p:cNvPr id="19" name="Rectangle 18"/>
          <p:cNvSpPr/>
          <p:nvPr/>
        </p:nvSpPr>
        <p:spPr>
          <a:xfrm>
            <a:off x="7557150" y="0"/>
            <a:ext cx="4631801" cy="6858000"/>
          </a:xfrm>
          <a:prstGeom prst="rect">
            <a:avLst/>
          </a:prstGeom>
          <a:solidFill>
            <a:srgbClr val="06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57150" y="2194560"/>
            <a:ext cx="4631801" cy="731520"/>
          </a:xfrm>
          <a:prstGeom prst="rect">
            <a:avLst/>
          </a:prstGeom>
          <a:noFill/>
        </p:spPr>
        <p:txBody>
          <a:bodyPr wrap="square">
            <a:spAutoFit/>
          </a:bodyPr>
          <a:lstStyle/>
          <a:p>
            <a:pPr algn="ctr"/>
            <a:r>
              <a:rPr sz="6000" b="0" i="0">
                <a:solidFill>
                  <a:srgbClr val="E2E8F0"/>
                </a:solidFill>
                <a:latin typeface="Calibri"/>
              </a:rPr>
              <a:t>🏠</a:t>
            </a:r>
          </a:p>
        </p:txBody>
      </p:sp>
      <p:sp>
        <p:nvSpPr>
          <p:cNvPr id="21" name="TextBox 20"/>
          <p:cNvSpPr txBox="1"/>
          <p:nvPr/>
        </p:nvSpPr>
        <p:spPr>
          <a:xfrm>
            <a:off x="7557150" y="2926080"/>
            <a:ext cx="4631801" cy="457200"/>
          </a:xfrm>
          <a:prstGeom prst="rect">
            <a:avLst/>
          </a:prstGeom>
          <a:noFill/>
        </p:spPr>
        <p:txBody>
          <a:bodyPr wrap="square">
            <a:spAutoFit/>
          </a:bodyPr>
          <a:lstStyle/>
          <a:p>
            <a:pPr algn="ctr"/>
            <a:r>
              <a:rPr sz="1800" b="1" i="0">
                <a:solidFill>
                  <a:srgbClr val="FFFFFF"/>
                </a:solidFill>
                <a:latin typeface="Calibri"/>
              </a:rPr>
              <a:t>Family Budget Assistant</a:t>
            </a:r>
          </a:p>
        </p:txBody>
      </p:sp>
      <p:sp>
        <p:nvSpPr>
          <p:cNvPr id="22" name="TextBox 21"/>
          <p:cNvSpPr txBox="1"/>
          <p:nvPr/>
        </p:nvSpPr>
        <p:spPr>
          <a:xfrm>
            <a:off x="7557150" y="3364992"/>
            <a:ext cx="4631801" cy="365760"/>
          </a:xfrm>
          <a:prstGeom prst="rect">
            <a:avLst/>
          </a:prstGeom>
          <a:noFill/>
        </p:spPr>
        <p:txBody>
          <a:bodyPr wrap="square">
            <a:spAutoFit/>
          </a:bodyPr>
          <a:lstStyle/>
          <a:p>
            <a:pPr algn="ctr"/>
            <a:r>
              <a:rPr sz="1200" b="0" i="0">
                <a:solidFill>
                  <a:srgbClr val="94A3B8"/>
                </a:solidFill>
                <a:latin typeface="Calibri"/>
              </a:rPr>
              <a:t>Your household finances, honestly.</a:t>
            </a:r>
          </a:p>
        </p:txBody>
      </p:sp>
      <p:sp>
        <p:nvSpPr>
          <p:cNvPr id="23" name="TextBox 22"/>
          <p:cNvSpPr txBox="1"/>
          <p:nvPr/>
        </p:nvSpPr>
        <p:spPr>
          <a:xfrm>
            <a:off x="7557150" y="6309360"/>
            <a:ext cx="4631801" cy="274320"/>
          </a:xfrm>
          <a:prstGeom prst="rect">
            <a:avLst/>
          </a:prstGeom>
          <a:noFill/>
        </p:spPr>
        <p:txBody>
          <a:bodyPr wrap="square">
            <a:spAutoFit/>
          </a:bodyPr>
          <a:lstStyle/>
          <a:p>
            <a:pPr algn="ctr"/>
            <a:r>
              <a:rPr sz="1000" b="0" i="0">
                <a:solidFill>
                  <a:srgbClr val="2A3450"/>
                </a:solidFill>
                <a:latin typeface="Calibri"/>
              </a:rPr>
              <a:t>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347472"/>
            <a:ext cx="10970056" cy="256032"/>
          </a:xfrm>
          <a:prstGeom prst="rect">
            <a:avLst/>
          </a:prstGeom>
          <a:noFill/>
        </p:spPr>
        <p:txBody>
          <a:bodyPr wrap="square">
            <a:spAutoFit/>
          </a:bodyPr>
          <a:lstStyle/>
          <a:p>
            <a:pPr algn="l"/>
            <a:r>
              <a:rPr sz="900" b="1" i="0">
                <a:solidFill>
                  <a:srgbClr val="4F8EF7"/>
                </a:solidFill>
                <a:latin typeface="Calibri"/>
              </a:rPr>
              <a:t>☑ TARGET CUSTOMER</a:t>
            </a:r>
          </a:p>
        </p:txBody>
      </p:sp>
      <p:sp>
        <p:nvSpPr>
          <p:cNvPr id="3" name="TextBox 2"/>
          <p:cNvSpPr txBox="1"/>
          <p:nvPr/>
        </p:nvSpPr>
        <p:spPr>
          <a:xfrm>
            <a:off x="457200" y="603504"/>
            <a:ext cx="10970056" cy="548640"/>
          </a:xfrm>
          <a:prstGeom prst="rect">
            <a:avLst/>
          </a:prstGeom>
          <a:noFill/>
        </p:spPr>
        <p:txBody>
          <a:bodyPr wrap="square">
            <a:spAutoFit/>
          </a:bodyPr>
          <a:lstStyle/>
          <a:p>
            <a:pPr algn="l"/>
            <a:r>
              <a:rPr sz="2600" b="1" i="0">
                <a:solidFill>
                  <a:srgbClr val="FFFFFF"/>
                </a:solidFill>
                <a:latin typeface="Calibri"/>
              </a:rPr>
              <a:t>The Household CFO &amp; their family</a:t>
            </a:r>
          </a:p>
        </p:txBody>
      </p:sp>
      <p:sp>
        <p:nvSpPr>
          <p:cNvPr id="4" name="Rectangle 3"/>
          <p:cNvSpPr/>
          <p:nvPr/>
        </p:nvSpPr>
        <p:spPr>
          <a:xfrm>
            <a:off x="457200" y="1572768"/>
            <a:ext cx="11335725" cy="1481328"/>
          </a:xfrm>
          <a:prstGeom prst="rect">
            <a:avLst/>
          </a:prstGeom>
          <a:solidFill>
            <a:srgbClr val="1A2235"/>
          </a:solidFill>
          <a:ln w="9525">
            <a:solidFill>
              <a:srgbClr val="4F8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572768"/>
            <a:ext cx="54864" cy="1481328"/>
          </a:xfrm>
          <a:prstGeom prst="rect">
            <a:avLst/>
          </a:prstGeom>
          <a:solidFill>
            <a:srgbClr val="4F8E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664208"/>
            <a:ext cx="777240" cy="777240"/>
          </a:xfrm>
          <a:prstGeom prst="rect">
            <a:avLst/>
          </a:prstGeom>
          <a:noFill/>
        </p:spPr>
        <p:txBody>
          <a:bodyPr wrap="square">
            <a:spAutoFit/>
          </a:bodyPr>
          <a:lstStyle/>
          <a:p>
            <a:pPr algn="l"/>
            <a:r>
              <a:rPr sz="3400" b="0" i="0">
                <a:solidFill>
                  <a:srgbClr val="E2E8F0"/>
                </a:solidFill>
                <a:latin typeface="Calibri"/>
              </a:rPr>
              <a:t>👩</a:t>
            </a:r>
          </a:p>
        </p:txBody>
      </p:sp>
      <p:sp>
        <p:nvSpPr>
          <p:cNvPr id="7" name="TextBox 6"/>
          <p:cNvSpPr txBox="1"/>
          <p:nvPr/>
        </p:nvSpPr>
        <p:spPr>
          <a:xfrm>
            <a:off x="1508760" y="1636776"/>
            <a:ext cx="9507382" cy="347472"/>
          </a:xfrm>
          <a:prstGeom prst="rect">
            <a:avLst/>
          </a:prstGeom>
          <a:noFill/>
        </p:spPr>
        <p:txBody>
          <a:bodyPr wrap="square">
            <a:spAutoFit/>
          </a:bodyPr>
          <a:lstStyle/>
          <a:p>
            <a:pPr algn="l"/>
            <a:r>
              <a:rPr sz="1300" b="1" i="0">
                <a:solidFill>
                  <a:srgbClr val="FFFFFF"/>
                </a:solidFill>
                <a:latin typeface="Calibri"/>
              </a:rPr>
              <a:t>Primary: "Morgan, 38" — The Household CFO</a:t>
            </a:r>
          </a:p>
        </p:txBody>
      </p:sp>
      <p:sp>
        <p:nvSpPr>
          <p:cNvPr id="8" name="TextBox 7"/>
          <p:cNvSpPr txBox="1"/>
          <p:nvPr/>
        </p:nvSpPr>
        <p:spPr>
          <a:xfrm>
            <a:off x="1508760" y="1956816"/>
            <a:ext cx="9507382" cy="256032"/>
          </a:xfrm>
          <a:prstGeom prst="rect">
            <a:avLst/>
          </a:prstGeom>
          <a:noFill/>
        </p:spPr>
        <p:txBody>
          <a:bodyPr wrap="square">
            <a:spAutoFit/>
          </a:bodyPr>
          <a:lstStyle/>
          <a:p>
            <a:pPr algn="l"/>
            <a:r>
              <a:rPr sz="1000" b="0" i="0">
                <a:solidFill>
                  <a:srgbClr val="4F8EF7"/>
                </a:solidFill>
                <a:latin typeface="Calibri"/>
              </a:rPr>
              <a:t>Parent · $75K–$250K household income · US-first · 3–8 accounts across 2+ banks</a:t>
            </a:r>
          </a:p>
        </p:txBody>
      </p:sp>
      <p:sp>
        <p:nvSpPr>
          <p:cNvPr id="9" name="TextBox 8"/>
          <p:cNvSpPr txBox="1"/>
          <p:nvPr/>
        </p:nvSpPr>
        <p:spPr>
          <a:xfrm>
            <a:off x="1508760" y="2194560"/>
            <a:ext cx="9507382" cy="713232"/>
          </a:xfrm>
          <a:prstGeom prst="rect">
            <a:avLst/>
          </a:prstGeom>
          <a:noFill/>
        </p:spPr>
        <p:txBody>
          <a:bodyPr wrap="square">
            <a:spAutoFit/>
          </a:bodyPr>
          <a:lstStyle/>
          <a:p>
            <a:pPr algn="l"/>
            <a:r>
              <a:rPr sz="1100" b="0" i="0">
                <a:solidFill>
                  <a:srgbClr val="94A3B8"/>
                </a:solidFill>
                <a:latin typeface="Calibri"/>
              </a:rPr>
              <a:t>Manages checking, savings, 2+ credit cards, and her partner's accounts. Spends ~2 hours/month manually consolidating finances in spreadsheets. Privacy-conscious — avoids linking bank credentials to third-party apps. Needs: import, categorize, family budget, mid-month alerts, and plain-English answers.</a:t>
            </a:r>
          </a:p>
        </p:txBody>
      </p:sp>
      <p:sp>
        <p:nvSpPr>
          <p:cNvPr id="10" name="Rectangle 9"/>
          <p:cNvSpPr/>
          <p:nvPr/>
        </p:nvSpPr>
        <p:spPr>
          <a:xfrm>
            <a:off x="457200" y="3163824"/>
            <a:ext cx="1965960" cy="274320"/>
          </a:xfrm>
          <a:prstGeom prst="rect">
            <a:avLst/>
          </a:prstGeom>
          <a:solidFill>
            <a:srgbClr val="0D2A5A"/>
          </a:solidFill>
          <a:ln w="5080">
            <a:solidFill>
              <a:srgbClr val="4F8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 y="3172968"/>
            <a:ext cx="1828800" cy="237744"/>
          </a:xfrm>
          <a:prstGeom prst="rect">
            <a:avLst/>
          </a:prstGeom>
          <a:noFill/>
        </p:spPr>
        <p:txBody>
          <a:bodyPr wrap="square">
            <a:spAutoFit/>
          </a:bodyPr>
          <a:lstStyle/>
          <a:p>
            <a:pPr algn="l"/>
            <a:r>
              <a:rPr sz="900" b="0" i="0">
                <a:solidFill>
                  <a:srgbClr val="4F8EF7"/>
                </a:solidFill>
                <a:latin typeface="Calibri"/>
              </a:rPr>
              <a:t>3–8 accounts</a:t>
            </a:r>
          </a:p>
        </p:txBody>
      </p:sp>
      <p:sp>
        <p:nvSpPr>
          <p:cNvPr id="12" name="Rectangle 11"/>
          <p:cNvSpPr/>
          <p:nvPr/>
        </p:nvSpPr>
        <p:spPr>
          <a:xfrm>
            <a:off x="2542031" y="3163824"/>
            <a:ext cx="1965960" cy="274320"/>
          </a:xfrm>
          <a:prstGeom prst="rect">
            <a:avLst/>
          </a:prstGeom>
          <a:solidFill>
            <a:srgbClr val="0D2A5A"/>
          </a:solidFill>
          <a:ln w="5080">
            <a:solidFill>
              <a:srgbClr val="4F8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15183" y="3172968"/>
            <a:ext cx="1828800" cy="237744"/>
          </a:xfrm>
          <a:prstGeom prst="rect">
            <a:avLst/>
          </a:prstGeom>
          <a:noFill/>
        </p:spPr>
        <p:txBody>
          <a:bodyPr wrap="square">
            <a:spAutoFit/>
          </a:bodyPr>
          <a:lstStyle/>
          <a:p>
            <a:pPr algn="l"/>
            <a:r>
              <a:rPr sz="900" b="0" i="0">
                <a:solidFill>
                  <a:srgbClr val="4F8EF7"/>
                </a:solidFill>
                <a:latin typeface="Calibri"/>
              </a:rPr>
              <a:t>2+ institutions</a:t>
            </a:r>
          </a:p>
        </p:txBody>
      </p:sp>
      <p:sp>
        <p:nvSpPr>
          <p:cNvPr id="14" name="Rectangle 13"/>
          <p:cNvSpPr/>
          <p:nvPr/>
        </p:nvSpPr>
        <p:spPr>
          <a:xfrm>
            <a:off x="4626862" y="3163824"/>
            <a:ext cx="1965960" cy="274320"/>
          </a:xfrm>
          <a:prstGeom prst="rect">
            <a:avLst/>
          </a:prstGeom>
          <a:solidFill>
            <a:srgbClr val="0D2A5A"/>
          </a:solidFill>
          <a:ln w="5080">
            <a:solidFill>
              <a:srgbClr val="4F8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00014" y="3172968"/>
            <a:ext cx="1828800" cy="237744"/>
          </a:xfrm>
          <a:prstGeom prst="rect">
            <a:avLst/>
          </a:prstGeom>
          <a:noFill/>
        </p:spPr>
        <p:txBody>
          <a:bodyPr wrap="square">
            <a:spAutoFit/>
          </a:bodyPr>
          <a:lstStyle/>
          <a:p>
            <a:pPr algn="l"/>
            <a:r>
              <a:rPr sz="900" b="0" i="0">
                <a:solidFill>
                  <a:srgbClr val="4F8EF7"/>
                </a:solidFill>
                <a:latin typeface="Calibri"/>
              </a:rPr>
              <a:t>Privacy-conscious</a:t>
            </a:r>
          </a:p>
        </p:txBody>
      </p:sp>
      <p:sp>
        <p:nvSpPr>
          <p:cNvPr id="16" name="Rectangle 15"/>
          <p:cNvSpPr/>
          <p:nvPr/>
        </p:nvSpPr>
        <p:spPr>
          <a:xfrm>
            <a:off x="6711693" y="3163824"/>
            <a:ext cx="1965960" cy="274320"/>
          </a:xfrm>
          <a:prstGeom prst="rect">
            <a:avLst/>
          </a:prstGeom>
          <a:solidFill>
            <a:srgbClr val="0D2A5A"/>
          </a:solidFill>
          <a:ln w="5080">
            <a:solidFill>
              <a:srgbClr val="4F8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84845" y="3172968"/>
            <a:ext cx="1828800" cy="237744"/>
          </a:xfrm>
          <a:prstGeom prst="rect">
            <a:avLst/>
          </a:prstGeom>
          <a:noFill/>
        </p:spPr>
        <p:txBody>
          <a:bodyPr wrap="square">
            <a:spAutoFit/>
          </a:bodyPr>
          <a:lstStyle/>
          <a:p>
            <a:pPr algn="l"/>
            <a:r>
              <a:rPr sz="900" b="0" i="0">
                <a:solidFill>
                  <a:srgbClr val="4F8EF7"/>
                </a:solidFill>
                <a:latin typeface="Calibri"/>
              </a:rPr>
              <a:t>Spreadsheet refugee</a:t>
            </a:r>
          </a:p>
        </p:txBody>
      </p:sp>
      <p:sp>
        <p:nvSpPr>
          <p:cNvPr id="18" name="Rectangle 17"/>
          <p:cNvSpPr/>
          <p:nvPr/>
        </p:nvSpPr>
        <p:spPr>
          <a:xfrm>
            <a:off x="8796524" y="3163824"/>
            <a:ext cx="1965960" cy="274320"/>
          </a:xfrm>
          <a:prstGeom prst="rect">
            <a:avLst/>
          </a:prstGeom>
          <a:solidFill>
            <a:srgbClr val="0D2A5A"/>
          </a:solidFill>
          <a:ln w="5080">
            <a:solidFill>
              <a:srgbClr val="4F8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69676" y="3172968"/>
            <a:ext cx="1828800" cy="237744"/>
          </a:xfrm>
          <a:prstGeom prst="rect">
            <a:avLst/>
          </a:prstGeom>
          <a:noFill/>
        </p:spPr>
        <p:txBody>
          <a:bodyPr wrap="square">
            <a:spAutoFit/>
          </a:bodyPr>
          <a:lstStyle/>
          <a:p>
            <a:pPr algn="l"/>
            <a:r>
              <a:rPr sz="900" b="0" i="0">
                <a:solidFill>
                  <a:srgbClr val="4F8EF7"/>
                </a:solidFill>
                <a:latin typeface="Calibri"/>
              </a:rPr>
              <a:t>Already downloads CSVs</a:t>
            </a:r>
          </a:p>
        </p:txBody>
      </p:sp>
      <p:sp>
        <p:nvSpPr>
          <p:cNvPr id="20" name="Rectangle 19"/>
          <p:cNvSpPr/>
          <p:nvPr/>
        </p:nvSpPr>
        <p:spPr>
          <a:xfrm>
            <a:off x="457200" y="3566160"/>
            <a:ext cx="2633472" cy="1298448"/>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566160"/>
            <a:ext cx="2633472" cy="45720"/>
          </a:xfrm>
          <a:prstGeom prst="rect">
            <a:avLst/>
          </a:prstGeom>
          <a:solidFill>
            <a:srgbClr val="4F8E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3657600"/>
            <a:ext cx="2423160" cy="292608"/>
          </a:xfrm>
          <a:prstGeom prst="rect">
            <a:avLst/>
          </a:prstGeom>
          <a:noFill/>
        </p:spPr>
        <p:txBody>
          <a:bodyPr wrap="square">
            <a:spAutoFit/>
          </a:bodyPr>
          <a:lstStyle/>
          <a:p>
            <a:pPr algn="l"/>
            <a:r>
              <a:rPr sz="1200" b="1" i="0">
                <a:solidFill>
                  <a:srgbClr val="FFFFFF"/>
                </a:solidFill>
                <a:latin typeface="Calibri"/>
              </a:rPr>
              <a:t>Partner / Co-Parent</a:t>
            </a:r>
          </a:p>
        </p:txBody>
      </p:sp>
      <p:sp>
        <p:nvSpPr>
          <p:cNvPr id="23" name="TextBox 22"/>
          <p:cNvSpPr txBox="1"/>
          <p:nvPr/>
        </p:nvSpPr>
        <p:spPr>
          <a:xfrm>
            <a:off x="566928" y="3931920"/>
            <a:ext cx="2423160" cy="777240"/>
          </a:xfrm>
          <a:prstGeom prst="rect">
            <a:avLst/>
          </a:prstGeom>
          <a:noFill/>
        </p:spPr>
        <p:txBody>
          <a:bodyPr wrap="square">
            <a:spAutoFit/>
          </a:bodyPr>
          <a:lstStyle/>
          <a:p>
            <a:pPr algn="l"/>
            <a:r>
              <a:rPr sz="1000" b="0" i="0">
                <a:solidFill>
                  <a:srgbClr val="94A3B8"/>
                </a:solidFill>
                <a:latin typeface="Calibri"/>
              </a:rPr>
              <a:t>"Alex, 36" — earns income, wants
visibility not admin work. Enters
via household invite.</a:t>
            </a:r>
          </a:p>
        </p:txBody>
      </p:sp>
      <p:sp>
        <p:nvSpPr>
          <p:cNvPr id="24" name="Rectangle 23"/>
          <p:cNvSpPr/>
          <p:nvPr/>
        </p:nvSpPr>
        <p:spPr>
          <a:xfrm>
            <a:off x="3291840" y="3566160"/>
            <a:ext cx="2633472" cy="1298448"/>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291840" y="3566160"/>
            <a:ext cx="2633472"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01568" y="3657600"/>
            <a:ext cx="2423160" cy="292608"/>
          </a:xfrm>
          <a:prstGeom prst="rect">
            <a:avLst/>
          </a:prstGeom>
          <a:noFill/>
        </p:spPr>
        <p:txBody>
          <a:bodyPr wrap="square">
            <a:spAutoFit/>
          </a:bodyPr>
          <a:lstStyle/>
          <a:p>
            <a:pPr algn="l"/>
            <a:r>
              <a:rPr sz="1200" b="1" i="0">
                <a:solidFill>
                  <a:srgbClr val="FFFFFF"/>
                </a:solidFill>
                <a:latin typeface="Calibri"/>
              </a:rPr>
              <a:t>Mint Refugees</a:t>
            </a:r>
          </a:p>
        </p:txBody>
      </p:sp>
      <p:sp>
        <p:nvSpPr>
          <p:cNvPr id="27" name="TextBox 26"/>
          <p:cNvSpPr txBox="1"/>
          <p:nvPr/>
        </p:nvSpPr>
        <p:spPr>
          <a:xfrm>
            <a:off x="3401568" y="3931920"/>
            <a:ext cx="2423160" cy="777240"/>
          </a:xfrm>
          <a:prstGeom prst="rect">
            <a:avLst/>
          </a:prstGeom>
          <a:noFill/>
        </p:spPr>
        <p:txBody>
          <a:bodyPr wrap="square">
            <a:spAutoFit/>
          </a:bodyPr>
          <a:lstStyle/>
          <a:p>
            <a:pPr algn="l"/>
            <a:r>
              <a:rPr sz="1000" b="0" i="0">
                <a:solidFill>
                  <a:srgbClr val="94A3B8"/>
                </a:solidFill>
                <a:latin typeface="Calibri"/>
              </a:rPr>
              <a:t>20M+ displaced users (Jan 2024)
seeking free, privacy-respecting
replacement.</a:t>
            </a:r>
          </a:p>
        </p:txBody>
      </p:sp>
      <p:sp>
        <p:nvSpPr>
          <p:cNvPr id="28" name="Rectangle 27"/>
          <p:cNvSpPr/>
          <p:nvPr/>
        </p:nvSpPr>
        <p:spPr>
          <a:xfrm>
            <a:off x="6126480" y="3566160"/>
            <a:ext cx="2633472" cy="1298448"/>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26480" y="3566160"/>
            <a:ext cx="2633472" cy="457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36208" y="3657600"/>
            <a:ext cx="2423160" cy="292608"/>
          </a:xfrm>
          <a:prstGeom prst="rect">
            <a:avLst/>
          </a:prstGeom>
          <a:noFill/>
        </p:spPr>
        <p:txBody>
          <a:bodyPr wrap="square">
            <a:spAutoFit/>
          </a:bodyPr>
          <a:lstStyle/>
          <a:p>
            <a:pPr algn="l"/>
            <a:r>
              <a:rPr sz="1200" b="1" i="0">
                <a:solidFill>
                  <a:srgbClr val="FFFFFF"/>
                </a:solidFill>
                <a:latin typeface="Calibri"/>
              </a:rPr>
              <a:t>Budget-Skeptic</a:t>
            </a:r>
          </a:p>
        </p:txBody>
      </p:sp>
      <p:sp>
        <p:nvSpPr>
          <p:cNvPr id="31" name="TextBox 30"/>
          <p:cNvSpPr txBox="1"/>
          <p:nvPr/>
        </p:nvSpPr>
        <p:spPr>
          <a:xfrm>
            <a:off x="6236208" y="3931920"/>
            <a:ext cx="2423160" cy="777240"/>
          </a:xfrm>
          <a:prstGeom prst="rect">
            <a:avLst/>
          </a:prstGeom>
          <a:noFill/>
        </p:spPr>
        <p:txBody>
          <a:bodyPr wrap="square">
            <a:spAutoFit/>
          </a:bodyPr>
          <a:lstStyle/>
          <a:p>
            <a:pPr algn="l"/>
            <a:r>
              <a:rPr sz="1000" b="0" i="0">
                <a:solidFill>
                  <a:srgbClr val="94A3B8"/>
                </a:solidFill>
                <a:latin typeface="Calibri"/>
              </a:rPr>
              <a:t>"Jamie, 42" — triggered by financial
stress. Intimidated by spreadsheets.
Needs fast time-to-value.</a:t>
            </a:r>
          </a:p>
        </p:txBody>
      </p:sp>
      <p:sp>
        <p:nvSpPr>
          <p:cNvPr id="32" name="Rectangle 31"/>
          <p:cNvSpPr/>
          <p:nvPr/>
        </p:nvSpPr>
        <p:spPr>
          <a:xfrm>
            <a:off x="8961120" y="3566160"/>
            <a:ext cx="2633472" cy="1298448"/>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961120" y="3566160"/>
            <a:ext cx="2633472" cy="4572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070848" y="3657600"/>
            <a:ext cx="2423160" cy="292608"/>
          </a:xfrm>
          <a:prstGeom prst="rect">
            <a:avLst/>
          </a:prstGeom>
          <a:noFill/>
        </p:spPr>
        <p:txBody>
          <a:bodyPr wrap="square">
            <a:spAutoFit/>
          </a:bodyPr>
          <a:lstStyle/>
          <a:p>
            <a:pPr algn="l"/>
            <a:r>
              <a:rPr sz="1200" b="1" i="0">
                <a:solidFill>
                  <a:srgbClr val="FFFFFF"/>
                </a:solidFill>
                <a:latin typeface="Calibri"/>
              </a:rPr>
              <a:t>Privacy-First Pros</a:t>
            </a:r>
          </a:p>
        </p:txBody>
      </p:sp>
      <p:sp>
        <p:nvSpPr>
          <p:cNvPr id="35" name="TextBox 34"/>
          <p:cNvSpPr txBox="1"/>
          <p:nvPr/>
        </p:nvSpPr>
        <p:spPr>
          <a:xfrm>
            <a:off x="9070848" y="3931920"/>
            <a:ext cx="2423160" cy="777240"/>
          </a:xfrm>
          <a:prstGeom prst="rect">
            <a:avLst/>
          </a:prstGeom>
          <a:noFill/>
        </p:spPr>
        <p:txBody>
          <a:bodyPr wrap="square">
            <a:spAutoFit/>
          </a:bodyPr>
          <a:lstStyle/>
          <a:p>
            <a:pPr algn="l"/>
            <a:r>
              <a:rPr sz="1000" b="0" i="0">
                <a:solidFill>
                  <a:srgbClr val="94A3B8"/>
                </a:solidFill>
                <a:latin typeface="Calibri"/>
              </a:rPr>
              <a:t>Tech, healthcare, legal workers.
High trust bar; willing to pay
for privacy guarantees.</a:t>
            </a:r>
          </a:p>
        </p:txBody>
      </p:sp>
      <p:sp>
        <p:nvSpPr>
          <p:cNvPr id="36" name="Rectangle 35"/>
          <p:cNvSpPr/>
          <p:nvPr/>
        </p:nvSpPr>
        <p:spPr>
          <a:xfrm>
            <a:off x="457200" y="5029200"/>
            <a:ext cx="3611880" cy="1024128"/>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5084064"/>
            <a:ext cx="3611880" cy="256032"/>
          </a:xfrm>
          <a:prstGeom prst="rect">
            <a:avLst/>
          </a:prstGeom>
          <a:noFill/>
        </p:spPr>
        <p:txBody>
          <a:bodyPr wrap="square">
            <a:spAutoFit/>
          </a:bodyPr>
          <a:lstStyle/>
          <a:p>
            <a:pPr algn="ctr"/>
            <a:r>
              <a:rPr sz="900" b="1" i="0">
                <a:solidFill>
                  <a:srgbClr val="7C3AED"/>
                </a:solidFill>
                <a:latin typeface="Calibri"/>
              </a:rPr>
              <a:t>TAM</a:t>
            </a:r>
          </a:p>
        </p:txBody>
      </p:sp>
      <p:sp>
        <p:nvSpPr>
          <p:cNvPr id="38" name="TextBox 37"/>
          <p:cNvSpPr txBox="1"/>
          <p:nvPr/>
        </p:nvSpPr>
        <p:spPr>
          <a:xfrm>
            <a:off x="457200" y="5321808"/>
            <a:ext cx="3611880" cy="457200"/>
          </a:xfrm>
          <a:prstGeom prst="rect">
            <a:avLst/>
          </a:prstGeom>
          <a:noFill/>
        </p:spPr>
        <p:txBody>
          <a:bodyPr wrap="square">
            <a:spAutoFit/>
          </a:bodyPr>
          <a:lstStyle/>
          <a:p>
            <a:pPr algn="ctr"/>
            <a:r>
              <a:rPr sz="2600" b="1" i="0">
                <a:solidFill>
                  <a:srgbClr val="FFFFFF"/>
                </a:solidFill>
                <a:latin typeface="Calibri"/>
              </a:rPr>
              <a:t>45M</a:t>
            </a:r>
          </a:p>
        </p:txBody>
      </p:sp>
      <p:sp>
        <p:nvSpPr>
          <p:cNvPr id="39" name="TextBox 38"/>
          <p:cNvSpPr txBox="1"/>
          <p:nvPr/>
        </p:nvSpPr>
        <p:spPr>
          <a:xfrm>
            <a:off x="457200" y="5760720"/>
            <a:ext cx="3611880" cy="237744"/>
          </a:xfrm>
          <a:prstGeom prst="rect">
            <a:avLst/>
          </a:prstGeom>
          <a:noFill/>
        </p:spPr>
        <p:txBody>
          <a:bodyPr wrap="square">
            <a:spAutoFit/>
          </a:bodyPr>
          <a:lstStyle/>
          <a:p>
            <a:pPr algn="ctr"/>
            <a:r>
              <a:rPr sz="900" b="0" i="0">
                <a:solidFill>
                  <a:srgbClr val="94A3B8"/>
                </a:solidFill>
                <a:latin typeface="Calibri"/>
              </a:rPr>
              <a:t>US dual-income households</a:t>
            </a:r>
          </a:p>
        </p:txBody>
      </p:sp>
      <p:sp>
        <p:nvSpPr>
          <p:cNvPr id="40" name="Rectangle 39"/>
          <p:cNvSpPr/>
          <p:nvPr/>
        </p:nvSpPr>
        <p:spPr>
          <a:xfrm>
            <a:off x="4297680" y="5029200"/>
            <a:ext cx="3611880" cy="1024128"/>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297680" y="5084064"/>
            <a:ext cx="3611880" cy="256032"/>
          </a:xfrm>
          <a:prstGeom prst="rect">
            <a:avLst/>
          </a:prstGeom>
          <a:noFill/>
        </p:spPr>
        <p:txBody>
          <a:bodyPr wrap="square">
            <a:spAutoFit/>
          </a:bodyPr>
          <a:lstStyle/>
          <a:p>
            <a:pPr algn="ctr"/>
            <a:r>
              <a:rPr sz="900" b="1" i="0">
                <a:solidFill>
                  <a:srgbClr val="4F8EF7"/>
                </a:solidFill>
                <a:latin typeface="Calibri"/>
              </a:rPr>
              <a:t>SAM</a:t>
            </a:r>
          </a:p>
        </p:txBody>
      </p:sp>
      <p:sp>
        <p:nvSpPr>
          <p:cNvPr id="42" name="TextBox 41"/>
          <p:cNvSpPr txBox="1"/>
          <p:nvPr/>
        </p:nvSpPr>
        <p:spPr>
          <a:xfrm>
            <a:off x="4297680" y="5321808"/>
            <a:ext cx="3611880" cy="457200"/>
          </a:xfrm>
          <a:prstGeom prst="rect">
            <a:avLst/>
          </a:prstGeom>
          <a:noFill/>
        </p:spPr>
        <p:txBody>
          <a:bodyPr wrap="square">
            <a:spAutoFit/>
          </a:bodyPr>
          <a:lstStyle/>
          <a:p>
            <a:pPr algn="ctr"/>
            <a:r>
              <a:rPr sz="2600" b="1" i="0">
                <a:solidFill>
                  <a:srgbClr val="FFFFFF"/>
                </a:solidFill>
                <a:latin typeface="Calibri"/>
              </a:rPr>
              <a:t>12M</a:t>
            </a:r>
          </a:p>
        </p:txBody>
      </p:sp>
      <p:sp>
        <p:nvSpPr>
          <p:cNvPr id="43" name="TextBox 42"/>
          <p:cNvSpPr txBox="1"/>
          <p:nvPr/>
        </p:nvSpPr>
        <p:spPr>
          <a:xfrm>
            <a:off x="4297680" y="5760720"/>
            <a:ext cx="3611880" cy="237744"/>
          </a:xfrm>
          <a:prstGeom prst="rect">
            <a:avLst/>
          </a:prstGeom>
          <a:noFill/>
        </p:spPr>
        <p:txBody>
          <a:bodyPr wrap="square">
            <a:spAutoFit/>
          </a:bodyPr>
          <a:lstStyle/>
          <a:p>
            <a:pPr algn="ctr"/>
            <a:r>
              <a:rPr sz="900" b="0" i="0">
                <a:solidFill>
                  <a:srgbClr val="94A3B8"/>
                </a:solidFill>
                <a:latin typeface="Calibri"/>
              </a:rPr>
              <a:t>Actively budgeting households</a:t>
            </a:r>
          </a:p>
        </p:txBody>
      </p:sp>
      <p:sp>
        <p:nvSpPr>
          <p:cNvPr id="44" name="Rectangle 43"/>
          <p:cNvSpPr/>
          <p:nvPr/>
        </p:nvSpPr>
        <p:spPr>
          <a:xfrm>
            <a:off x="8138160" y="5029200"/>
            <a:ext cx="3611880" cy="1024128"/>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138160" y="5084064"/>
            <a:ext cx="3611880" cy="256032"/>
          </a:xfrm>
          <a:prstGeom prst="rect">
            <a:avLst/>
          </a:prstGeom>
          <a:noFill/>
        </p:spPr>
        <p:txBody>
          <a:bodyPr wrap="square">
            <a:spAutoFit/>
          </a:bodyPr>
          <a:lstStyle/>
          <a:p>
            <a:pPr algn="ctr"/>
            <a:r>
              <a:rPr sz="900" b="1" i="0">
                <a:solidFill>
                  <a:srgbClr val="22C55E"/>
                </a:solidFill>
                <a:latin typeface="Calibri"/>
              </a:rPr>
              <a:t>SOM Y3</a:t>
            </a:r>
          </a:p>
        </p:txBody>
      </p:sp>
      <p:sp>
        <p:nvSpPr>
          <p:cNvPr id="46" name="TextBox 45"/>
          <p:cNvSpPr txBox="1"/>
          <p:nvPr/>
        </p:nvSpPr>
        <p:spPr>
          <a:xfrm>
            <a:off x="8138160" y="5321808"/>
            <a:ext cx="3611880" cy="457200"/>
          </a:xfrm>
          <a:prstGeom prst="rect">
            <a:avLst/>
          </a:prstGeom>
          <a:noFill/>
        </p:spPr>
        <p:txBody>
          <a:bodyPr wrap="square">
            <a:spAutoFit/>
          </a:bodyPr>
          <a:lstStyle/>
          <a:p>
            <a:pPr algn="ctr"/>
            <a:r>
              <a:rPr sz="2600" b="1" i="0">
                <a:solidFill>
                  <a:srgbClr val="FFFFFF"/>
                </a:solidFill>
                <a:latin typeface="Calibri"/>
              </a:rPr>
              <a:t>150K</a:t>
            </a:r>
          </a:p>
        </p:txBody>
      </p:sp>
      <p:sp>
        <p:nvSpPr>
          <p:cNvPr id="47" name="TextBox 46"/>
          <p:cNvSpPr txBox="1"/>
          <p:nvPr/>
        </p:nvSpPr>
        <p:spPr>
          <a:xfrm>
            <a:off x="8138160" y="5760720"/>
            <a:ext cx="3611880" cy="237744"/>
          </a:xfrm>
          <a:prstGeom prst="rect">
            <a:avLst/>
          </a:prstGeom>
          <a:noFill/>
        </p:spPr>
        <p:txBody>
          <a:bodyPr wrap="square">
            <a:spAutoFit/>
          </a:bodyPr>
          <a:lstStyle/>
          <a:p>
            <a:pPr algn="ctr"/>
            <a:r>
              <a:rPr sz="900" b="0" i="0">
                <a:solidFill>
                  <a:srgbClr val="94A3B8"/>
                </a:solidFill>
                <a:latin typeface="Calibri"/>
              </a:rPr>
              <a:t>Paying households (0.4–1.2% of SAM)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347472"/>
            <a:ext cx="10970056" cy="256032"/>
          </a:xfrm>
          <a:prstGeom prst="rect">
            <a:avLst/>
          </a:prstGeom>
          <a:noFill/>
        </p:spPr>
        <p:txBody>
          <a:bodyPr wrap="square">
            <a:spAutoFit/>
          </a:bodyPr>
          <a:lstStyle/>
          <a:p>
            <a:pPr algn="l"/>
            <a:r>
              <a:rPr sz="900" b="1" i="0">
                <a:solidFill>
                  <a:srgbClr val="4F8EF7"/>
                </a:solidFill>
                <a:latin typeface="Calibri"/>
              </a:rPr>
              <a:t>☑ CUSTOMER PAIN POINTS &amp; CHALLENGES</a:t>
            </a:r>
          </a:p>
        </p:txBody>
      </p:sp>
      <p:sp>
        <p:nvSpPr>
          <p:cNvPr id="3" name="TextBox 2"/>
          <p:cNvSpPr txBox="1"/>
          <p:nvPr/>
        </p:nvSpPr>
        <p:spPr>
          <a:xfrm>
            <a:off x="457200" y="603504"/>
            <a:ext cx="10970056" cy="548640"/>
          </a:xfrm>
          <a:prstGeom prst="rect">
            <a:avLst/>
          </a:prstGeom>
          <a:noFill/>
        </p:spPr>
        <p:txBody>
          <a:bodyPr wrap="square">
            <a:spAutoFit/>
          </a:bodyPr>
          <a:lstStyle/>
          <a:p>
            <a:pPr algn="l"/>
            <a:r>
              <a:rPr sz="2600" b="1" i="0">
                <a:solidFill>
                  <a:srgbClr val="FFFFFF"/>
                </a:solidFill>
                <a:latin typeface="Calibri"/>
              </a:rPr>
              <a:t>8 reasons families give up on budgeting</a:t>
            </a:r>
          </a:p>
        </p:txBody>
      </p:sp>
      <p:sp>
        <p:nvSpPr>
          <p:cNvPr id="4" name="Rectangle 3"/>
          <p:cNvSpPr/>
          <p:nvPr/>
        </p:nvSpPr>
        <p:spPr>
          <a:xfrm>
            <a:off x="457200" y="1572768"/>
            <a:ext cx="2761488" cy="1444752"/>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572768"/>
            <a:ext cx="54864" cy="14447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664208"/>
            <a:ext cx="2578608" cy="274320"/>
          </a:xfrm>
          <a:prstGeom prst="rect">
            <a:avLst/>
          </a:prstGeom>
          <a:noFill/>
        </p:spPr>
        <p:txBody>
          <a:bodyPr wrap="square">
            <a:spAutoFit/>
          </a:bodyPr>
          <a:lstStyle/>
          <a:p>
            <a:pPr algn="l"/>
            <a:r>
              <a:rPr sz="1000" b="1" i="0">
                <a:solidFill>
                  <a:srgbClr val="FFFFFF"/>
                </a:solidFill>
                <a:latin typeface="Calibri"/>
              </a:rPr>
              <a:t>🧩 Fragmented Data</a:t>
            </a:r>
          </a:p>
        </p:txBody>
      </p:sp>
      <p:sp>
        <p:nvSpPr>
          <p:cNvPr id="7" name="TextBox 6"/>
          <p:cNvSpPr txBox="1"/>
          <p:nvPr/>
        </p:nvSpPr>
        <p:spPr>
          <a:xfrm>
            <a:off x="594360" y="1938528"/>
            <a:ext cx="2578608" cy="594360"/>
          </a:xfrm>
          <a:prstGeom prst="rect">
            <a:avLst/>
          </a:prstGeom>
          <a:noFill/>
        </p:spPr>
        <p:txBody>
          <a:bodyPr wrap="square">
            <a:spAutoFit/>
          </a:bodyPr>
          <a:lstStyle/>
          <a:p>
            <a:pPr algn="l"/>
            <a:r>
              <a:rPr sz="1000" b="0" i="0">
                <a:solidFill>
                  <a:srgbClr val="94A3B8"/>
                </a:solidFill>
                <a:latin typeface="Calibri"/>
              </a:rPr>
              <a:t>Statements scattered across email,
bank portals, and separate card apps.</a:t>
            </a:r>
          </a:p>
        </p:txBody>
      </p:sp>
      <p:sp>
        <p:nvSpPr>
          <p:cNvPr id="8" name="TextBox 7"/>
          <p:cNvSpPr txBox="1"/>
          <p:nvPr/>
        </p:nvSpPr>
        <p:spPr>
          <a:xfrm>
            <a:off x="594360" y="2724912"/>
            <a:ext cx="2578608" cy="256032"/>
          </a:xfrm>
          <a:prstGeom prst="rect">
            <a:avLst/>
          </a:prstGeom>
          <a:noFill/>
        </p:spPr>
        <p:txBody>
          <a:bodyPr wrap="square">
            <a:spAutoFit/>
          </a:bodyPr>
          <a:lstStyle/>
          <a:p>
            <a:pPr algn="l"/>
            <a:r>
              <a:rPr sz="900" b="0" i="0">
                <a:solidFill>
                  <a:srgbClr val="F59E0B"/>
                </a:solidFill>
                <a:latin typeface="Calibri"/>
              </a:rPr>
              <a:t>⏱  2+ hrs/month manual consolidation</a:t>
            </a:r>
          </a:p>
        </p:txBody>
      </p:sp>
      <p:sp>
        <p:nvSpPr>
          <p:cNvPr id="9" name="Rectangle 8"/>
          <p:cNvSpPr/>
          <p:nvPr/>
        </p:nvSpPr>
        <p:spPr>
          <a:xfrm>
            <a:off x="3310128" y="1572768"/>
            <a:ext cx="2761488" cy="1444752"/>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10128" y="1572768"/>
            <a:ext cx="54864" cy="14447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47288" y="1664208"/>
            <a:ext cx="2578608" cy="274320"/>
          </a:xfrm>
          <a:prstGeom prst="rect">
            <a:avLst/>
          </a:prstGeom>
          <a:noFill/>
        </p:spPr>
        <p:txBody>
          <a:bodyPr wrap="square">
            <a:spAutoFit/>
          </a:bodyPr>
          <a:lstStyle/>
          <a:p>
            <a:pPr algn="l"/>
            <a:r>
              <a:rPr sz="1000" b="1" i="0">
                <a:solidFill>
                  <a:srgbClr val="FFFFFF"/>
                </a:solidFill>
                <a:latin typeface="Calibri"/>
              </a:rPr>
              <a:t>📋 Manual Overhead</a:t>
            </a:r>
          </a:p>
        </p:txBody>
      </p:sp>
      <p:sp>
        <p:nvSpPr>
          <p:cNvPr id="12" name="TextBox 11"/>
          <p:cNvSpPr txBox="1"/>
          <p:nvPr/>
        </p:nvSpPr>
        <p:spPr>
          <a:xfrm>
            <a:off x="3447288" y="1938528"/>
            <a:ext cx="2578608" cy="594360"/>
          </a:xfrm>
          <a:prstGeom prst="rect">
            <a:avLst/>
          </a:prstGeom>
          <a:noFill/>
        </p:spPr>
        <p:txBody>
          <a:bodyPr wrap="square">
            <a:spAutoFit/>
          </a:bodyPr>
          <a:lstStyle/>
          <a:p>
            <a:pPr algn="l"/>
            <a:r>
              <a:rPr sz="1000" b="0" i="0">
                <a:solidFill>
                  <a:srgbClr val="94A3B8"/>
                </a:solidFill>
                <a:latin typeface="Calibri"/>
              </a:rPr>
              <a:t>Copy-paste into spreadsheets every
month. Abandoned after 2–3 months.</a:t>
            </a:r>
          </a:p>
        </p:txBody>
      </p:sp>
      <p:sp>
        <p:nvSpPr>
          <p:cNvPr id="13" name="TextBox 12"/>
          <p:cNvSpPr txBox="1"/>
          <p:nvPr/>
        </p:nvSpPr>
        <p:spPr>
          <a:xfrm>
            <a:off x="3447288" y="2724912"/>
            <a:ext cx="2578608" cy="256032"/>
          </a:xfrm>
          <a:prstGeom prst="rect">
            <a:avLst/>
          </a:prstGeom>
          <a:noFill/>
        </p:spPr>
        <p:txBody>
          <a:bodyPr wrap="square">
            <a:spAutoFit/>
          </a:bodyPr>
          <a:lstStyle/>
          <a:p>
            <a:pPr algn="l"/>
            <a:r>
              <a:rPr sz="900" b="0" i="0">
                <a:solidFill>
                  <a:srgbClr val="F59E0B"/>
                </a:solidFill>
                <a:latin typeface="Calibri"/>
              </a:rPr>
              <a:t>🔄  High churn for DIY solutions</a:t>
            </a:r>
          </a:p>
        </p:txBody>
      </p:sp>
      <p:sp>
        <p:nvSpPr>
          <p:cNvPr id="14" name="Rectangle 13"/>
          <p:cNvSpPr/>
          <p:nvPr/>
        </p:nvSpPr>
        <p:spPr>
          <a:xfrm>
            <a:off x="6163056" y="1572768"/>
            <a:ext cx="2761488" cy="1444752"/>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63056" y="1572768"/>
            <a:ext cx="54864" cy="14447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0216" y="1664208"/>
            <a:ext cx="2578608" cy="274320"/>
          </a:xfrm>
          <a:prstGeom prst="rect">
            <a:avLst/>
          </a:prstGeom>
          <a:noFill/>
        </p:spPr>
        <p:txBody>
          <a:bodyPr wrap="square">
            <a:spAutoFit/>
          </a:bodyPr>
          <a:lstStyle/>
          <a:p>
            <a:pPr algn="l"/>
            <a:r>
              <a:rPr sz="1000" b="1" i="0">
                <a:solidFill>
                  <a:srgbClr val="FFFFFF"/>
                </a:solidFill>
                <a:latin typeface="Calibri"/>
              </a:rPr>
              <a:t>👤 Individual-First Tools</a:t>
            </a:r>
          </a:p>
        </p:txBody>
      </p:sp>
      <p:sp>
        <p:nvSpPr>
          <p:cNvPr id="17" name="TextBox 16"/>
          <p:cNvSpPr txBox="1"/>
          <p:nvPr/>
        </p:nvSpPr>
        <p:spPr>
          <a:xfrm>
            <a:off x="6300216" y="1938528"/>
            <a:ext cx="2578608" cy="594360"/>
          </a:xfrm>
          <a:prstGeom prst="rect">
            <a:avLst/>
          </a:prstGeom>
          <a:noFill/>
        </p:spPr>
        <p:txBody>
          <a:bodyPr wrap="square">
            <a:spAutoFit/>
          </a:bodyPr>
          <a:lstStyle/>
          <a:p>
            <a:pPr algn="l"/>
            <a:r>
              <a:rPr sz="1000" b="0" i="0">
                <a:solidFill>
                  <a:srgbClr val="94A3B8"/>
                </a:solidFill>
                <a:latin typeface="Calibri"/>
              </a:rPr>
              <a:t>Mint, YNAB, Copilot assume one
person. Partners feel excluded.</a:t>
            </a:r>
          </a:p>
        </p:txBody>
      </p:sp>
      <p:sp>
        <p:nvSpPr>
          <p:cNvPr id="18" name="TextBox 17"/>
          <p:cNvSpPr txBox="1"/>
          <p:nvPr/>
        </p:nvSpPr>
        <p:spPr>
          <a:xfrm>
            <a:off x="6300216" y="2724912"/>
            <a:ext cx="2578608" cy="256032"/>
          </a:xfrm>
          <a:prstGeom prst="rect">
            <a:avLst/>
          </a:prstGeom>
          <a:noFill/>
        </p:spPr>
        <p:txBody>
          <a:bodyPr wrap="square">
            <a:spAutoFit/>
          </a:bodyPr>
          <a:lstStyle/>
          <a:p>
            <a:pPr algn="l"/>
            <a:r>
              <a:rPr sz="900" b="0" i="0">
                <a:solidFill>
                  <a:srgbClr val="F59E0B"/>
                </a:solidFill>
                <a:latin typeface="Calibri"/>
              </a:rPr>
              <a:t>📉  Low household adoption</a:t>
            </a:r>
          </a:p>
        </p:txBody>
      </p:sp>
      <p:sp>
        <p:nvSpPr>
          <p:cNvPr id="19" name="Rectangle 18"/>
          <p:cNvSpPr/>
          <p:nvPr/>
        </p:nvSpPr>
        <p:spPr>
          <a:xfrm>
            <a:off x="9015984" y="1572768"/>
            <a:ext cx="2761488" cy="1444752"/>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15984" y="1572768"/>
            <a:ext cx="54864" cy="14447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53144" y="1664208"/>
            <a:ext cx="2578608" cy="274320"/>
          </a:xfrm>
          <a:prstGeom prst="rect">
            <a:avLst/>
          </a:prstGeom>
          <a:noFill/>
        </p:spPr>
        <p:txBody>
          <a:bodyPr wrap="square">
            <a:spAutoFit/>
          </a:bodyPr>
          <a:lstStyle/>
          <a:p>
            <a:pPr algn="l"/>
            <a:r>
              <a:rPr sz="1000" b="1" i="0">
                <a:solidFill>
                  <a:srgbClr val="FFFFFF"/>
                </a:solidFill>
                <a:latin typeface="Calibri"/>
              </a:rPr>
              <a:t>📉 Unrealistic Budgets</a:t>
            </a:r>
          </a:p>
        </p:txBody>
      </p:sp>
      <p:sp>
        <p:nvSpPr>
          <p:cNvPr id="22" name="TextBox 21"/>
          <p:cNvSpPr txBox="1"/>
          <p:nvPr/>
        </p:nvSpPr>
        <p:spPr>
          <a:xfrm>
            <a:off x="9153144" y="1938528"/>
            <a:ext cx="2578608" cy="594360"/>
          </a:xfrm>
          <a:prstGeom prst="rect">
            <a:avLst/>
          </a:prstGeom>
          <a:noFill/>
        </p:spPr>
        <p:txBody>
          <a:bodyPr wrap="square">
            <a:spAutoFit/>
          </a:bodyPr>
          <a:lstStyle/>
          <a:p>
            <a:pPr algn="l"/>
            <a:r>
              <a:rPr sz="1000" b="0" i="0">
                <a:solidFill>
                  <a:srgbClr val="94A3B8"/>
                </a:solidFill>
                <a:latin typeface="Calibri"/>
              </a:rPr>
              <a:t>Families guess limits with no data.
Budgets fail by week 2.</a:t>
            </a:r>
          </a:p>
        </p:txBody>
      </p:sp>
      <p:sp>
        <p:nvSpPr>
          <p:cNvPr id="23" name="TextBox 22"/>
          <p:cNvSpPr txBox="1"/>
          <p:nvPr/>
        </p:nvSpPr>
        <p:spPr>
          <a:xfrm>
            <a:off x="9153144" y="2724912"/>
            <a:ext cx="2578608" cy="256032"/>
          </a:xfrm>
          <a:prstGeom prst="rect">
            <a:avLst/>
          </a:prstGeom>
          <a:noFill/>
        </p:spPr>
        <p:txBody>
          <a:bodyPr wrap="square">
            <a:spAutoFit/>
          </a:bodyPr>
          <a:lstStyle/>
          <a:p>
            <a:pPr algn="l"/>
            <a:r>
              <a:rPr sz="900" b="0" i="0">
                <a:solidFill>
                  <a:srgbClr val="F59E0B"/>
                </a:solidFill>
                <a:latin typeface="Calibri"/>
              </a:rPr>
              <a:t>😔  Shame → tool abandonment</a:t>
            </a:r>
          </a:p>
        </p:txBody>
      </p:sp>
      <p:sp>
        <p:nvSpPr>
          <p:cNvPr id="24" name="Rectangle 23"/>
          <p:cNvSpPr/>
          <p:nvPr/>
        </p:nvSpPr>
        <p:spPr>
          <a:xfrm>
            <a:off x="457200" y="3127248"/>
            <a:ext cx="2761488" cy="1444752"/>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3127248"/>
            <a:ext cx="54864" cy="14447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3218688"/>
            <a:ext cx="2578608" cy="274320"/>
          </a:xfrm>
          <a:prstGeom prst="rect">
            <a:avLst/>
          </a:prstGeom>
          <a:noFill/>
        </p:spPr>
        <p:txBody>
          <a:bodyPr wrap="square">
            <a:spAutoFit/>
          </a:bodyPr>
          <a:lstStyle/>
          <a:p>
            <a:pPr algn="l"/>
            <a:r>
              <a:rPr sz="1000" b="1" i="0">
                <a:solidFill>
                  <a:srgbClr val="FFFFFF"/>
                </a:solidFill>
                <a:latin typeface="Calibri"/>
              </a:rPr>
              <a:t>❓ No Conversational Q&amp;A</a:t>
            </a:r>
          </a:p>
        </p:txBody>
      </p:sp>
      <p:sp>
        <p:nvSpPr>
          <p:cNvPr id="27" name="TextBox 26"/>
          <p:cNvSpPr txBox="1"/>
          <p:nvPr/>
        </p:nvSpPr>
        <p:spPr>
          <a:xfrm>
            <a:off x="594360" y="3493008"/>
            <a:ext cx="2578608" cy="594360"/>
          </a:xfrm>
          <a:prstGeom prst="rect">
            <a:avLst/>
          </a:prstGeom>
          <a:noFill/>
        </p:spPr>
        <p:txBody>
          <a:bodyPr wrap="square">
            <a:spAutoFit/>
          </a:bodyPr>
          <a:lstStyle/>
          <a:p>
            <a:pPr algn="l"/>
            <a:r>
              <a:rPr sz="1000" b="0" i="0">
                <a:solidFill>
                  <a:srgbClr val="94A3B8"/>
                </a:solidFill>
                <a:latin typeface="Calibri"/>
              </a:rPr>
              <a:t>Can't ask "are we on track?"
Must interpret dense charts.</a:t>
            </a:r>
          </a:p>
        </p:txBody>
      </p:sp>
      <p:sp>
        <p:nvSpPr>
          <p:cNvPr id="28" name="TextBox 27"/>
          <p:cNvSpPr txBox="1"/>
          <p:nvPr/>
        </p:nvSpPr>
        <p:spPr>
          <a:xfrm>
            <a:off x="594360" y="4279392"/>
            <a:ext cx="2578608" cy="256032"/>
          </a:xfrm>
          <a:prstGeom prst="rect">
            <a:avLst/>
          </a:prstGeom>
          <a:noFill/>
        </p:spPr>
        <p:txBody>
          <a:bodyPr wrap="square">
            <a:spAutoFit/>
          </a:bodyPr>
          <a:lstStyle/>
          <a:p>
            <a:pPr algn="l"/>
            <a:r>
              <a:rPr sz="900" b="0" i="0">
                <a:solidFill>
                  <a:srgbClr val="F59E0B"/>
                </a:solidFill>
                <a:latin typeface="Calibri"/>
              </a:rPr>
              <a:t>🧠  Dashboard becomes "set and forget"</a:t>
            </a:r>
          </a:p>
        </p:txBody>
      </p:sp>
      <p:sp>
        <p:nvSpPr>
          <p:cNvPr id="29" name="Rectangle 28"/>
          <p:cNvSpPr/>
          <p:nvPr/>
        </p:nvSpPr>
        <p:spPr>
          <a:xfrm>
            <a:off x="3310128" y="3127248"/>
            <a:ext cx="2761488" cy="1444752"/>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310128" y="3127248"/>
            <a:ext cx="54864" cy="14447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47288" y="3218688"/>
            <a:ext cx="2578608" cy="274320"/>
          </a:xfrm>
          <a:prstGeom prst="rect">
            <a:avLst/>
          </a:prstGeom>
          <a:noFill/>
        </p:spPr>
        <p:txBody>
          <a:bodyPr wrap="square">
            <a:spAutoFit/>
          </a:bodyPr>
          <a:lstStyle/>
          <a:p>
            <a:pPr algn="l"/>
            <a:r>
              <a:rPr sz="1000" b="1" i="0">
                <a:solidFill>
                  <a:srgbClr val="FFFFFF"/>
                </a:solidFill>
                <a:latin typeface="Calibri"/>
              </a:rPr>
              <a:t>🔐 Privacy Anxiety</a:t>
            </a:r>
          </a:p>
        </p:txBody>
      </p:sp>
      <p:sp>
        <p:nvSpPr>
          <p:cNvPr id="32" name="TextBox 31"/>
          <p:cNvSpPr txBox="1"/>
          <p:nvPr/>
        </p:nvSpPr>
        <p:spPr>
          <a:xfrm>
            <a:off x="3447288" y="3493008"/>
            <a:ext cx="2578608" cy="594360"/>
          </a:xfrm>
          <a:prstGeom prst="rect">
            <a:avLst/>
          </a:prstGeom>
          <a:noFill/>
        </p:spPr>
        <p:txBody>
          <a:bodyPr wrap="square">
            <a:spAutoFit/>
          </a:bodyPr>
          <a:lstStyle/>
          <a:p>
            <a:pPr algn="l"/>
            <a:r>
              <a:rPr sz="1000" b="0" i="0">
                <a:solidFill>
                  <a:srgbClr val="94A3B8"/>
                </a:solidFill>
                <a:latin typeface="Calibri"/>
              </a:rPr>
              <a:t>Plaid / bank API links feel risky
after data breaches.</a:t>
            </a:r>
          </a:p>
        </p:txBody>
      </p:sp>
      <p:sp>
        <p:nvSpPr>
          <p:cNvPr id="33" name="TextBox 32"/>
          <p:cNvSpPr txBox="1"/>
          <p:nvPr/>
        </p:nvSpPr>
        <p:spPr>
          <a:xfrm>
            <a:off x="3447288" y="4279392"/>
            <a:ext cx="2578608" cy="256032"/>
          </a:xfrm>
          <a:prstGeom prst="rect">
            <a:avLst/>
          </a:prstGeom>
          <a:noFill/>
        </p:spPr>
        <p:txBody>
          <a:bodyPr wrap="square">
            <a:spAutoFit/>
          </a:bodyPr>
          <a:lstStyle/>
          <a:p>
            <a:pPr algn="l"/>
            <a:r>
              <a:rPr sz="900" b="0" i="0">
                <a:solidFill>
                  <a:srgbClr val="F59E0B"/>
                </a:solidFill>
                <a:latin typeface="Calibri"/>
              </a:rPr>
              <a:t>🚫  30–40% drop-off at bank-link step</a:t>
            </a:r>
          </a:p>
        </p:txBody>
      </p:sp>
      <p:sp>
        <p:nvSpPr>
          <p:cNvPr id="34" name="Rectangle 33"/>
          <p:cNvSpPr/>
          <p:nvPr/>
        </p:nvSpPr>
        <p:spPr>
          <a:xfrm>
            <a:off x="6163056" y="3127248"/>
            <a:ext cx="2761488" cy="1444752"/>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63056" y="3127248"/>
            <a:ext cx="54864" cy="14447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0216" y="3218688"/>
            <a:ext cx="2578608" cy="274320"/>
          </a:xfrm>
          <a:prstGeom prst="rect">
            <a:avLst/>
          </a:prstGeom>
          <a:noFill/>
        </p:spPr>
        <p:txBody>
          <a:bodyPr wrap="square">
            <a:spAutoFit/>
          </a:bodyPr>
          <a:lstStyle/>
          <a:p>
            <a:pPr algn="l"/>
            <a:r>
              <a:rPr sz="1000" b="1" i="0">
                <a:solidFill>
                  <a:srgbClr val="FFFFFF"/>
                </a:solidFill>
                <a:latin typeface="Calibri"/>
              </a:rPr>
              <a:t>🔔 Late Accountability</a:t>
            </a:r>
          </a:p>
        </p:txBody>
      </p:sp>
      <p:sp>
        <p:nvSpPr>
          <p:cNvPr id="37" name="TextBox 36"/>
          <p:cNvSpPr txBox="1"/>
          <p:nvPr/>
        </p:nvSpPr>
        <p:spPr>
          <a:xfrm>
            <a:off x="6300216" y="3493008"/>
            <a:ext cx="2578608" cy="594360"/>
          </a:xfrm>
          <a:prstGeom prst="rect">
            <a:avLst/>
          </a:prstGeom>
          <a:noFill/>
        </p:spPr>
        <p:txBody>
          <a:bodyPr wrap="square">
            <a:spAutoFit/>
          </a:bodyPr>
          <a:lstStyle/>
          <a:p>
            <a:pPr algn="l"/>
            <a:r>
              <a:rPr sz="1000" b="0" i="0">
                <a:solidFill>
                  <a:srgbClr val="94A3B8"/>
                </a:solidFill>
                <a:latin typeface="Calibri"/>
              </a:rPr>
              <a:t>Overspending only visible at
month-end — too late to course-correct.</a:t>
            </a:r>
          </a:p>
        </p:txBody>
      </p:sp>
      <p:sp>
        <p:nvSpPr>
          <p:cNvPr id="38" name="TextBox 37"/>
          <p:cNvSpPr txBox="1"/>
          <p:nvPr/>
        </p:nvSpPr>
        <p:spPr>
          <a:xfrm>
            <a:off x="6300216" y="4279392"/>
            <a:ext cx="2578608" cy="256032"/>
          </a:xfrm>
          <a:prstGeom prst="rect">
            <a:avLst/>
          </a:prstGeom>
          <a:noFill/>
        </p:spPr>
        <p:txBody>
          <a:bodyPr wrap="square">
            <a:spAutoFit/>
          </a:bodyPr>
          <a:lstStyle/>
          <a:p>
            <a:pPr algn="l"/>
            <a:r>
              <a:rPr sz="900" b="0" i="0">
                <a:solidFill>
                  <a:srgbClr val="F59E0B"/>
                </a:solidFill>
                <a:latin typeface="Calibri"/>
              </a:rPr>
              <a:t>🚨  Reactive vs. proactive money mgmt</a:t>
            </a:r>
          </a:p>
        </p:txBody>
      </p:sp>
      <p:sp>
        <p:nvSpPr>
          <p:cNvPr id="39" name="Rectangle 38"/>
          <p:cNvSpPr/>
          <p:nvPr/>
        </p:nvSpPr>
        <p:spPr>
          <a:xfrm>
            <a:off x="9015984" y="3127248"/>
            <a:ext cx="2761488" cy="1444752"/>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015984" y="3127248"/>
            <a:ext cx="54864" cy="14447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53144" y="3218688"/>
            <a:ext cx="2578608" cy="274320"/>
          </a:xfrm>
          <a:prstGeom prst="rect">
            <a:avLst/>
          </a:prstGeom>
          <a:noFill/>
        </p:spPr>
        <p:txBody>
          <a:bodyPr wrap="square">
            <a:spAutoFit/>
          </a:bodyPr>
          <a:lstStyle/>
          <a:p>
            <a:pPr algn="l"/>
            <a:r>
              <a:rPr sz="1000" b="1" i="0">
                <a:solidFill>
                  <a:srgbClr val="FFFFFF"/>
                </a:solidFill>
                <a:latin typeface="Calibri"/>
              </a:rPr>
              <a:t>🔁 Double-Counting</a:t>
            </a:r>
          </a:p>
        </p:txBody>
      </p:sp>
      <p:sp>
        <p:nvSpPr>
          <p:cNvPr id="42" name="TextBox 41"/>
          <p:cNvSpPr txBox="1"/>
          <p:nvPr/>
        </p:nvSpPr>
        <p:spPr>
          <a:xfrm>
            <a:off x="9153144" y="3493008"/>
            <a:ext cx="2578608" cy="594360"/>
          </a:xfrm>
          <a:prstGeom prst="rect">
            <a:avLst/>
          </a:prstGeom>
          <a:noFill/>
        </p:spPr>
        <p:txBody>
          <a:bodyPr wrap="square">
            <a:spAutoFit/>
          </a:bodyPr>
          <a:lstStyle/>
          <a:p>
            <a:pPr algn="l"/>
            <a:r>
              <a:rPr sz="1000" b="0" i="0">
                <a:solidFill>
                  <a:srgbClr val="94A3B8"/>
                </a:solidFill>
                <a:latin typeface="Calibri"/>
              </a:rPr>
              <a:t>Credit card payments counted as
expenses in both accounts.</a:t>
            </a:r>
          </a:p>
        </p:txBody>
      </p:sp>
      <p:sp>
        <p:nvSpPr>
          <p:cNvPr id="43" name="TextBox 42"/>
          <p:cNvSpPr txBox="1"/>
          <p:nvPr/>
        </p:nvSpPr>
        <p:spPr>
          <a:xfrm>
            <a:off x="9153144" y="4279392"/>
            <a:ext cx="2578608" cy="256032"/>
          </a:xfrm>
          <a:prstGeom prst="rect">
            <a:avLst/>
          </a:prstGeom>
          <a:noFill/>
        </p:spPr>
        <p:txBody>
          <a:bodyPr wrap="square">
            <a:spAutoFit/>
          </a:bodyPr>
          <a:lstStyle/>
          <a:p>
            <a:pPr algn="l"/>
            <a:r>
              <a:rPr sz="900" b="0" i="0">
                <a:solidFill>
                  <a:srgbClr val="F59E0B"/>
                </a:solidFill>
                <a:latin typeface="Calibri"/>
              </a:rPr>
              <a:t>🏚  Erodes trust in the tool</a:t>
            </a:r>
          </a:p>
        </p:txBody>
      </p:sp>
      <p:sp>
        <p:nvSpPr>
          <p:cNvPr id="44" name="Rectangle 43"/>
          <p:cNvSpPr/>
          <p:nvPr/>
        </p:nvSpPr>
        <p:spPr>
          <a:xfrm>
            <a:off x="457200" y="4663440"/>
            <a:ext cx="2103120" cy="292608"/>
          </a:xfrm>
          <a:prstGeom prst="rect">
            <a:avLst/>
          </a:prstGeom>
          <a:solidFill>
            <a:srgbClr val="0D2A5A"/>
          </a:solidFill>
          <a:ln w="6350">
            <a:solidFill>
              <a:srgbClr val="4F8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30352" y="4681728"/>
            <a:ext cx="2011680" cy="256032"/>
          </a:xfrm>
          <a:prstGeom prst="rect">
            <a:avLst/>
          </a:prstGeom>
          <a:noFill/>
        </p:spPr>
        <p:txBody>
          <a:bodyPr wrap="square">
            <a:spAutoFit/>
          </a:bodyPr>
          <a:lstStyle/>
          <a:p>
            <a:pPr algn="l"/>
            <a:r>
              <a:rPr sz="1000" b="1" i="0">
                <a:solidFill>
                  <a:srgbClr val="4F8EF7"/>
                </a:solidFill>
                <a:latin typeface="Calibri"/>
              </a:rPr>
              <a:t>1. Consolidate</a:t>
            </a:r>
          </a:p>
        </p:txBody>
      </p:sp>
      <p:sp>
        <p:nvSpPr>
          <p:cNvPr id="46" name="Rectangle 45"/>
          <p:cNvSpPr/>
          <p:nvPr/>
        </p:nvSpPr>
        <p:spPr>
          <a:xfrm>
            <a:off x="2651760" y="4663440"/>
            <a:ext cx="2103120" cy="292608"/>
          </a:xfrm>
          <a:prstGeom prst="rect">
            <a:avLst/>
          </a:prstGeom>
          <a:solidFill>
            <a:srgbClr val="0D2A5A"/>
          </a:solidFill>
          <a:ln w="6350">
            <a:solidFill>
              <a:srgbClr val="4F8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724912" y="4681728"/>
            <a:ext cx="2011680" cy="256032"/>
          </a:xfrm>
          <a:prstGeom prst="rect">
            <a:avLst/>
          </a:prstGeom>
          <a:noFill/>
        </p:spPr>
        <p:txBody>
          <a:bodyPr wrap="square">
            <a:spAutoFit/>
          </a:bodyPr>
          <a:lstStyle/>
          <a:p>
            <a:pPr algn="l"/>
            <a:r>
              <a:rPr sz="1000" b="1" i="0">
                <a:solidFill>
                  <a:srgbClr val="4F8EF7"/>
                </a:solidFill>
                <a:latin typeface="Calibri"/>
              </a:rPr>
              <a:t>2. Understand</a:t>
            </a:r>
          </a:p>
        </p:txBody>
      </p:sp>
      <p:sp>
        <p:nvSpPr>
          <p:cNvPr id="48" name="Rectangle 47"/>
          <p:cNvSpPr/>
          <p:nvPr/>
        </p:nvSpPr>
        <p:spPr>
          <a:xfrm>
            <a:off x="4846320" y="4663440"/>
            <a:ext cx="2103120" cy="292608"/>
          </a:xfrm>
          <a:prstGeom prst="rect">
            <a:avLst/>
          </a:prstGeom>
          <a:solidFill>
            <a:srgbClr val="0D2A5A"/>
          </a:solidFill>
          <a:ln w="6350">
            <a:solidFill>
              <a:srgbClr val="4F8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919472" y="4681728"/>
            <a:ext cx="2011680" cy="256032"/>
          </a:xfrm>
          <a:prstGeom prst="rect">
            <a:avLst/>
          </a:prstGeom>
          <a:noFill/>
        </p:spPr>
        <p:txBody>
          <a:bodyPr wrap="square">
            <a:spAutoFit/>
          </a:bodyPr>
          <a:lstStyle/>
          <a:p>
            <a:pPr algn="l"/>
            <a:r>
              <a:rPr sz="1000" b="1" i="0">
                <a:solidFill>
                  <a:srgbClr val="4F8EF7"/>
                </a:solidFill>
                <a:latin typeface="Calibri"/>
              </a:rPr>
              <a:t>3. Plan</a:t>
            </a:r>
          </a:p>
        </p:txBody>
      </p:sp>
      <p:sp>
        <p:nvSpPr>
          <p:cNvPr id="50" name="Rectangle 49"/>
          <p:cNvSpPr/>
          <p:nvPr/>
        </p:nvSpPr>
        <p:spPr>
          <a:xfrm>
            <a:off x="7040880" y="4663440"/>
            <a:ext cx="2103120" cy="292608"/>
          </a:xfrm>
          <a:prstGeom prst="rect">
            <a:avLst/>
          </a:prstGeom>
          <a:solidFill>
            <a:srgbClr val="0D2A5A"/>
          </a:solidFill>
          <a:ln w="6350">
            <a:solidFill>
              <a:srgbClr val="4F8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14032" y="4681728"/>
            <a:ext cx="2011680" cy="256032"/>
          </a:xfrm>
          <a:prstGeom prst="rect">
            <a:avLst/>
          </a:prstGeom>
          <a:noFill/>
        </p:spPr>
        <p:txBody>
          <a:bodyPr wrap="square">
            <a:spAutoFit/>
          </a:bodyPr>
          <a:lstStyle/>
          <a:p>
            <a:pPr algn="l"/>
            <a:r>
              <a:rPr sz="1000" b="1" i="0">
                <a:solidFill>
                  <a:srgbClr val="4F8EF7"/>
                </a:solidFill>
                <a:latin typeface="Calibri"/>
              </a:rPr>
              <a:t>4. Monitor</a:t>
            </a:r>
          </a:p>
        </p:txBody>
      </p:sp>
      <p:sp>
        <p:nvSpPr>
          <p:cNvPr id="52" name="Rectangle 51"/>
          <p:cNvSpPr/>
          <p:nvPr/>
        </p:nvSpPr>
        <p:spPr>
          <a:xfrm>
            <a:off x="9235440" y="4663440"/>
            <a:ext cx="2103120" cy="292608"/>
          </a:xfrm>
          <a:prstGeom prst="rect">
            <a:avLst/>
          </a:prstGeom>
          <a:solidFill>
            <a:srgbClr val="0D2A5A"/>
          </a:solidFill>
          <a:ln w="6350">
            <a:solidFill>
              <a:srgbClr val="4F8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308592" y="4681728"/>
            <a:ext cx="2011680" cy="256032"/>
          </a:xfrm>
          <a:prstGeom prst="rect">
            <a:avLst/>
          </a:prstGeom>
          <a:noFill/>
        </p:spPr>
        <p:txBody>
          <a:bodyPr wrap="square">
            <a:spAutoFit/>
          </a:bodyPr>
          <a:lstStyle/>
          <a:p>
            <a:pPr algn="l"/>
            <a:r>
              <a:rPr sz="1000" b="1" i="0">
                <a:solidFill>
                  <a:srgbClr val="4F8EF7"/>
                </a:solidFill>
                <a:latin typeface="Calibri"/>
              </a:rPr>
              <a:t>5. Align</a:t>
            </a:r>
          </a:p>
        </p:txBody>
      </p:sp>
      <p:sp>
        <p:nvSpPr>
          <p:cNvPr id="54" name="TextBox 53"/>
          <p:cNvSpPr txBox="1"/>
          <p:nvPr/>
        </p:nvSpPr>
        <p:spPr>
          <a:xfrm>
            <a:off x="457200" y="4434840"/>
            <a:ext cx="2743200" cy="256032"/>
          </a:xfrm>
          <a:prstGeom prst="rect">
            <a:avLst/>
          </a:prstGeom>
          <a:noFill/>
        </p:spPr>
        <p:txBody>
          <a:bodyPr wrap="square">
            <a:spAutoFit/>
          </a:bodyPr>
          <a:lstStyle/>
          <a:p>
            <a:pPr algn="l"/>
            <a:r>
              <a:rPr sz="900" b="1" i="0">
                <a:solidFill>
                  <a:srgbClr val="94A3B8"/>
                </a:solidFill>
                <a:latin typeface="Calibri"/>
              </a:rPr>
              <a:t>Jobs-to-be-Done: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347472"/>
            <a:ext cx="10970056" cy="256032"/>
          </a:xfrm>
          <a:prstGeom prst="rect">
            <a:avLst/>
          </a:prstGeom>
          <a:noFill/>
        </p:spPr>
        <p:txBody>
          <a:bodyPr wrap="square">
            <a:spAutoFit/>
          </a:bodyPr>
          <a:lstStyle/>
          <a:p>
            <a:pPr algn="l"/>
            <a:r>
              <a:rPr sz="900" b="1" i="0">
                <a:solidFill>
                  <a:srgbClr val="4F8EF7"/>
                </a:solidFill>
                <a:latin typeface="Calibri"/>
              </a:rPr>
              <a:t>☑ HOW WE PLAN TO SOLVE THE PROBLEM</a:t>
            </a:r>
          </a:p>
        </p:txBody>
      </p:sp>
      <p:sp>
        <p:nvSpPr>
          <p:cNvPr id="3" name="TextBox 2"/>
          <p:cNvSpPr txBox="1"/>
          <p:nvPr/>
        </p:nvSpPr>
        <p:spPr>
          <a:xfrm>
            <a:off x="457200" y="603504"/>
            <a:ext cx="10970056" cy="548640"/>
          </a:xfrm>
          <a:prstGeom prst="rect">
            <a:avLst/>
          </a:prstGeom>
          <a:noFill/>
        </p:spPr>
        <p:txBody>
          <a:bodyPr wrap="square">
            <a:spAutoFit/>
          </a:bodyPr>
          <a:lstStyle/>
          <a:p>
            <a:pPr algn="l"/>
            <a:r>
              <a:rPr sz="2600" b="1" i="0">
                <a:solidFill>
                  <a:srgbClr val="FFFFFF"/>
                </a:solidFill>
                <a:latin typeface="Calibri"/>
              </a:rPr>
              <a:t>From chaos to clarity in &lt;30 minutes</a:t>
            </a:r>
          </a:p>
        </p:txBody>
      </p:sp>
      <p:sp>
        <p:nvSpPr>
          <p:cNvPr id="4" name="Rectangle 3"/>
          <p:cNvSpPr/>
          <p:nvPr/>
        </p:nvSpPr>
        <p:spPr>
          <a:xfrm>
            <a:off x="457200" y="1572768"/>
            <a:ext cx="1737360" cy="96012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0"/>
            <a:ext cx="1737360" cy="365760"/>
          </a:xfrm>
          <a:prstGeom prst="rect">
            <a:avLst/>
          </a:prstGeom>
          <a:noFill/>
        </p:spPr>
        <p:txBody>
          <a:bodyPr wrap="square">
            <a:spAutoFit/>
          </a:bodyPr>
          <a:lstStyle/>
          <a:p>
            <a:pPr algn="ctr"/>
            <a:r>
              <a:rPr sz="2000" b="0" i="0">
                <a:solidFill>
                  <a:srgbClr val="E2E8F0"/>
                </a:solidFill>
                <a:latin typeface="Calibri"/>
              </a:rPr>
              <a:t>📥</a:t>
            </a:r>
          </a:p>
        </p:txBody>
      </p:sp>
      <p:sp>
        <p:nvSpPr>
          <p:cNvPr id="6" name="TextBox 5"/>
          <p:cNvSpPr txBox="1"/>
          <p:nvPr/>
        </p:nvSpPr>
        <p:spPr>
          <a:xfrm>
            <a:off x="457200" y="1993392"/>
            <a:ext cx="1737360" cy="274320"/>
          </a:xfrm>
          <a:prstGeom prst="rect">
            <a:avLst/>
          </a:prstGeom>
          <a:noFill/>
        </p:spPr>
        <p:txBody>
          <a:bodyPr wrap="square">
            <a:spAutoFit/>
          </a:bodyPr>
          <a:lstStyle/>
          <a:p>
            <a:pPr algn="ctr"/>
            <a:r>
              <a:rPr sz="1100" b="1" i="0">
                <a:solidFill>
                  <a:srgbClr val="FFFFFF"/>
                </a:solidFill>
                <a:latin typeface="Calibri"/>
              </a:rPr>
              <a:t>Download</a:t>
            </a:r>
          </a:p>
        </p:txBody>
      </p:sp>
      <p:sp>
        <p:nvSpPr>
          <p:cNvPr id="7" name="TextBox 6"/>
          <p:cNvSpPr txBox="1"/>
          <p:nvPr/>
        </p:nvSpPr>
        <p:spPr>
          <a:xfrm>
            <a:off x="457200" y="2249424"/>
            <a:ext cx="1737360" cy="256032"/>
          </a:xfrm>
          <a:prstGeom prst="rect">
            <a:avLst/>
          </a:prstGeom>
          <a:noFill/>
        </p:spPr>
        <p:txBody>
          <a:bodyPr wrap="square">
            <a:spAutoFit/>
          </a:bodyPr>
          <a:lstStyle/>
          <a:p>
            <a:pPr algn="ctr"/>
            <a:r>
              <a:rPr sz="900" b="0" i="0">
                <a:solidFill>
                  <a:srgbClr val="22C55E"/>
                </a:solidFill>
                <a:latin typeface="Calibri"/>
              </a:rPr>
              <a:t>5 min/account</a:t>
            </a:r>
          </a:p>
        </p:txBody>
      </p:sp>
      <p:sp>
        <p:nvSpPr>
          <p:cNvPr id="8" name="TextBox 7"/>
          <p:cNvSpPr txBox="1"/>
          <p:nvPr/>
        </p:nvSpPr>
        <p:spPr>
          <a:xfrm>
            <a:off x="2194560" y="1810512"/>
            <a:ext cx="420624" cy="365760"/>
          </a:xfrm>
          <a:prstGeom prst="rect">
            <a:avLst/>
          </a:prstGeom>
          <a:noFill/>
        </p:spPr>
        <p:txBody>
          <a:bodyPr wrap="square">
            <a:spAutoFit/>
          </a:bodyPr>
          <a:lstStyle/>
          <a:p>
            <a:pPr algn="ctr"/>
            <a:r>
              <a:rPr sz="1800" b="0" i="0">
                <a:solidFill>
                  <a:srgbClr val="4F8EF7"/>
                </a:solidFill>
                <a:latin typeface="Calibri"/>
              </a:rPr>
              <a:t>→</a:t>
            </a:r>
          </a:p>
        </p:txBody>
      </p:sp>
      <p:sp>
        <p:nvSpPr>
          <p:cNvPr id="9" name="Rectangle 8"/>
          <p:cNvSpPr/>
          <p:nvPr/>
        </p:nvSpPr>
        <p:spPr>
          <a:xfrm>
            <a:off x="2615184" y="1572768"/>
            <a:ext cx="1737360" cy="96012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15184" y="1645920"/>
            <a:ext cx="1737360" cy="365760"/>
          </a:xfrm>
          <a:prstGeom prst="rect">
            <a:avLst/>
          </a:prstGeom>
          <a:noFill/>
        </p:spPr>
        <p:txBody>
          <a:bodyPr wrap="square">
            <a:spAutoFit/>
          </a:bodyPr>
          <a:lstStyle/>
          <a:p>
            <a:pPr algn="ctr"/>
            <a:r>
              <a:rPr sz="2000" b="0" i="0">
                <a:solidFill>
                  <a:srgbClr val="E2E8F0"/>
                </a:solidFill>
                <a:latin typeface="Calibri"/>
              </a:rPr>
              <a:t>⬆️</a:t>
            </a:r>
          </a:p>
        </p:txBody>
      </p:sp>
      <p:sp>
        <p:nvSpPr>
          <p:cNvPr id="11" name="TextBox 10"/>
          <p:cNvSpPr txBox="1"/>
          <p:nvPr/>
        </p:nvSpPr>
        <p:spPr>
          <a:xfrm>
            <a:off x="2615184" y="1993392"/>
            <a:ext cx="1737360" cy="274320"/>
          </a:xfrm>
          <a:prstGeom prst="rect">
            <a:avLst/>
          </a:prstGeom>
          <a:noFill/>
        </p:spPr>
        <p:txBody>
          <a:bodyPr wrap="square">
            <a:spAutoFit/>
          </a:bodyPr>
          <a:lstStyle/>
          <a:p>
            <a:pPr algn="ctr"/>
            <a:r>
              <a:rPr sz="1100" b="1" i="0">
                <a:solidFill>
                  <a:srgbClr val="FFFFFF"/>
                </a:solidFill>
                <a:latin typeface="Calibri"/>
              </a:rPr>
              <a:t>Upload</a:t>
            </a:r>
          </a:p>
        </p:txBody>
      </p:sp>
      <p:sp>
        <p:nvSpPr>
          <p:cNvPr id="12" name="TextBox 11"/>
          <p:cNvSpPr txBox="1"/>
          <p:nvPr/>
        </p:nvSpPr>
        <p:spPr>
          <a:xfrm>
            <a:off x="2615184" y="2249424"/>
            <a:ext cx="1737360" cy="256032"/>
          </a:xfrm>
          <a:prstGeom prst="rect">
            <a:avLst/>
          </a:prstGeom>
          <a:noFill/>
        </p:spPr>
        <p:txBody>
          <a:bodyPr wrap="square">
            <a:spAutoFit/>
          </a:bodyPr>
          <a:lstStyle/>
          <a:p>
            <a:pPr algn="ctr"/>
            <a:r>
              <a:rPr sz="900" b="0" i="0">
                <a:solidFill>
                  <a:srgbClr val="22C55E"/>
                </a:solidFill>
                <a:latin typeface="Calibri"/>
              </a:rPr>
              <a:t>No credentials</a:t>
            </a:r>
          </a:p>
        </p:txBody>
      </p:sp>
      <p:sp>
        <p:nvSpPr>
          <p:cNvPr id="13" name="TextBox 12"/>
          <p:cNvSpPr txBox="1"/>
          <p:nvPr/>
        </p:nvSpPr>
        <p:spPr>
          <a:xfrm>
            <a:off x="4352544" y="1810512"/>
            <a:ext cx="420624" cy="365760"/>
          </a:xfrm>
          <a:prstGeom prst="rect">
            <a:avLst/>
          </a:prstGeom>
          <a:noFill/>
        </p:spPr>
        <p:txBody>
          <a:bodyPr wrap="square">
            <a:spAutoFit/>
          </a:bodyPr>
          <a:lstStyle/>
          <a:p>
            <a:pPr algn="ctr"/>
            <a:r>
              <a:rPr sz="1800" b="0" i="0">
                <a:solidFill>
                  <a:srgbClr val="4F8EF7"/>
                </a:solidFill>
                <a:latin typeface="Calibri"/>
              </a:rPr>
              <a:t>→</a:t>
            </a:r>
          </a:p>
        </p:txBody>
      </p:sp>
      <p:sp>
        <p:nvSpPr>
          <p:cNvPr id="14" name="Rectangle 13"/>
          <p:cNvSpPr/>
          <p:nvPr/>
        </p:nvSpPr>
        <p:spPr>
          <a:xfrm>
            <a:off x="4773168" y="1572768"/>
            <a:ext cx="1737360" cy="96012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645920"/>
            <a:ext cx="1737360" cy="365760"/>
          </a:xfrm>
          <a:prstGeom prst="rect">
            <a:avLst/>
          </a:prstGeom>
          <a:noFill/>
        </p:spPr>
        <p:txBody>
          <a:bodyPr wrap="square">
            <a:spAutoFit/>
          </a:bodyPr>
          <a:lstStyle/>
          <a:p>
            <a:pPr algn="ctr"/>
            <a:r>
              <a:rPr sz="2000" b="0" i="0">
                <a:solidFill>
                  <a:srgbClr val="E2E8F0"/>
                </a:solidFill>
                <a:latin typeface="Calibri"/>
              </a:rPr>
              <a:t>🏷️</a:t>
            </a:r>
          </a:p>
        </p:txBody>
      </p:sp>
      <p:sp>
        <p:nvSpPr>
          <p:cNvPr id="16" name="TextBox 15"/>
          <p:cNvSpPr txBox="1"/>
          <p:nvPr/>
        </p:nvSpPr>
        <p:spPr>
          <a:xfrm>
            <a:off x="4773168" y="1993392"/>
            <a:ext cx="1737360" cy="274320"/>
          </a:xfrm>
          <a:prstGeom prst="rect">
            <a:avLst/>
          </a:prstGeom>
          <a:noFill/>
        </p:spPr>
        <p:txBody>
          <a:bodyPr wrap="square">
            <a:spAutoFit/>
          </a:bodyPr>
          <a:lstStyle/>
          <a:p>
            <a:pPr algn="ctr"/>
            <a:r>
              <a:rPr sz="1100" b="1" i="0">
                <a:solidFill>
                  <a:srgbClr val="FFFFFF"/>
                </a:solidFill>
                <a:latin typeface="Calibri"/>
              </a:rPr>
              <a:t>Auto-Categorize</a:t>
            </a:r>
          </a:p>
        </p:txBody>
      </p:sp>
      <p:sp>
        <p:nvSpPr>
          <p:cNvPr id="17" name="TextBox 16"/>
          <p:cNvSpPr txBox="1"/>
          <p:nvPr/>
        </p:nvSpPr>
        <p:spPr>
          <a:xfrm>
            <a:off x="4773168" y="2249424"/>
            <a:ext cx="1737360" cy="256032"/>
          </a:xfrm>
          <a:prstGeom prst="rect">
            <a:avLst/>
          </a:prstGeom>
          <a:noFill/>
        </p:spPr>
        <p:txBody>
          <a:bodyPr wrap="square">
            <a:spAutoFit/>
          </a:bodyPr>
          <a:lstStyle/>
          <a:p>
            <a:pPr algn="ctr"/>
            <a:r>
              <a:rPr sz="900" b="0" i="0">
                <a:solidFill>
                  <a:srgbClr val="22C55E"/>
                </a:solidFill>
                <a:latin typeface="Calibri"/>
              </a:rPr>
              <a:t>80%+ auto-tagged</a:t>
            </a:r>
          </a:p>
        </p:txBody>
      </p:sp>
      <p:sp>
        <p:nvSpPr>
          <p:cNvPr id="18" name="TextBox 17"/>
          <p:cNvSpPr txBox="1"/>
          <p:nvPr/>
        </p:nvSpPr>
        <p:spPr>
          <a:xfrm>
            <a:off x="6510528" y="1810512"/>
            <a:ext cx="420624" cy="365760"/>
          </a:xfrm>
          <a:prstGeom prst="rect">
            <a:avLst/>
          </a:prstGeom>
          <a:noFill/>
        </p:spPr>
        <p:txBody>
          <a:bodyPr wrap="square">
            <a:spAutoFit/>
          </a:bodyPr>
          <a:lstStyle/>
          <a:p>
            <a:pPr algn="ctr"/>
            <a:r>
              <a:rPr sz="1800" b="0" i="0">
                <a:solidFill>
                  <a:srgbClr val="4F8EF7"/>
                </a:solidFill>
                <a:latin typeface="Calibri"/>
              </a:rPr>
              <a:t>→</a:t>
            </a:r>
          </a:p>
        </p:txBody>
      </p:sp>
      <p:sp>
        <p:nvSpPr>
          <p:cNvPr id="19" name="Rectangle 18"/>
          <p:cNvSpPr/>
          <p:nvPr/>
        </p:nvSpPr>
        <p:spPr>
          <a:xfrm>
            <a:off x="6931152" y="1572768"/>
            <a:ext cx="1737360" cy="96012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31152" y="1645920"/>
            <a:ext cx="1737360" cy="365760"/>
          </a:xfrm>
          <a:prstGeom prst="rect">
            <a:avLst/>
          </a:prstGeom>
          <a:noFill/>
        </p:spPr>
        <p:txBody>
          <a:bodyPr wrap="square">
            <a:spAutoFit/>
          </a:bodyPr>
          <a:lstStyle/>
          <a:p>
            <a:pPr algn="ctr"/>
            <a:r>
              <a:rPr sz="2000" b="0" i="0">
                <a:solidFill>
                  <a:srgbClr val="E2E8F0"/>
                </a:solidFill>
                <a:latin typeface="Calibri"/>
              </a:rPr>
              <a:t>🧮</a:t>
            </a:r>
          </a:p>
        </p:txBody>
      </p:sp>
      <p:sp>
        <p:nvSpPr>
          <p:cNvPr id="21" name="TextBox 20"/>
          <p:cNvSpPr txBox="1"/>
          <p:nvPr/>
        </p:nvSpPr>
        <p:spPr>
          <a:xfrm>
            <a:off x="6931152" y="1993392"/>
            <a:ext cx="1737360" cy="274320"/>
          </a:xfrm>
          <a:prstGeom prst="rect">
            <a:avLst/>
          </a:prstGeom>
          <a:noFill/>
        </p:spPr>
        <p:txBody>
          <a:bodyPr wrap="square">
            <a:spAutoFit/>
          </a:bodyPr>
          <a:lstStyle/>
          <a:p>
            <a:pPr algn="ctr"/>
            <a:r>
              <a:rPr sz="1100" b="1" i="0">
                <a:solidFill>
                  <a:srgbClr val="FFFFFF"/>
                </a:solidFill>
                <a:latin typeface="Calibri"/>
              </a:rPr>
              <a:t>Budget Wizard</a:t>
            </a:r>
          </a:p>
        </p:txBody>
      </p:sp>
      <p:sp>
        <p:nvSpPr>
          <p:cNvPr id="22" name="TextBox 21"/>
          <p:cNvSpPr txBox="1"/>
          <p:nvPr/>
        </p:nvSpPr>
        <p:spPr>
          <a:xfrm>
            <a:off x="6931152" y="2249424"/>
            <a:ext cx="1737360" cy="256032"/>
          </a:xfrm>
          <a:prstGeom prst="rect">
            <a:avLst/>
          </a:prstGeom>
          <a:noFill/>
        </p:spPr>
        <p:txBody>
          <a:bodyPr wrap="square">
            <a:spAutoFit/>
          </a:bodyPr>
          <a:lstStyle/>
          <a:p>
            <a:pPr algn="ctr"/>
            <a:r>
              <a:rPr sz="900" b="0" i="0">
                <a:solidFill>
                  <a:srgbClr val="22C55E"/>
                </a:solidFill>
                <a:latin typeface="Calibri"/>
              </a:rPr>
              <a:t>50/30/20 from data</a:t>
            </a:r>
          </a:p>
        </p:txBody>
      </p:sp>
      <p:sp>
        <p:nvSpPr>
          <p:cNvPr id="23" name="TextBox 22"/>
          <p:cNvSpPr txBox="1"/>
          <p:nvPr/>
        </p:nvSpPr>
        <p:spPr>
          <a:xfrm>
            <a:off x="8668512" y="1810512"/>
            <a:ext cx="420624" cy="365760"/>
          </a:xfrm>
          <a:prstGeom prst="rect">
            <a:avLst/>
          </a:prstGeom>
          <a:noFill/>
        </p:spPr>
        <p:txBody>
          <a:bodyPr wrap="square">
            <a:spAutoFit/>
          </a:bodyPr>
          <a:lstStyle/>
          <a:p>
            <a:pPr algn="ctr"/>
            <a:r>
              <a:rPr sz="1800" b="0" i="0">
                <a:solidFill>
                  <a:srgbClr val="4F8EF7"/>
                </a:solidFill>
                <a:latin typeface="Calibri"/>
              </a:rPr>
              <a:t>→</a:t>
            </a:r>
          </a:p>
        </p:txBody>
      </p:sp>
      <p:sp>
        <p:nvSpPr>
          <p:cNvPr id="24" name="Rectangle 23"/>
          <p:cNvSpPr/>
          <p:nvPr/>
        </p:nvSpPr>
        <p:spPr>
          <a:xfrm>
            <a:off x="9089136" y="1572768"/>
            <a:ext cx="1737360" cy="96012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89136" y="1645920"/>
            <a:ext cx="1737360" cy="365760"/>
          </a:xfrm>
          <a:prstGeom prst="rect">
            <a:avLst/>
          </a:prstGeom>
          <a:noFill/>
        </p:spPr>
        <p:txBody>
          <a:bodyPr wrap="square">
            <a:spAutoFit/>
          </a:bodyPr>
          <a:lstStyle/>
          <a:p>
            <a:pPr algn="ctr"/>
            <a:r>
              <a:rPr sz="2000" b="0" i="0">
                <a:solidFill>
                  <a:srgbClr val="E2E8F0"/>
                </a:solidFill>
                <a:latin typeface="Calibri"/>
              </a:rPr>
              <a:t>💬</a:t>
            </a:r>
          </a:p>
        </p:txBody>
      </p:sp>
      <p:sp>
        <p:nvSpPr>
          <p:cNvPr id="26" name="TextBox 25"/>
          <p:cNvSpPr txBox="1"/>
          <p:nvPr/>
        </p:nvSpPr>
        <p:spPr>
          <a:xfrm>
            <a:off x="9089136" y="1993392"/>
            <a:ext cx="1737360" cy="274320"/>
          </a:xfrm>
          <a:prstGeom prst="rect">
            <a:avLst/>
          </a:prstGeom>
          <a:noFill/>
        </p:spPr>
        <p:txBody>
          <a:bodyPr wrap="square">
            <a:spAutoFit/>
          </a:bodyPr>
          <a:lstStyle/>
          <a:p>
            <a:pPr algn="ctr"/>
            <a:r>
              <a:rPr sz="1100" b="1" i="0">
                <a:solidFill>
                  <a:srgbClr val="FFFFFF"/>
                </a:solidFill>
                <a:latin typeface="Calibri"/>
              </a:rPr>
              <a:t>Ask AI</a:t>
            </a:r>
          </a:p>
        </p:txBody>
      </p:sp>
      <p:sp>
        <p:nvSpPr>
          <p:cNvPr id="27" name="TextBox 26"/>
          <p:cNvSpPr txBox="1"/>
          <p:nvPr/>
        </p:nvSpPr>
        <p:spPr>
          <a:xfrm>
            <a:off x="9089136" y="2249424"/>
            <a:ext cx="1737360" cy="256032"/>
          </a:xfrm>
          <a:prstGeom prst="rect">
            <a:avLst/>
          </a:prstGeom>
          <a:noFill/>
        </p:spPr>
        <p:txBody>
          <a:bodyPr wrap="square">
            <a:spAutoFit/>
          </a:bodyPr>
          <a:lstStyle/>
          <a:p>
            <a:pPr algn="ctr"/>
            <a:r>
              <a:rPr sz="900" b="0" i="0">
                <a:solidFill>
                  <a:srgbClr val="22C55E"/>
                </a:solidFill>
                <a:latin typeface="Calibri"/>
              </a:rPr>
              <a:t>"Why is dining over?"</a:t>
            </a:r>
          </a:p>
        </p:txBody>
      </p:sp>
      <p:graphicFrame>
        <p:nvGraphicFramePr>
          <p:cNvPr id="28" name="Table 27"/>
          <p:cNvGraphicFramePr>
            <a:graphicFrameLocks noGrp="1"/>
          </p:cNvGraphicFramePr>
          <p:nvPr/>
        </p:nvGraphicFramePr>
        <p:xfrm>
          <a:off x="457200" y="2743200"/>
          <a:ext cx="11155680" cy="3749039"/>
        </p:xfrm>
        <a:graphic>
          <a:graphicData uri="http://schemas.openxmlformats.org/drawingml/2006/table">
            <a:tbl>
              <a:tblPr firstRow="1" bandRow="1">
                <a:tableStyleId>{5C22544A-7EE6-4342-B048-85BDC9FD1C3A}</a:tableStyleId>
              </a:tblPr>
              <a:tblGrid>
                <a:gridCol w="1737360"/>
                <a:gridCol w="4572000"/>
                <a:gridCol w="4846320"/>
              </a:tblGrid>
              <a:tr h="535577">
                <a:tc>
                  <a:txBody>
                    <a:bodyPr/>
                    <a:lstStyle/>
                    <a:p>
                      <a:pPr algn="l"/>
                      <a:r>
                        <a:rPr sz="1000" b="1">
                          <a:solidFill>
                            <a:srgbClr val="94A3B8"/>
                          </a:solidFill>
                          <a:latin typeface="Calibri"/>
                        </a:rPr>
                        <a:t>Pain</a:t>
                      </a:r>
                    </a:p>
                  </a:txBody>
                  <a:tcPr>
                    <a:solidFill>
                      <a:srgbClr val="111827"/>
                    </a:solidFill>
                  </a:tcPr>
                </a:tc>
                <a:tc>
                  <a:txBody>
                    <a:bodyPr/>
                    <a:lstStyle/>
                    <a:p>
                      <a:pPr algn="l"/>
                      <a:r>
                        <a:rPr sz="1000" b="1">
                          <a:solidFill>
                            <a:srgbClr val="94A3B8"/>
                          </a:solidFill>
                          <a:latin typeface="Calibri"/>
                        </a:rPr>
                        <a:t>Our Solution</a:t>
                      </a:r>
                    </a:p>
                  </a:txBody>
                  <a:tcPr>
                    <a:solidFill>
                      <a:srgbClr val="111827"/>
                    </a:solidFill>
                  </a:tcPr>
                </a:tc>
                <a:tc>
                  <a:txBody>
                    <a:bodyPr/>
                    <a:lstStyle/>
                    <a:p>
                      <a:pPr algn="l"/>
                      <a:r>
                        <a:rPr sz="1000" b="1">
                          <a:solidFill>
                            <a:srgbClr val="94A3B8"/>
                          </a:solidFill>
                          <a:latin typeface="Calibri"/>
                        </a:rPr>
                        <a:t>Why It Works</a:t>
                      </a:r>
                    </a:p>
                  </a:txBody>
                  <a:tcPr>
                    <a:solidFill>
                      <a:srgbClr val="111827"/>
                    </a:solidFill>
                  </a:tcPr>
                </a:tc>
              </a:tr>
              <a:tr h="535577">
                <a:tc>
                  <a:txBody>
                    <a:bodyPr/>
                    <a:lstStyle/>
                    <a:p>
                      <a:pPr algn="l"/>
                      <a:r>
                        <a:rPr sz="1100" b="0">
                          <a:solidFill>
                            <a:srgbClr val="94A3B8"/>
                          </a:solidFill>
                          <a:latin typeface="Calibri"/>
                        </a:rPr>
                        <a:t>Fragmented data</a:t>
                      </a:r>
                    </a:p>
                  </a:txBody>
                  <a:tcPr>
                    <a:solidFill>
                      <a:srgbClr val="1a2235"/>
                    </a:solidFill>
                  </a:tcPr>
                </a:tc>
                <a:tc>
                  <a:txBody>
                    <a:bodyPr/>
                    <a:lstStyle/>
                    <a:p>
                      <a:pPr algn="l"/>
                      <a:r>
                        <a:rPr sz="1100" b="0">
                          <a:solidFill>
                            <a:srgbClr val="FFFFFF"/>
                          </a:solidFill>
                          <a:latin typeface="Calibri"/>
                        </a:rPr>
                        <a:t>Unified ledger + transfer detection</a:t>
                      </a:r>
                    </a:p>
                  </a:txBody>
                  <a:tcPr>
                    <a:solidFill>
                      <a:srgbClr val="1a2235"/>
                    </a:solidFill>
                  </a:tcPr>
                </a:tc>
                <a:tc>
                  <a:txBody>
                    <a:bodyPr/>
                    <a:lstStyle/>
                    <a:p>
                      <a:pPr algn="l"/>
                      <a:r>
                        <a:rPr sz="1100" b="0">
                          <a:solidFill>
                            <a:srgbClr val="22C55E"/>
                          </a:solidFill>
                          <a:latin typeface="Calibri"/>
                        </a:rPr>
                        <a:t>Single timeline; no double-counting</a:t>
                      </a:r>
                    </a:p>
                  </a:txBody>
                  <a:tcPr>
                    <a:solidFill>
                      <a:srgbClr val="1a2235"/>
                    </a:solidFill>
                  </a:tcPr>
                </a:tc>
              </a:tr>
              <a:tr h="535577">
                <a:tc>
                  <a:txBody>
                    <a:bodyPr/>
                    <a:lstStyle/>
                    <a:p>
                      <a:pPr algn="l"/>
                      <a:r>
                        <a:rPr sz="1100" b="0">
                          <a:solidFill>
                            <a:srgbClr val="94A3B8"/>
                          </a:solidFill>
                          <a:latin typeface="Calibri"/>
                        </a:rPr>
                        <a:t>Manual overhead</a:t>
                      </a:r>
                    </a:p>
                  </a:txBody>
                  <a:tcPr>
                    <a:solidFill>
                      <a:srgbClr val="1a2235"/>
                    </a:solidFill>
                  </a:tcPr>
                </a:tc>
                <a:tc>
                  <a:txBody>
                    <a:bodyPr/>
                    <a:lstStyle/>
                    <a:p>
                      <a:pPr algn="l"/>
                      <a:r>
                        <a:rPr sz="1100" b="0">
                          <a:solidFill>
                            <a:srgbClr val="FFFFFF"/>
                          </a:solidFill>
                          <a:latin typeface="Calibri"/>
                        </a:rPr>
                        <a:t>CSV/OFX import + saved mappings + dedup</a:t>
                      </a:r>
                    </a:p>
                  </a:txBody>
                  <a:tcPr>
                    <a:solidFill>
                      <a:srgbClr val="1a2235"/>
                    </a:solidFill>
                  </a:tcPr>
                </a:tc>
                <a:tc>
                  <a:txBody>
                    <a:bodyPr/>
                    <a:lstStyle/>
                    <a:p>
                      <a:pPr algn="l"/>
                      <a:r>
                        <a:rPr sz="1100" b="0">
                          <a:solidFill>
                            <a:srgbClr val="22C55E"/>
                          </a:solidFill>
                          <a:latin typeface="Calibri"/>
                        </a:rPr>
                        <a:t>Monthly ritual → 20 min vs. 2 hrs</a:t>
                      </a:r>
                    </a:p>
                  </a:txBody>
                  <a:tcPr>
                    <a:solidFill>
                      <a:srgbClr val="1a2235"/>
                    </a:solidFill>
                  </a:tcPr>
                </a:tc>
              </a:tr>
              <a:tr h="535577">
                <a:tc>
                  <a:txBody>
                    <a:bodyPr/>
                    <a:lstStyle/>
                    <a:p>
                      <a:pPr algn="l"/>
                      <a:r>
                        <a:rPr sz="1100" b="0">
                          <a:solidFill>
                            <a:srgbClr val="94A3B8"/>
                          </a:solidFill>
                          <a:latin typeface="Calibri"/>
                        </a:rPr>
                        <a:t>Individual-first</a:t>
                      </a:r>
                    </a:p>
                  </a:txBody>
                  <a:tcPr>
                    <a:solidFill>
                      <a:srgbClr val="1a2235"/>
                    </a:solidFill>
                  </a:tcPr>
                </a:tc>
                <a:tc>
                  <a:txBody>
                    <a:bodyPr/>
                    <a:lstStyle/>
                    <a:p>
                      <a:pPr algn="l"/>
                      <a:r>
                        <a:rPr sz="1100" b="0">
                          <a:solidFill>
                            <a:srgbClr val="FFFFFF"/>
                          </a:solidFill>
                          <a:latin typeface="Calibri"/>
                        </a:rPr>
                        <a:t>Household workspace with roles + member tags</a:t>
                      </a:r>
                    </a:p>
                  </a:txBody>
                  <a:tcPr>
                    <a:solidFill>
                      <a:srgbClr val="1a2235"/>
                    </a:solidFill>
                  </a:tcPr>
                </a:tc>
                <a:tc>
                  <a:txBody>
                    <a:bodyPr/>
                    <a:lstStyle/>
                    <a:p>
                      <a:pPr algn="l"/>
                      <a:r>
                        <a:rPr sz="1100" b="0">
                          <a:solidFill>
                            <a:srgbClr val="22C55E"/>
                          </a:solidFill>
                          <a:latin typeface="Calibri"/>
                        </a:rPr>
                        <a:t>Built for couples from day one</a:t>
                      </a:r>
                    </a:p>
                  </a:txBody>
                  <a:tcPr>
                    <a:solidFill>
                      <a:srgbClr val="1a2235"/>
                    </a:solidFill>
                  </a:tcPr>
                </a:tc>
              </a:tr>
              <a:tr h="535577">
                <a:tc>
                  <a:txBody>
                    <a:bodyPr/>
                    <a:lstStyle/>
                    <a:p>
                      <a:pPr algn="l"/>
                      <a:r>
                        <a:rPr sz="1100" b="0">
                          <a:solidFill>
                            <a:srgbClr val="94A3B8"/>
                          </a:solidFill>
                          <a:latin typeface="Calibri"/>
                        </a:rPr>
                        <a:t>Unrealistic budgets</a:t>
                      </a:r>
                    </a:p>
                  </a:txBody>
                  <a:tcPr>
                    <a:solidFill>
                      <a:srgbClr val="1a2235"/>
                    </a:solidFill>
                  </a:tcPr>
                </a:tc>
                <a:tc>
                  <a:txBody>
                    <a:bodyPr/>
                    <a:lstStyle/>
                    <a:p>
                      <a:pPr algn="l"/>
                      <a:r>
                        <a:rPr sz="1100" b="0">
                          <a:solidFill>
                            <a:srgbClr val="FFFFFF"/>
                          </a:solidFill>
                          <a:latin typeface="Calibri"/>
                        </a:rPr>
                        <a:t>Budget wizard from 3–6 month median spend</a:t>
                      </a:r>
                    </a:p>
                  </a:txBody>
                  <a:tcPr>
                    <a:solidFill>
                      <a:srgbClr val="1a2235"/>
                    </a:solidFill>
                  </a:tcPr>
                </a:tc>
                <a:tc>
                  <a:txBody>
                    <a:bodyPr/>
                    <a:lstStyle/>
                    <a:p>
                      <a:pPr algn="l"/>
                      <a:r>
                        <a:rPr sz="1100" b="0">
                          <a:solidFill>
                            <a:srgbClr val="22C55E"/>
                          </a:solidFill>
                          <a:latin typeface="Calibri"/>
                        </a:rPr>
                        <a:t>Grounded in their own data</a:t>
                      </a:r>
                    </a:p>
                  </a:txBody>
                  <a:tcPr>
                    <a:solidFill>
                      <a:srgbClr val="1a2235"/>
                    </a:solidFill>
                  </a:tcPr>
                </a:tc>
              </a:tr>
              <a:tr h="535577">
                <a:tc>
                  <a:txBody>
                    <a:bodyPr/>
                    <a:lstStyle/>
                    <a:p>
                      <a:pPr algn="l"/>
                      <a:r>
                        <a:rPr sz="1100" b="0">
                          <a:solidFill>
                            <a:srgbClr val="94A3B8"/>
                          </a:solidFill>
                          <a:latin typeface="Calibri"/>
                        </a:rPr>
                        <a:t>No conversational Q&amp;A</a:t>
                      </a:r>
                    </a:p>
                  </a:txBody>
                  <a:tcPr>
                    <a:solidFill>
                      <a:srgbClr val="1a2235"/>
                    </a:solidFill>
                  </a:tcPr>
                </a:tc>
                <a:tc>
                  <a:txBody>
                    <a:bodyPr/>
                    <a:lstStyle/>
                    <a:p>
                      <a:pPr algn="l"/>
                      <a:r>
                        <a:rPr sz="1100" b="0">
                          <a:solidFill>
                            <a:srgbClr val="FFFFFF"/>
                          </a:solidFill>
                          <a:latin typeface="Calibri"/>
                        </a:rPr>
                        <a:t>AI assistant via function calling over real DB</a:t>
                      </a:r>
                    </a:p>
                  </a:txBody>
                  <a:tcPr>
                    <a:solidFill>
                      <a:srgbClr val="1a2235"/>
                    </a:solidFill>
                  </a:tcPr>
                </a:tc>
                <a:tc>
                  <a:txBody>
                    <a:bodyPr/>
                    <a:lstStyle/>
                    <a:p>
                      <a:pPr algn="l"/>
                      <a:r>
                        <a:rPr sz="1100" b="0">
                          <a:solidFill>
                            <a:srgbClr val="22C55E"/>
                          </a:solidFill>
                          <a:latin typeface="Calibri"/>
                        </a:rPr>
                        <a:t>Real numbers; no hallucination</a:t>
                      </a:r>
                    </a:p>
                  </a:txBody>
                  <a:tcPr>
                    <a:solidFill>
                      <a:srgbClr val="1a2235"/>
                    </a:solidFill>
                  </a:tcPr>
                </a:tc>
              </a:tr>
              <a:tr h="535577">
                <a:tc>
                  <a:txBody>
                    <a:bodyPr/>
                    <a:lstStyle/>
                    <a:p>
                      <a:pPr algn="l"/>
                      <a:r>
                        <a:rPr sz="1100" b="0">
                          <a:solidFill>
                            <a:srgbClr val="94A3B8"/>
                          </a:solidFill>
                          <a:latin typeface="Calibri"/>
                        </a:rPr>
                        <a:t>Privacy anxiety</a:t>
                      </a:r>
                    </a:p>
                  </a:txBody>
                  <a:tcPr>
                    <a:solidFill>
                      <a:srgbClr val="1a2235"/>
                    </a:solidFill>
                  </a:tcPr>
                </a:tc>
                <a:tc>
                  <a:txBody>
                    <a:bodyPr/>
                    <a:lstStyle/>
                    <a:p>
                      <a:pPr algn="l"/>
                      <a:r>
                        <a:rPr sz="1100" b="0">
                          <a:solidFill>
                            <a:srgbClr val="FFFFFF"/>
                          </a:solidFill>
                          <a:latin typeface="Calibri"/>
                        </a:rPr>
                        <a:t>File-only import; encrypted at rest; GDPR delete</a:t>
                      </a:r>
                    </a:p>
                  </a:txBody>
                  <a:tcPr>
                    <a:solidFill>
                      <a:srgbClr val="1a2235"/>
                    </a:solidFill>
                  </a:tcPr>
                </a:tc>
                <a:tc>
                  <a:txBody>
                    <a:bodyPr/>
                    <a:lstStyle/>
                    <a:p>
                      <a:pPr algn="l"/>
                      <a:r>
                        <a:rPr sz="1100" b="0">
                          <a:solidFill>
                            <a:srgbClr val="22C55E"/>
                          </a:solidFill>
                          <a:latin typeface="Calibri"/>
                        </a:rPr>
                        <a:t>No credentials ever stored</a:t>
                      </a:r>
                    </a:p>
                  </a:txBody>
                  <a:tcPr>
                    <a:solidFill>
                      <a:srgbClr val="1a2235"/>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347472"/>
            <a:ext cx="10970056" cy="256032"/>
          </a:xfrm>
          <a:prstGeom prst="rect">
            <a:avLst/>
          </a:prstGeom>
          <a:noFill/>
        </p:spPr>
        <p:txBody>
          <a:bodyPr wrap="square">
            <a:spAutoFit/>
          </a:bodyPr>
          <a:lstStyle/>
          <a:p>
            <a:pPr algn="l"/>
            <a:r>
              <a:rPr sz="900" b="1" i="0">
                <a:solidFill>
                  <a:srgbClr val="4F8EF7"/>
                </a:solidFill>
                <a:latin typeface="Calibri"/>
              </a:rPr>
              <a:t>☑ KEY FEATURES</a:t>
            </a:r>
          </a:p>
        </p:txBody>
      </p:sp>
      <p:sp>
        <p:nvSpPr>
          <p:cNvPr id="3" name="TextBox 2"/>
          <p:cNvSpPr txBox="1"/>
          <p:nvPr/>
        </p:nvSpPr>
        <p:spPr>
          <a:xfrm>
            <a:off x="457200" y="603504"/>
            <a:ext cx="10970056" cy="548640"/>
          </a:xfrm>
          <a:prstGeom prst="rect">
            <a:avLst/>
          </a:prstGeom>
          <a:noFill/>
        </p:spPr>
        <p:txBody>
          <a:bodyPr wrap="square">
            <a:spAutoFit/>
          </a:bodyPr>
          <a:lstStyle/>
          <a:p>
            <a:pPr algn="l"/>
            <a:r>
              <a:rPr sz="2600" b="1" i="0">
                <a:solidFill>
                  <a:srgbClr val="FFFFFF"/>
                </a:solidFill>
                <a:latin typeface="Calibri"/>
              </a:rPr>
              <a:t>Everything families need — nothing they don't</a:t>
            </a:r>
          </a:p>
        </p:txBody>
      </p:sp>
      <p:sp>
        <p:nvSpPr>
          <p:cNvPr id="4" name="Rectangle 3"/>
          <p:cNvSpPr/>
          <p:nvPr/>
        </p:nvSpPr>
        <p:spPr>
          <a:xfrm>
            <a:off x="457200" y="1572768"/>
            <a:ext cx="2724912" cy="1170432"/>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664208"/>
            <a:ext cx="2450592" cy="347472"/>
          </a:xfrm>
          <a:prstGeom prst="rect">
            <a:avLst/>
          </a:prstGeom>
          <a:noFill/>
        </p:spPr>
        <p:txBody>
          <a:bodyPr wrap="square">
            <a:spAutoFit/>
          </a:bodyPr>
          <a:lstStyle/>
          <a:p>
            <a:pPr algn="l"/>
            <a:r>
              <a:rPr sz="2000" b="0" i="0">
                <a:solidFill>
                  <a:srgbClr val="E2E8F0"/>
                </a:solidFill>
                <a:latin typeface="Calibri"/>
              </a:rPr>
              <a:t>🏠</a:t>
            </a:r>
          </a:p>
        </p:txBody>
      </p:sp>
      <p:sp>
        <p:nvSpPr>
          <p:cNvPr id="6" name="TextBox 5"/>
          <p:cNvSpPr txBox="1"/>
          <p:nvPr/>
        </p:nvSpPr>
        <p:spPr>
          <a:xfrm>
            <a:off x="594360" y="2011680"/>
            <a:ext cx="2450592" cy="274320"/>
          </a:xfrm>
          <a:prstGeom prst="rect">
            <a:avLst/>
          </a:prstGeom>
          <a:noFill/>
        </p:spPr>
        <p:txBody>
          <a:bodyPr wrap="square">
            <a:spAutoFit/>
          </a:bodyPr>
          <a:lstStyle/>
          <a:p>
            <a:pPr algn="l"/>
            <a:r>
              <a:rPr sz="1100" b="1" i="0">
                <a:solidFill>
                  <a:srgbClr val="FFFFFF"/>
                </a:solidFill>
                <a:latin typeface="Calibri"/>
              </a:rPr>
              <a:t>Household Workspace</a:t>
            </a:r>
          </a:p>
        </p:txBody>
      </p:sp>
      <p:sp>
        <p:nvSpPr>
          <p:cNvPr id="7" name="TextBox 6"/>
          <p:cNvSpPr txBox="1"/>
          <p:nvPr/>
        </p:nvSpPr>
        <p:spPr>
          <a:xfrm>
            <a:off x="594360" y="2286000"/>
            <a:ext cx="2450592" cy="411480"/>
          </a:xfrm>
          <a:prstGeom prst="rect">
            <a:avLst/>
          </a:prstGeom>
          <a:noFill/>
        </p:spPr>
        <p:txBody>
          <a:bodyPr wrap="square">
            <a:spAutoFit/>
          </a:bodyPr>
          <a:lstStyle/>
          <a:p>
            <a:pPr algn="l"/>
            <a:r>
              <a:rPr sz="900" b="0" i="0">
                <a:solidFill>
                  <a:srgbClr val="94A3B8"/>
                </a:solidFill>
                <a:latin typeface="Calibri"/>
              </a:rPr>
              <a:t>Email + Google SSO; invite members with
Owner / Editor / Viewer roles</a:t>
            </a:r>
          </a:p>
        </p:txBody>
      </p:sp>
      <p:sp>
        <p:nvSpPr>
          <p:cNvPr id="8" name="Rectangle 7"/>
          <p:cNvSpPr/>
          <p:nvPr/>
        </p:nvSpPr>
        <p:spPr>
          <a:xfrm>
            <a:off x="3310128" y="1572768"/>
            <a:ext cx="2724912" cy="1170432"/>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47288" y="1664208"/>
            <a:ext cx="2450592" cy="347472"/>
          </a:xfrm>
          <a:prstGeom prst="rect">
            <a:avLst/>
          </a:prstGeom>
          <a:noFill/>
        </p:spPr>
        <p:txBody>
          <a:bodyPr wrap="square">
            <a:spAutoFit/>
          </a:bodyPr>
          <a:lstStyle/>
          <a:p>
            <a:pPr algn="l"/>
            <a:r>
              <a:rPr sz="2000" b="0" i="0">
                <a:solidFill>
                  <a:srgbClr val="E2E8F0"/>
                </a:solidFill>
                <a:latin typeface="Calibri"/>
              </a:rPr>
              <a:t>📤</a:t>
            </a:r>
          </a:p>
        </p:txBody>
      </p:sp>
      <p:sp>
        <p:nvSpPr>
          <p:cNvPr id="10" name="TextBox 9"/>
          <p:cNvSpPr txBox="1"/>
          <p:nvPr/>
        </p:nvSpPr>
        <p:spPr>
          <a:xfrm>
            <a:off x="3447288" y="2011680"/>
            <a:ext cx="2450592" cy="274320"/>
          </a:xfrm>
          <a:prstGeom prst="rect">
            <a:avLst/>
          </a:prstGeom>
          <a:noFill/>
        </p:spPr>
        <p:txBody>
          <a:bodyPr wrap="square">
            <a:spAutoFit/>
          </a:bodyPr>
          <a:lstStyle/>
          <a:p>
            <a:pPr algn="l"/>
            <a:r>
              <a:rPr sz="1100" b="1" i="0">
                <a:solidFill>
                  <a:srgbClr val="FFFFFF"/>
                </a:solidFill>
                <a:latin typeface="Calibri"/>
              </a:rPr>
              <a:t>Smart File Import</a:t>
            </a:r>
          </a:p>
        </p:txBody>
      </p:sp>
      <p:sp>
        <p:nvSpPr>
          <p:cNvPr id="11" name="TextBox 10"/>
          <p:cNvSpPr txBox="1"/>
          <p:nvPr/>
        </p:nvSpPr>
        <p:spPr>
          <a:xfrm>
            <a:off x="3447288" y="2286000"/>
            <a:ext cx="2450592" cy="411480"/>
          </a:xfrm>
          <a:prstGeom prst="rect">
            <a:avLst/>
          </a:prstGeom>
          <a:noFill/>
        </p:spPr>
        <p:txBody>
          <a:bodyPr wrap="square">
            <a:spAutoFit/>
          </a:bodyPr>
          <a:lstStyle/>
          <a:p>
            <a:pPr algn="l"/>
            <a:r>
              <a:rPr sz="900" b="0" i="0">
                <a:solidFill>
                  <a:srgbClr val="94A3B8"/>
                </a:solidFill>
                <a:latin typeface="Calibri"/>
              </a:rPr>
              <a:t>CSV, OFX, QFX; column mapper; saved
institution templates; preview + dedup</a:t>
            </a:r>
          </a:p>
        </p:txBody>
      </p:sp>
      <p:sp>
        <p:nvSpPr>
          <p:cNvPr id="12" name="Rectangle 11"/>
          <p:cNvSpPr/>
          <p:nvPr/>
        </p:nvSpPr>
        <p:spPr>
          <a:xfrm>
            <a:off x="6163056" y="1572768"/>
            <a:ext cx="2724912" cy="1170432"/>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0216" y="1664208"/>
            <a:ext cx="2450592" cy="347472"/>
          </a:xfrm>
          <a:prstGeom prst="rect">
            <a:avLst/>
          </a:prstGeom>
          <a:noFill/>
        </p:spPr>
        <p:txBody>
          <a:bodyPr wrap="square">
            <a:spAutoFit/>
          </a:bodyPr>
          <a:lstStyle/>
          <a:p>
            <a:pPr algn="l"/>
            <a:r>
              <a:rPr sz="2000" b="0" i="0">
                <a:solidFill>
                  <a:srgbClr val="E2E8F0"/>
                </a:solidFill>
                <a:latin typeface="Calibri"/>
              </a:rPr>
              <a:t>📊</a:t>
            </a:r>
          </a:p>
        </p:txBody>
      </p:sp>
      <p:sp>
        <p:nvSpPr>
          <p:cNvPr id="14" name="TextBox 13"/>
          <p:cNvSpPr txBox="1"/>
          <p:nvPr/>
        </p:nvSpPr>
        <p:spPr>
          <a:xfrm>
            <a:off x="6300216" y="2011680"/>
            <a:ext cx="2450592" cy="274320"/>
          </a:xfrm>
          <a:prstGeom prst="rect">
            <a:avLst/>
          </a:prstGeom>
          <a:noFill/>
        </p:spPr>
        <p:txBody>
          <a:bodyPr wrap="square">
            <a:spAutoFit/>
          </a:bodyPr>
          <a:lstStyle/>
          <a:p>
            <a:pPr algn="l"/>
            <a:r>
              <a:rPr sz="1100" b="1" i="0">
                <a:solidFill>
                  <a:srgbClr val="FFFFFF"/>
                </a:solidFill>
                <a:latin typeface="Calibri"/>
              </a:rPr>
              <a:t>Unified Ledger</a:t>
            </a:r>
          </a:p>
        </p:txBody>
      </p:sp>
      <p:sp>
        <p:nvSpPr>
          <p:cNvPr id="15" name="TextBox 14"/>
          <p:cNvSpPr txBox="1"/>
          <p:nvPr/>
        </p:nvSpPr>
        <p:spPr>
          <a:xfrm>
            <a:off x="6300216" y="2286000"/>
            <a:ext cx="2450592" cy="411480"/>
          </a:xfrm>
          <a:prstGeom prst="rect">
            <a:avLst/>
          </a:prstGeom>
          <a:noFill/>
        </p:spPr>
        <p:txBody>
          <a:bodyPr wrap="square">
            <a:spAutoFit/>
          </a:bodyPr>
          <a:lstStyle/>
          <a:p>
            <a:pPr algn="l"/>
            <a:r>
              <a:rPr sz="900" b="0" i="0">
                <a:solidFill>
                  <a:srgbClr val="94A3B8"/>
                </a:solidFill>
                <a:latin typeface="Calibri"/>
              </a:rPr>
              <a:t>All accounts in one timeline; bulk edit;
member tags; transfer pairing</a:t>
            </a:r>
          </a:p>
        </p:txBody>
      </p:sp>
      <p:sp>
        <p:nvSpPr>
          <p:cNvPr id="16" name="Rectangle 15"/>
          <p:cNvSpPr/>
          <p:nvPr/>
        </p:nvSpPr>
        <p:spPr>
          <a:xfrm>
            <a:off x="9015984" y="1572768"/>
            <a:ext cx="2724912" cy="1170432"/>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53144" y="1664208"/>
            <a:ext cx="2450592" cy="347472"/>
          </a:xfrm>
          <a:prstGeom prst="rect">
            <a:avLst/>
          </a:prstGeom>
          <a:noFill/>
        </p:spPr>
        <p:txBody>
          <a:bodyPr wrap="square">
            <a:spAutoFit/>
          </a:bodyPr>
          <a:lstStyle/>
          <a:p>
            <a:pPr algn="l"/>
            <a:r>
              <a:rPr sz="2000" b="0" i="0">
                <a:solidFill>
                  <a:srgbClr val="E2E8F0"/>
                </a:solidFill>
                <a:latin typeface="Calibri"/>
              </a:rPr>
              <a:t>🏷️</a:t>
            </a:r>
          </a:p>
        </p:txBody>
      </p:sp>
      <p:sp>
        <p:nvSpPr>
          <p:cNvPr id="18" name="TextBox 17"/>
          <p:cNvSpPr txBox="1"/>
          <p:nvPr/>
        </p:nvSpPr>
        <p:spPr>
          <a:xfrm>
            <a:off x="9153144" y="2011680"/>
            <a:ext cx="2450592" cy="274320"/>
          </a:xfrm>
          <a:prstGeom prst="rect">
            <a:avLst/>
          </a:prstGeom>
          <a:noFill/>
        </p:spPr>
        <p:txBody>
          <a:bodyPr wrap="square">
            <a:spAutoFit/>
          </a:bodyPr>
          <a:lstStyle/>
          <a:p>
            <a:pPr algn="l"/>
            <a:r>
              <a:rPr sz="1100" b="1" i="0">
                <a:solidFill>
                  <a:srgbClr val="FFFFFF"/>
                </a:solidFill>
                <a:latin typeface="Calibri"/>
              </a:rPr>
              <a:t>AI Categorization</a:t>
            </a:r>
          </a:p>
        </p:txBody>
      </p:sp>
      <p:sp>
        <p:nvSpPr>
          <p:cNvPr id="19" name="TextBox 18"/>
          <p:cNvSpPr txBox="1"/>
          <p:nvPr/>
        </p:nvSpPr>
        <p:spPr>
          <a:xfrm>
            <a:off x="9153144" y="2286000"/>
            <a:ext cx="2450592" cy="411480"/>
          </a:xfrm>
          <a:prstGeom prst="rect">
            <a:avLst/>
          </a:prstGeom>
          <a:noFill/>
        </p:spPr>
        <p:txBody>
          <a:bodyPr wrap="square">
            <a:spAutoFit/>
          </a:bodyPr>
          <a:lstStyle/>
          <a:p>
            <a:pPr algn="l"/>
            <a:r>
              <a:rPr sz="900" b="0" i="0">
                <a:solidFill>
                  <a:srgbClr val="94A3B8"/>
                </a:solidFill>
                <a:latin typeface="Calibri"/>
              </a:rPr>
              <a:t>Family-oriented categories; rules engine;
low-confidence review queue</a:t>
            </a:r>
          </a:p>
        </p:txBody>
      </p:sp>
      <p:sp>
        <p:nvSpPr>
          <p:cNvPr id="20" name="Rectangle 19"/>
          <p:cNvSpPr/>
          <p:nvPr/>
        </p:nvSpPr>
        <p:spPr>
          <a:xfrm>
            <a:off x="457200" y="2852928"/>
            <a:ext cx="2724912" cy="1170432"/>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2944368"/>
            <a:ext cx="2450592" cy="347472"/>
          </a:xfrm>
          <a:prstGeom prst="rect">
            <a:avLst/>
          </a:prstGeom>
          <a:noFill/>
        </p:spPr>
        <p:txBody>
          <a:bodyPr wrap="square">
            <a:spAutoFit/>
          </a:bodyPr>
          <a:lstStyle/>
          <a:p>
            <a:pPr algn="l"/>
            <a:r>
              <a:rPr sz="2000" b="0" i="0">
                <a:solidFill>
                  <a:srgbClr val="E2E8F0"/>
                </a:solidFill>
                <a:latin typeface="Calibri"/>
              </a:rPr>
              <a:t>🧮</a:t>
            </a:r>
          </a:p>
        </p:txBody>
      </p:sp>
      <p:sp>
        <p:nvSpPr>
          <p:cNvPr id="22" name="TextBox 21"/>
          <p:cNvSpPr txBox="1"/>
          <p:nvPr/>
        </p:nvSpPr>
        <p:spPr>
          <a:xfrm>
            <a:off x="594360" y="3291840"/>
            <a:ext cx="2450592" cy="274320"/>
          </a:xfrm>
          <a:prstGeom prst="rect">
            <a:avLst/>
          </a:prstGeom>
          <a:noFill/>
        </p:spPr>
        <p:txBody>
          <a:bodyPr wrap="square">
            <a:spAutoFit/>
          </a:bodyPr>
          <a:lstStyle/>
          <a:p>
            <a:pPr algn="l"/>
            <a:r>
              <a:rPr sz="1100" b="1" i="0">
                <a:solidFill>
                  <a:srgbClr val="FFFFFF"/>
                </a:solidFill>
                <a:latin typeface="Calibri"/>
              </a:rPr>
              <a:t>Budget Wizard</a:t>
            </a:r>
          </a:p>
        </p:txBody>
      </p:sp>
      <p:sp>
        <p:nvSpPr>
          <p:cNvPr id="23" name="TextBox 22"/>
          <p:cNvSpPr txBox="1"/>
          <p:nvPr/>
        </p:nvSpPr>
        <p:spPr>
          <a:xfrm>
            <a:off x="594360" y="3566160"/>
            <a:ext cx="2450592" cy="411480"/>
          </a:xfrm>
          <a:prstGeom prst="rect">
            <a:avLst/>
          </a:prstGeom>
          <a:noFill/>
        </p:spPr>
        <p:txBody>
          <a:bodyPr wrap="square">
            <a:spAutoFit/>
          </a:bodyPr>
          <a:lstStyle/>
          <a:p>
            <a:pPr algn="l"/>
            <a:r>
              <a:rPr sz="900" b="0" i="0">
                <a:solidFill>
                  <a:srgbClr val="94A3B8"/>
                </a:solidFill>
                <a:latin typeface="Calibri"/>
              </a:rPr>
              <a:t>50/30/20 framing + per-category caps
from 3–6 months of real history</a:t>
            </a:r>
          </a:p>
        </p:txBody>
      </p:sp>
      <p:sp>
        <p:nvSpPr>
          <p:cNvPr id="24" name="Rectangle 23"/>
          <p:cNvSpPr/>
          <p:nvPr/>
        </p:nvSpPr>
        <p:spPr>
          <a:xfrm>
            <a:off x="3310128" y="2852928"/>
            <a:ext cx="2724912" cy="1170432"/>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47288" y="2944368"/>
            <a:ext cx="2450592" cy="347472"/>
          </a:xfrm>
          <a:prstGeom prst="rect">
            <a:avLst/>
          </a:prstGeom>
          <a:noFill/>
        </p:spPr>
        <p:txBody>
          <a:bodyPr wrap="square">
            <a:spAutoFit/>
          </a:bodyPr>
          <a:lstStyle/>
          <a:p>
            <a:pPr algn="l"/>
            <a:r>
              <a:rPr sz="2000" b="0" i="0">
                <a:solidFill>
                  <a:srgbClr val="E2E8F0"/>
                </a:solidFill>
                <a:latin typeface="Calibri"/>
              </a:rPr>
              <a:t>💬</a:t>
            </a:r>
          </a:p>
        </p:txBody>
      </p:sp>
      <p:sp>
        <p:nvSpPr>
          <p:cNvPr id="26" name="TextBox 25"/>
          <p:cNvSpPr txBox="1"/>
          <p:nvPr/>
        </p:nvSpPr>
        <p:spPr>
          <a:xfrm>
            <a:off x="3447288" y="3291840"/>
            <a:ext cx="2450592" cy="274320"/>
          </a:xfrm>
          <a:prstGeom prst="rect">
            <a:avLst/>
          </a:prstGeom>
          <a:noFill/>
        </p:spPr>
        <p:txBody>
          <a:bodyPr wrap="square">
            <a:spAutoFit/>
          </a:bodyPr>
          <a:lstStyle/>
          <a:p>
            <a:pPr algn="l"/>
            <a:r>
              <a:rPr sz="1100" b="1" i="0">
                <a:solidFill>
                  <a:srgbClr val="FFFFFF"/>
                </a:solidFill>
                <a:latin typeface="Calibri"/>
              </a:rPr>
              <a:t>AI Budget Assistant</a:t>
            </a:r>
          </a:p>
        </p:txBody>
      </p:sp>
      <p:sp>
        <p:nvSpPr>
          <p:cNvPr id="27" name="TextBox 26"/>
          <p:cNvSpPr txBox="1"/>
          <p:nvPr/>
        </p:nvSpPr>
        <p:spPr>
          <a:xfrm>
            <a:off x="3447288" y="3566160"/>
            <a:ext cx="2450592" cy="411480"/>
          </a:xfrm>
          <a:prstGeom prst="rect">
            <a:avLst/>
          </a:prstGeom>
          <a:noFill/>
        </p:spPr>
        <p:txBody>
          <a:bodyPr wrap="square">
            <a:spAutoFit/>
          </a:bodyPr>
          <a:lstStyle/>
          <a:p>
            <a:pPr algn="l"/>
            <a:r>
              <a:rPr sz="900" b="0" i="0">
                <a:solidFill>
                  <a:srgbClr val="94A3B8"/>
                </a:solidFill>
                <a:latin typeface="Calibri"/>
              </a:rPr>
              <a:t>NL Q&amp;A over transactions, budgets, goals
via GPT-4o / Gemini function calling</a:t>
            </a:r>
          </a:p>
        </p:txBody>
      </p:sp>
      <p:sp>
        <p:nvSpPr>
          <p:cNvPr id="28" name="Rectangle 27"/>
          <p:cNvSpPr/>
          <p:nvPr/>
        </p:nvSpPr>
        <p:spPr>
          <a:xfrm>
            <a:off x="6163056" y="2852928"/>
            <a:ext cx="2724912" cy="1170432"/>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00216" y="2944368"/>
            <a:ext cx="2450592" cy="347472"/>
          </a:xfrm>
          <a:prstGeom prst="rect">
            <a:avLst/>
          </a:prstGeom>
          <a:noFill/>
        </p:spPr>
        <p:txBody>
          <a:bodyPr wrap="square">
            <a:spAutoFit/>
          </a:bodyPr>
          <a:lstStyle/>
          <a:p>
            <a:pPr algn="l"/>
            <a:r>
              <a:rPr sz="2000" b="0" i="0">
                <a:solidFill>
                  <a:srgbClr val="E2E8F0"/>
                </a:solidFill>
                <a:latin typeface="Calibri"/>
              </a:rPr>
              <a:t>🔔</a:t>
            </a:r>
          </a:p>
        </p:txBody>
      </p:sp>
      <p:sp>
        <p:nvSpPr>
          <p:cNvPr id="30" name="TextBox 29"/>
          <p:cNvSpPr txBox="1"/>
          <p:nvPr/>
        </p:nvSpPr>
        <p:spPr>
          <a:xfrm>
            <a:off x="6300216" y="3291840"/>
            <a:ext cx="2450592" cy="274320"/>
          </a:xfrm>
          <a:prstGeom prst="rect">
            <a:avLst/>
          </a:prstGeom>
          <a:noFill/>
        </p:spPr>
        <p:txBody>
          <a:bodyPr wrap="square">
            <a:spAutoFit/>
          </a:bodyPr>
          <a:lstStyle/>
          <a:p>
            <a:pPr algn="l"/>
            <a:r>
              <a:rPr sz="1100" b="1" i="0">
                <a:solidFill>
                  <a:srgbClr val="FFFFFF"/>
                </a:solidFill>
                <a:latin typeface="Calibri"/>
              </a:rPr>
              <a:t>Mid-Month Alerts</a:t>
            </a:r>
          </a:p>
        </p:txBody>
      </p:sp>
      <p:sp>
        <p:nvSpPr>
          <p:cNvPr id="31" name="TextBox 30"/>
          <p:cNvSpPr txBox="1"/>
          <p:nvPr/>
        </p:nvSpPr>
        <p:spPr>
          <a:xfrm>
            <a:off x="6300216" y="3566160"/>
            <a:ext cx="2450592" cy="411480"/>
          </a:xfrm>
          <a:prstGeom prst="rect">
            <a:avLst/>
          </a:prstGeom>
          <a:noFill/>
        </p:spPr>
        <p:txBody>
          <a:bodyPr wrap="square">
            <a:spAutoFit/>
          </a:bodyPr>
          <a:lstStyle/>
          <a:p>
            <a:pPr algn="l"/>
            <a:r>
              <a:rPr sz="900" b="0" i="0">
                <a:solidFill>
                  <a:srgbClr val="94A3B8"/>
                </a:solidFill>
                <a:latin typeface="Calibri"/>
              </a:rPr>
              <a:t>Category pacing widgets; email alerts at
90% and 100% of budget thresholds</a:t>
            </a:r>
          </a:p>
        </p:txBody>
      </p:sp>
      <p:sp>
        <p:nvSpPr>
          <p:cNvPr id="32" name="Rectangle 31"/>
          <p:cNvSpPr/>
          <p:nvPr/>
        </p:nvSpPr>
        <p:spPr>
          <a:xfrm>
            <a:off x="9015984" y="2852928"/>
            <a:ext cx="2724912" cy="1170432"/>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53144" y="2944368"/>
            <a:ext cx="2450592" cy="347472"/>
          </a:xfrm>
          <a:prstGeom prst="rect">
            <a:avLst/>
          </a:prstGeom>
          <a:noFill/>
        </p:spPr>
        <p:txBody>
          <a:bodyPr wrap="square">
            <a:spAutoFit/>
          </a:bodyPr>
          <a:lstStyle/>
          <a:p>
            <a:pPr algn="l"/>
            <a:r>
              <a:rPr sz="2000" b="0" i="0">
                <a:solidFill>
                  <a:srgbClr val="E2E8F0"/>
                </a:solidFill>
                <a:latin typeface="Calibri"/>
              </a:rPr>
              <a:t>💎</a:t>
            </a:r>
          </a:p>
        </p:txBody>
      </p:sp>
      <p:sp>
        <p:nvSpPr>
          <p:cNvPr id="34" name="TextBox 33"/>
          <p:cNvSpPr txBox="1"/>
          <p:nvPr/>
        </p:nvSpPr>
        <p:spPr>
          <a:xfrm>
            <a:off x="9153144" y="3291840"/>
            <a:ext cx="2450592" cy="274320"/>
          </a:xfrm>
          <a:prstGeom prst="rect">
            <a:avLst/>
          </a:prstGeom>
          <a:noFill/>
        </p:spPr>
        <p:txBody>
          <a:bodyPr wrap="square">
            <a:spAutoFit/>
          </a:bodyPr>
          <a:lstStyle/>
          <a:p>
            <a:pPr algn="l"/>
            <a:r>
              <a:rPr sz="1100" b="1" i="0">
                <a:solidFill>
                  <a:srgbClr val="FFFFFF"/>
                </a:solidFill>
                <a:latin typeface="Calibri"/>
              </a:rPr>
              <a:t>Freemium Model</a:t>
            </a:r>
          </a:p>
        </p:txBody>
      </p:sp>
      <p:sp>
        <p:nvSpPr>
          <p:cNvPr id="35" name="TextBox 34"/>
          <p:cNvSpPr txBox="1"/>
          <p:nvPr/>
        </p:nvSpPr>
        <p:spPr>
          <a:xfrm>
            <a:off x="9153144" y="3566160"/>
            <a:ext cx="2450592" cy="411480"/>
          </a:xfrm>
          <a:prstGeom prst="rect">
            <a:avLst/>
          </a:prstGeom>
          <a:noFill/>
        </p:spPr>
        <p:txBody>
          <a:bodyPr wrap="square">
            <a:spAutoFit/>
          </a:bodyPr>
          <a:lstStyle/>
          <a:p>
            <a:pPr algn="l"/>
            <a:r>
              <a:rPr sz="900" b="0" i="0">
                <a:solidFill>
                  <a:srgbClr val="94A3B8"/>
                </a:solidFill>
                <a:latin typeface="Calibri"/>
              </a:rPr>
              <a:t>6 months history free; premium for full
history + CSV/PDF export; no ads</a:t>
            </a:r>
          </a:p>
        </p:txBody>
      </p:sp>
      <p:sp>
        <p:nvSpPr>
          <p:cNvPr id="36" name="Rectangle 35"/>
          <p:cNvSpPr/>
          <p:nvPr/>
        </p:nvSpPr>
        <p:spPr>
          <a:xfrm>
            <a:off x="457200" y="5650992"/>
            <a:ext cx="1792224" cy="82296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5687568"/>
            <a:ext cx="1792224" cy="384048"/>
          </a:xfrm>
          <a:prstGeom prst="rect">
            <a:avLst/>
          </a:prstGeom>
          <a:noFill/>
        </p:spPr>
        <p:txBody>
          <a:bodyPr wrap="square">
            <a:spAutoFit/>
          </a:bodyPr>
          <a:lstStyle/>
          <a:p>
            <a:pPr algn="ctr"/>
            <a:r>
              <a:rPr sz="1800" b="1" i="0">
                <a:solidFill>
                  <a:srgbClr val="4F8EF7"/>
                </a:solidFill>
                <a:latin typeface="Calibri"/>
              </a:rPr>
              <a:t>&lt;30m</a:t>
            </a:r>
          </a:p>
        </p:txBody>
      </p:sp>
      <p:sp>
        <p:nvSpPr>
          <p:cNvPr id="38" name="TextBox 37"/>
          <p:cNvSpPr txBox="1"/>
          <p:nvPr/>
        </p:nvSpPr>
        <p:spPr>
          <a:xfrm>
            <a:off x="457200" y="6053328"/>
            <a:ext cx="1792224" cy="256032"/>
          </a:xfrm>
          <a:prstGeom prst="rect">
            <a:avLst/>
          </a:prstGeom>
          <a:noFill/>
        </p:spPr>
        <p:txBody>
          <a:bodyPr wrap="square">
            <a:spAutoFit/>
          </a:bodyPr>
          <a:lstStyle/>
          <a:p>
            <a:pPr algn="ctr"/>
            <a:r>
              <a:rPr sz="900" b="0" i="0">
                <a:solidFill>
                  <a:srgbClr val="94A3B8"/>
                </a:solidFill>
                <a:latin typeface="Calibri"/>
              </a:rPr>
              <a:t>First dashboard</a:t>
            </a:r>
          </a:p>
        </p:txBody>
      </p:sp>
      <p:sp>
        <p:nvSpPr>
          <p:cNvPr id="39" name="Rectangle 38"/>
          <p:cNvSpPr/>
          <p:nvPr/>
        </p:nvSpPr>
        <p:spPr>
          <a:xfrm>
            <a:off x="2304288" y="5650992"/>
            <a:ext cx="1792224" cy="82296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304288" y="5687568"/>
            <a:ext cx="1792224" cy="384048"/>
          </a:xfrm>
          <a:prstGeom prst="rect">
            <a:avLst/>
          </a:prstGeom>
          <a:noFill/>
        </p:spPr>
        <p:txBody>
          <a:bodyPr wrap="square">
            <a:spAutoFit/>
          </a:bodyPr>
          <a:lstStyle/>
          <a:p>
            <a:pPr algn="ctr"/>
            <a:r>
              <a:rPr sz="1800" b="1" i="0">
                <a:solidFill>
                  <a:srgbClr val="4F8EF7"/>
                </a:solidFill>
                <a:latin typeface="Calibri"/>
              </a:rPr>
              <a:t>≥60%</a:t>
            </a:r>
          </a:p>
        </p:txBody>
      </p:sp>
      <p:sp>
        <p:nvSpPr>
          <p:cNvPr id="41" name="TextBox 40"/>
          <p:cNvSpPr txBox="1"/>
          <p:nvPr/>
        </p:nvSpPr>
        <p:spPr>
          <a:xfrm>
            <a:off x="2304288" y="6053328"/>
            <a:ext cx="1792224" cy="256032"/>
          </a:xfrm>
          <a:prstGeom prst="rect">
            <a:avLst/>
          </a:prstGeom>
          <a:noFill/>
        </p:spPr>
        <p:txBody>
          <a:bodyPr wrap="square">
            <a:spAutoFit/>
          </a:bodyPr>
          <a:lstStyle/>
          <a:p>
            <a:pPr algn="ctr"/>
            <a:r>
              <a:rPr sz="900" b="0" i="0">
                <a:solidFill>
                  <a:srgbClr val="94A3B8"/>
                </a:solidFill>
                <a:latin typeface="Calibri"/>
              </a:rPr>
              <a:t>Week-1 activation</a:t>
            </a:r>
          </a:p>
        </p:txBody>
      </p:sp>
      <p:sp>
        <p:nvSpPr>
          <p:cNvPr id="42" name="Rectangle 41"/>
          <p:cNvSpPr/>
          <p:nvPr/>
        </p:nvSpPr>
        <p:spPr>
          <a:xfrm>
            <a:off x="4151376" y="5650992"/>
            <a:ext cx="1792224" cy="82296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151376" y="5687568"/>
            <a:ext cx="1792224" cy="384048"/>
          </a:xfrm>
          <a:prstGeom prst="rect">
            <a:avLst/>
          </a:prstGeom>
          <a:noFill/>
        </p:spPr>
        <p:txBody>
          <a:bodyPr wrap="square">
            <a:spAutoFit/>
          </a:bodyPr>
          <a:lstStyle/>
          <a:p>
            <a:pPr algn="ctr"/>
            <a:r>
              <a:rPr sz="1800" b="1" i="0">
                <a:solidFill>
                  <a:srgbClr val="4F8EF7"/>
                </a:solidFill>
                <a:latin typeface="Calibri"/>
              </a:rPr>
              <a:t>≥80%</a:t>
            </a:r>
          </a:p>
        </p:txBody>
      </p:sp>
      <p:sp>
        <p:nvSpPr>
          <p:cNvPr id="44" name="TextBox 43"/>
          <p:cNvSpPr txBox="1"/>
          <p:nvPr/>
        </p:nvSpPr>
        <p:spPr>
          <a:xfrm>
            <a:off x="4151376" y="6053328"/>
            <a:ext cx="1792224" cy="256032"/>
          </a:xfrm>
          <a:prstGeom prst="rect">
            <a:avLst/>
          </a:prstGeom>
          <a:noFill/>
        </p:spPr>
        <p:txBody>
          <a:bodyPr wrap="square">
            <a:spAutoFit/>
          </a:bodyPr>
          <a:lstStyle/>
          <a:p>
            <a:pPr algn="ctr"/>
            <a:r>
              <a:rPr sz="900" b="0" i="0">
                <a:solidFill>
                  <a:srgbClr val="94A3B8"/>
                </a:solidFill>
                <a:latin typeface="Calibri"/>
              </a:rPr>
              <a:t>Auto-categorization</a:t>
            </a:r>
          </a:p>
        </p:txBody>
      </p:sp>
      <p:sp>
        <p:nvSpPr>
          <p:cNvPr id="45" name="Rectangle 44"/>
          <p:cNvSpPr/>
          <p:nvPr/>
        </p:nvSpPr>
        <p:spPr>
          <a:xfrm>
            <a:off x="5998464" y="5650992"/>
            <a:ext cx="1792224" cy="82296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998464" y="5687568"/>
            <a:ext cx="1792224" cy="384048"/>
          </a:xfrm>
          <a:prstGeom prst="rect">
            <a:avLst/>
          </a:prstGeom>
          <a:noFill/>
        </p:spPr>
        <p:txBody>
          <a:bodyPr wrap="square">
            <a:spAutoFit/>
          </a:bodyPr>
          <a:lstStyle/>
          <a:p>
            <a:pPr algn="ctr"/>
            <a:r>
              <a:rPr sz="1800" b="1" i="0">
                <a:solidFill>
                  <a:srgbClr val="4F8EF7"/>
                </a:solidFill>
                <a:latin typeface="Calibri"/>
              </a:rPr>
              <a:t>≥40%</a:t>
            </a:r>
          </a:p>
        </p:txBody>
      </p:sp>
      <p:sp>
        <p:nvSpPr>
          <p:cNvPr id="47" name="TextBox 46"/>
          <p:cNvSpPr txBox="1"/>
          <p:nvPr/>
        </p:nvSpPr>
        <p:spPr>
          <a:xfrm>
            <a:off x="5998464" y="6053328"/>
            <a:ext cx="1792224" cy="256032"/>
          </a:xfrm>
          <a:prstGeom prst="rect">
            <a:avLst/>
          </a:prstGeom>
          <a:noFill/>
        </p:spPr>
        <p:txBody>
          <a:bodyPr wrap="square">
            <a:spAutoFit/>
          </a:bodyPr>
          <a:lstStyle/>
          <a:p>
            <a:pPr algn="ctr"/>
            <a:r>
              <a:rPr sz="900" b="0" i="0">
                <a:solidFill>
                  <a:srgbClr val="94A3B8"/>
                </a:solidFill>
                <a:latin typeface="Calibri"/>
              </a:rPr>
              <a:t>90-day retention</a:t>
            </a:r>
          </a:p>
        </p:txBody>
      </p:sp>
      <p:sp>
        <p:nvSpPr>
          <p:cNvPr id="48" name="Rectangle 47"/>
          <p:cNvSpPr/>
          <p:nvPr/>
        </p:nvSpPr>
        <p:spPr>
          <a:xfrm>
            <a:off x="7845552" y="5650992"/>
            <a:ext cx="1792224" cy="82296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845552" y="5687568"/>
            <a:ext cx="1792224" cy="384048"/>
          </a:xfrm>
          <a:prstGeom prst="rect">
            <a:avLst/>
          </a:prstGeom>
          <a:noFill/>
        </p:spPr>
        <p:txBody>
          <a:bodyPr wrap="square">
            <a:spAutoFit/>
          </a:bodyPr>
          <a:lstStyle/>
          <a:p>
            <a:pPr algn="ctr"/>
            <a:r>
              <a:rPr sz="1800" b="1" i="0">
                <a:solidFill>
                  <a:srgbClr val="4F8EF7"/>
                </a:solidFill>
                <a:latin typeface="Calibri"/>
              </a:rPr>
              <a:t>≥5%</a:t>
            </a:r>
          </a:p>
        </p:txBody>
      </p:sp>
      <p:sp>
        <p:nvSpPr>
          <p:cNvPr id="50" name="TextBox 49"/>
          <p:cNvSpPr txBox="1"/>
          <p:nvPr/>
        </p:nvSpPr>
        <p:spPr>
          <a:xfrm>
            <a:off x="7845552" y="6053328"/>
            <a:ext cx="1792224" cy="256032"/>
          </a:xfrm>
          <a:prstGeom prst="rect">
            <a:avLst/>
          </a:prstGeom>
          <a:noFill/>
        </p:spPr>
        <p:txBody>
          <a:bodyPr wrap="square">
            <a:spAutoFit/>
          </a:bodyPr>
          <a:lstStyle/>
          <a:p>
            <a:pPr algn="ctr"/>
            <a:r>
              <a:rPr sz="900" b="0" i="0">
                <a:solidFill>
                  <a:srgbClr val="94A3B8"/>
                </a:solidFill>
                <a:latin typeface="Calibri"/>
              </a:rPr>
              <a:t>Free → Premium</a:t>
            </a:r>
          </a:p>
        </p:txBody>
      </p:sp>
      <p:sp>
        <p:nvSpPr>
          <p:cNvPr id="51" name="Rectangle 50"/>
          <p:cNvSpPr/>
          <p:nvPr/>
        </p:nvSpPr>
        <p:spPr>
          <a:xfrm>
            <a:off x="9692640" y="5650992"/>
            <a:ext cx="1792224" cy="82296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692640" y="5687568"/>
            <a:ext cx="1792224" cy="384048"/>
          </a:xfrm>
          <a:prstGeom prst="rect">
            <a:avLst/>
          </a:prstGeom>
          <a:noFill/>
        </p:spPr>
        <p:txBody>
          <a:bodyPr wrap="square">
            <a:spAutoFit/>
          </a:bodyPr>
          <a:lstStyle/>
          <a:p>
            <a:pPr algn="ctr"/>
            <a:r>
              <a:rPr sz="1800" b="1" i="0">
                <a:solidFill>
                  <a:srgbClr val="4F8EF7"/>
                </a:solidFill>
                <a:latin typeface="Calibri"/>
              </a:rPr>
              <a:t>≥3</a:t>
            </a:r>
          </a:p>
        </p:txBody>
      </p:sp>
      <p:sp>
        <p:nvSpPr>
          <p:cNvPr id="53" name="TextBox 52"/>
          <p:cNvSpPr txBox="1"/>
          <p:nvPr/>
        </p:nvSpPr>
        <p:spPr>
          <a:xfrm>
            <a:off x="9692640" y="6053328"/>
            <a:ext cx="1792224" cy="256032"/>
          </a:xfrm>
          <a:prstGeom prst="rect">
            <a:avLst/>
          </a:prstGeom>
          <a:noFill/>
        </p:spPr>
        <p:txBody>
          <a:bodyPr wrap="square">
            <a:spAutoFit/>
          </a:bodyPr>
          <a:lstStyle/>
          <a:p>
            <a:pPr algn="ctr"/>
            <a:r>
              <a:rPr sz="900" b="0" i="0">
                <a:solidFill>
                  <a:srgbClr val="94A3B8"/>
                </a:solidFill>
                <a:latin typeface="Calibri"/>
              </a:rPr>
              <a:t>AI queries/user/mo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347472"/>
            <a:ext cx="10970056" cy="256032"/>
          </a:xfrm>
          <a:prstGeom prst="rect">
            <a:avLst/>
          </a:prstGeom>
          <a:noFill/>
        </p:spPr>
        <p:txBody>
          <a:bodyPr wrap="square">
            <a:spAutoFit/>
          </a:bodyPr>
          <a:lstStyle/>
          <a:p>
            <a:pPr algn="l"/>
            <a:r>
              <a:rPr sz="900" b="1" i="0">
                <a:solidFill>
                  <a:srgbClr val="4F8EF7"/>
                </a:solidFill>
                <a:latin typeface="Calibri"/>
              </a:rPr>
              <a:t>☑ COMPETITORS IN THE MARKET</a:t>
            </a:r>
          </a:p>
        </p:txBody>
      </p:sp>
      <p:sp>
        <p:nvSpPr>
          <p:cNvPr id="3" name="TextBox 2"/>
          <p:cNvSpPr txBox="1"/>
          <p:nvPr/>
        </p:nvSpPr>
        <p:spPr>
          <a:xfrm>
            <a:off x="457200" y="603504"/>
            <a:ext cx="10970056" cy="548640"/>
          </a:xfrm>
          <a:prstGeom prst="rect">
            <a:avLst/>
          </a:prstGeom>
          <a:noFill/>
        </p:spPr>
        <p:txBody>
          <a:bodyPr wrap="square">
            <a:spAutoFit/>
          </a:bodyPr>
          <a:lstStyle/>
          <a:p>
            <a:pPr algn="l"/>
            <a:r>
              <a:rPr sz="2600" b="1" i="0">
                <a:solidFill>
                  <a:srgbClr val="FFFFFF"/>
                </a:solidFill>
                <a:latin typeface="Calibri"/>
              </a:rPr>
              <a:t>We own the white space no one else occupies</a:t>
            </a:r>
          </a:p>
        </p:txBody>
      </p:sp>
      <p:graphicFrame>
        <p:nvGraphicFramePr>
          <p:cNvPr id="4" name="Table 3"/>
          <p:cNvGraphicFramePr>
            <a:graphicFrameLocks noGrp="1"/>
          </p:cNvGraphicFramePr>
          <p:nvPr/>
        </p:nvGraphicFramePr>
        <p:xfrm>
          <a:off x="365760" y="1481328"/>
          <a:ext cx="10515600" cy="4526280"/>
        </p:xfrm>
        <a:graphic>
          <a:graphicData uri="http://schemas.openxmlformats.org/drawingml/2006/table">
            <a:tbl>
              <a:tblPr firstRow="1" bandRow="1">
                <a:tableStyleId>{5C22544A-7EE6-4342-B048-85BDC9FD1C3A}</a:tableStyleId>
              </a:tblPr>
              <a:tblGrid>
                <a:gridCol w="2377440"/>
                <a:gridCol w="822960"/>
                <a:gridCol w="1554480"/>
                <a:gridCol w="1463040"/>
                <a:gridCol w="1371600"/>
                <a:gridCol w="1280160"/>
                <a:gridCol w="1645920"/>
              </a:tblGrid>
              <a:tr h="502920">
                <a:tc>
                  <a:txBody>
                    <a:bodyPr/>
                    <a:lstStyle/>
                    <a:p>
                      <a:pPr algn="l"/>
                      <a:r>
                        <a:rPr sz="900" b="1">
                          <a:solidFill>
                            <a:srgbClr val="94A3B8"/>
                          </a:solidFill>
                          <a:latin typeface="Calibri"/>
                        </a:rPr>
                        <a:t>Product</a:t>
                      </a:r>
                    </a:p>
                  </a:txBody>
                  <a:tcPr>
                    <a:solidFill>
                      <a:srgbClr val="111827"/>
                    </a:solidFill>
                  </a:tcPr>
                </a:tc>
                <a:tc>
                  <a:txBody>
                    <a:bodyPr/>
                    <a:lstStyle/>
                    <a:p>
                      <a:pPr algn="l"/>
                      <a:r>
                        <a:rPr sz="900" b="1">
                          <a:solidFill>
                            <a:srgbClr val="94A3B8"/>
                          </a:solidFill>
                          <a:latin typeface="Calibri"/>
                        </a:rPr>
                        <a:t>Price</a:t>
                      </a:r>
                    </a:p>
                  </a:txBody>
                  <a:tcPr>
                    <a:solidFill>
                      <a:srgbClr val="111827"/>
                    </a:solidFill>
                  </a:tcPr>
                </a:tc>
                <a:tc>
                  <a:txBody>
                    <a:bodyPr/>
                    <a:lstStyle/>
                    <a:p>
                      <a:pPr algn="l"/>
                      <a:r>
                        <a:rPr sz="900" b="1">
                          <a:solidFill>
                            <a:srgbClr val="94A3B8"/>
                          </a:solidFill>
                          <a:latin typeface="Calibri"/>
                        </a:rPr>
                        <a:t>Household Sharing</a:t>
                      </a:r>
                    </a:p>
                  </a:txBody>
                  <a:tcPr>
                    <a:solidFill>
                      <a:srgbClr val="111827"/>
                    </a:solidFill>
                  </a:tcPr>
                </a:tc>
                <a:tc>
                  <a:txBody>
                    <a:bodyPr/>
                    <a:lstStyle/>
                    <a:p>
                      <a:pPr algn="l"/>
                      <a:r>
                        <a:rPr sz="900" b="1">
                          <a:solidFill>
                            <a:srgbClr val="94A3B8"/>
                          </a:solidFill>
                          <a:latin typeface="Calibri"/>
                        </a:rPr>
                        <a:t>AI Q&amp;A</a:t>
                      </a:r>
                    </a:p>
                  </a:txBody>
                  <a:tcPr>
                    <a:solidFill>
                      <a:srgbClr val="111827"/>
                    </a:solidFill>
                  </a:tcPr>
                </a:tc>
                <a:tc>
                  <a:txBody>
                    <a:bodyPr/>
                    <a:lstStyle/>
                    <a:p>
                      <a:pPr algn="l"/>
                      <a:r>
                        <a:rPr sz="900" b="1">
                          <a:solidFill>
                            <a:srgbClr val="94A3B8"/>
                          </a:solidFill>
                          <a:latin typeface="Calibri"/>
                        </a:rPr>
                        <a:t>File Import</a:t>
                      </a:r>
                    </a:p>
                  </a:txBody>
                  <a:tcPr>
                    <a:solidFill>
                      <a:srgbClr val="111827"/>
                    </a:solidFill>
                  </a:tcPr>
                </a:tc>
                <a:tc>
                  <a:txBody>
                    <a:bodyPr/>
                    <a:lstStyle/>
                    <a:p>
                      <a:pPr algn="l"/>
                      <a:r>
                        <a:rPr sz="900" b="1">
                          <a:solidFill>
                            <a:srgbClr val="94A3B8"/>
                          </a:solidFill>
                          <a:latin typeface="Calibri"/>
                        </a:rPr>
                        <a:t>Privacy</a:t>
                      </a:r>
                    </a:p>
                  </a:txBody>
                  <a:tcPr>
                    <a:solidFill>
                      <a:srgbClr val="111827"/>
                    </a:solidFill>
                  </a:tcPr>
                </a:tc>
                <a:tc>
                  <a:txBody>
                    <a:bodyPr/>
                    <a:lstStyle/>
                    <a:p>
                      <a:pPr algn="l"/>
                      <a:r>
                        <a:rPr sz="900" b="1">
                          <a:solidFill>
                            <a:srgbClr val="94A3B8"/>
                          </a:solidFill>
                          <a:latin typeface="Calibri"/>
                        </a:rPr>
                        <a:t>Best For</a:t>
                      </a:r>
                    </a:p>
                  </a:txBody>
                  <a:tcPr>
                    <a:solidFill>
                      <a:srgbClr val="111827"/>
                    </a:solidFill>
                  </a:tcPr>
                </a:tc>
              </a:tr>
              <a:tr h="502920">
                <a:tc>
                  <a:txBody>
                    <a:bodyPr/>
                    <a:lstStyle/>
                    <a:p>
                      <a:pPr algn="l"/>
                      <a:r>
                        <a:rPr sz="900" b="1">
                          <a:solidFill>
                            <a:srgbClr val="4F8EF7"/>
                          </a:solidFill>
                          <a:latin typeface="Calibri"/>
                        </a:rPr>
                        <a:t>⭐ Family Budget Assistant</a:t>
                      </a:r>
                    </a:p>
                  </a:txBody>
                  <a:tcPr>
                    <a:solidFill>
                      <a:srgbClr val="0d1a38"/>
                    </a:solidFill>
                  </a:tcPr>
                </a:tc>
                <a:tc>
                  <a:txBody>
                    <a:bodyPr/>
                    <a:lstStyle/>
                    <a:p>
                      <a:pPr algn="l"/>
                      <a:r>
                        <a:rPr sz="900" b="0">
                          <a:solidFill>
                            <a:srgbClr val="E2E8F0"/>
                          </a:solidFill>
                          <a:latin typeface="Calibri"/>
                        </a:rPr>
                        <a:t>Freemium</a:t>
                      </a:r>
                    </a:p>
                  </a:txBody>
                  <a:tcPr>
                    <a:solidFill>
                      <a:srgbClr val="0d1a38"/>
                    </a:solidFill>
                  </a:tcPr>
                </a:tc>
                <a:tc>
                  <a:txBody>
                    <a:bodyPr/>
                    <a:lstStyle/>
                    <a:p>
                      <a:pPr algn="l"/>
                      <a:r>
                        <a:rPr sz="900" b="0">
                          <a:solidFill>
                            <a:srgbClr val="22C55E"/>
                          </a:solidFill>
                          <a:latin typeface="Calibri"/>
                        </a:rPr>
                        <a:t>✓ Native (roles)</a:t>
                      </a:r>
                    </a:p>
                  </a:txBody>
                  <a:tcPr>
                    <a:solidFill>
                      <a:srgbClr val="0d1a38"/>
                    </a:solidFill>
                  </a:tcPr>
                </a:tc>
                <a:tc>
                  <a:txBody>
                    <a:bodyPr/>
                    <a:lstStyle/>
                    <a:p>
                      <a:pPr algn="l"/>
                      <a:r>
                        <a:rPr sz="900" b="0">
                          <a:solidFill>
                            <a:srgbClr val="22C55E"/>
                          </a:solidFill>
                          <a:latin typeface="Calibri"/>
                        </a:rPr>
                        <a:t>✓ Grounded NL Q&amp;A</a:t>
                      </a:r>
                    </a:p>
                  </a:txBody>
                  <a:tcPr>
                    <a:solidFill>
                      <a:srgbClr val="0d1a38"/>
                    </a:solidFill>
                  </a:tcPr>
                </a:tc>
                <a:tc>
                  <a:txBody>
                    <a:bodyPr/>
                    <a:lstStyle/>
                    <a:p>
                      <a:pPr algn="l"/>
                      <a:r>
                        <a:rPr sz="900" b="0">
                          <a:solidFill>
                            <a:srgbClr val="22C55E"/>
                          </a:solidFill>
                          <a:latin typeface="Calibri"/>
                        </a:rPr>
                        <a:t>✓ Primary path</a:t>
                      </a:r>
                    </a:p>
                  </a:txBody>
                  <a:tcPr>
                    <a:solidFill>
                      <a:srgbClr val="0d1a38"/>
                    </a:solidFill>
                  </a:tcPr>
                </a:tc>
                <a:tc>
                  <a:txBody>
                    <a:bodyPr/>
                    <a:lstStyle/>
                    <a:p>
                      <a:pPr algn="l"/>
                      <a:r>
                        <a:rPr sz="900" b="0">
                          <a:solidFill>
                            <a:srgbClr val="22C55E"/>
                          </a:solidFill>
                          <a:latin typeface="Calibri"/>
                        </a:rPr>
                        <a:t>✓ MVP default</a:t>
                      </a:r>
                    </a:p>
                  </a:txBody>
                  <a:tcPr>
                    <a:solidFill>
                      <a:srgbClr val="0d1a38"/>
                    </a:solidFill>
                  </a:tcPr>
                </a:tc>
                <a:tc>
                  <a:txBody>
                    <a:bodyPr/>
                    <a:lstStyle/>
                    <a:p>
                      <a:pPr algn="l"/>
                      <a:r>
                        <a:rPr sz="900" b="0">
                          <a:solidFill>
                            <a:srgbClr val="E2E8F0"/>
                          </a:solidFill>
                          <a:latin typeface="Calibri"/>
                        </a:rPr>
                        <a:t>Privacy-first families</a:t>
                      </a:r>
                    </a:p>
                  </a:txBody>
                  <a:tcPr>
                    <a:solidFill>
                      <a:srgbClr val="0d1a38"/>
                    </a:solidFill>
                  </a:tcPr>
                </a:tc>
              </a:tr>
              <a:tr h="502920">
                <a:tc>
                  <a:txBody>
                    <a:bodyPr/>
                    <a:lstStyle/>
                    <a:p>
                      <a:pPr algn="l"/>
                      <a:r>
                        <a:rPr sz="900" b="0">
                          <a:solidFill>
                            <a:srgbClr val="E2E8F0"/>
                          </a:solidFill>
                          <a:latin typeface="Calibri"/>
                        </a:rPr>
                        <a:t>Monarch Money</a:t>
                      </a:r>
                    </a:p>
                  </a:txBody>
                  <a:tcPr>
                    <a:solidFill>
                      <a:srgbClr val="1a2235"/>
                    </a:solidFill>
                  </a:tcPr>
                </a:tc>
                <a:tc>
                  <a:txBody>
                    <a:bodyPr/>
                    <a:lstStyle/>
                    <a:p>
                      <a:pPr algn="l"/>
                      <a:r>
                        <a:rPr sz="900" b="0">
                          <a:solidFill>
                            <a:srgbClr val="E2E8F0"/>
                          </a:solidFill>
                          <a:latin typeface="Calibri"/>
                        </a:rPr>
                        <a:t>$99/yr</a:t>
                      </a:r>
                    </a:p>
                  </a:txBody>
                  <a:tcPr>
                    <a:solidFill>
                      <a:srgbClr val="1a2235"/>
                    </a:solidFill>
                  </a:tcPr>
                </a:tc>
                <a:tc>
                  <a:txBody>
                    <a:bodyPr/>
                    <a:lstStyle/>
                    <a:p>
                      <a:pPr algn="l"/>
                      <a:r>
                        <a:rPr sz="900" b="0">
                          <a:solidFill>
                            <a:srgbClr val="22C55E"/>
                          </a:solidFill>
                          <a:latin typeface="Calibri"/>
                        </a:rPr>
                        <a:t>✓ Couples view</a:t>
                      </a:r>
                    </a:p>
                  </a:txBody>
                  <a:tcPr>
                    <a:solidFill>
                      <a:srgbClr val="1a2235"/>
                    </a:solidFill>
                  </a:tcPr>
                </a:tc>
                <a:tc>
                  <a:txBody>
                    <a:bodyPr/>
                    <a:lstStyle/>
                    <a:p>
                      <a:pPr algn="l"/>
                      <a:r>
                        <a:rPr sz="900" b="0">
                          <a:solidFill>
                            <a:srgbClr val="E2E8F0"/>
                          </a:solidFill>
                          <a:latin typeface="Calibri"/>
                        </a:rPr>
                        <a:t>✗ Insights only</a:t>
                      </a:r>
                    </a:p>
                  </a:txBody>
                  <a:tcPr>
                    <a:solidFill>
                      <a:srgbClr val="1a2235"/>
                    </a:solidFill>
                  </a:tcPr>
                </a:tc>
                <a:tc>
                  <a:txBody>
                    <a:bodyPr/>
                    <a:lstStyle/>
                    <a:p>
                      <a:pPr algn="l"/>
                      <a:r>
                        <a:rPr sz="900" b="0">
                          <a:solidFill>
                            <a:srgbClr val="EF4444"/>
                          </a:solidFill>
                          <a:latin typeface="Calibri"/>
                        </a:rPr>
                        <a:t>✗</a:t>
                      </a:r>
                    </a:p>
                  </a:txBody>
                  <a:tcPr>
                    <a:solidFill>
                      <a:srgbClr val="1a2235"/>
                    </a:solidFill>
                  </a:tcPr>
                </a:tc>
                <a:tc>
                  <a:txBody>
                    <a:bodyPr/>
                    <a:lstStyle/>
                    <a:p>
                      <a:pPr algn="l"/>
                      <a:r>
                        <a:rPr sz="900" b="0">
                          <a:solidFill>
                            <a:srgbClr val="EF4444"/>
                          </a:solidFill>
                          <a:latin typeface="Calibri"/>
                        </a:rPr>
                        <a:t>✗</a:t>
                      </a:r>
                    </a:p>
                  </a:txBody>
                  <a:tcPr>
                    <a:solidFill>
                      <a:srgbClr val="1a2235"/>
                    </a:solidFill>
                  </a:tcPr>
                </a:tc>
                <a:tc>
                  <a:txBody>
                    <a:bodyPr/>
                    <a:lstStyle/>
                    <a:p>
                      <a:pPr algn="l"/>
                      <a:r>
                        <a:rPr sz="900" b="0">
                          <a:solidFill>
                            <a:srgbClr val="E2E8F0"/>
                          </a:solidFill>
                          <a:latin typeface="Calibri"/>
                        </a:rPr>
                        <a:t>Mint replacement</a:t>
                      </a:r>
                    </a:p>
                  </a:txBody>
                  <a:tcPr>
                    <a:solidFill>
                      <a:srgbClr val="1a2235"/>
                    </a:solidFill>
                  </a:tcPr>
                </a:tc>
              </a:tr>
              <a:tr h="502920">
                <a:tc>
                  <a:txBody>
                    <a:bodyPr/>
                    <a:lstStyle/>
                    <a:p>
                      <a:pPr algn="l"/>
                      <a:r>
                        <a:rPr sz="900" b="0">
                          <a:solidFill>
                            <a:srgbClr val="E2E8F0"/>
                          </a:solidFill>
                          <a:latin typeface="Calibri"/>
                        </a:rPr>
                        <a:t>YNAB</a:t>
                      </a:r>
                    </a:p>
                  </a:txBody>
                  <a:tcPr>
                    <a:solidFill>
                      <a:srgbClr val="1a2235"/>
                    </a:solidFill>
                  </a:tcPr>
                </a:tc>
                <a:tc>
                  <a:txBody>
                    <a:bodyPr/>
                    <a:lstStyle/>
                    <a:p>
                      <a:pPr algn="l"/>
                      <a:r>
                        <a:rPr sz="900" b="0">
                          <a:solidFill>
                            <a:srgbClr val="E2E8F0"/>
                          </a:solidFill>
                          <a:latin typeface="Calibri"/>
                        </a:rPr>
                        <a:t>$109/yr</a:t>
                      </a:r>
                    </a:p>
                  </a:txBody>
                  <a:tcPr>
                    <a:solidFill>
                      <a:srgbClr val="1a2235"/>
                    </a:solidFill>
                  </a:tcPr>
                </a:tc>
                <a:tc>
                  <a:txBody>
                    <a:bodyPr/>
                    <a:lstStyle/>
                    <a:p>
                      <a:pPr algn="l"/>
                      <a:r>
                        <a:rPr sz="900" b="0">
                          <a:solidFill>
                            <a:srgbClr val="F59E0B"/>
                          </a:solidFill>
                          <a:latin typeface="Calibri"/>
                        </a:rPr>
                        <a:t>~ Shared budget</a:t>
                      </a:r>
                    </a:p>
                  </a:txBody>
                  <a:tcPr>
                    <a:solidFill>
                      <a:srgbClr val="1a2235"/>
                    </a:solidFill>
                  </a:tcPr>
                </a:tc>
                <a:tc>
                  <a:txBody>
                    <a:bodyPr/>
                    <a:lstStyle/>
                    <a:p>
                      <a:pPr algn="l"/>
                      <a:r>
                        <a:rPr sz="900" b="0">
                          <a:solidFill>
                            <a:srgbClr val="EF4444"/>
                          </a:solidFill>
                          <a:latin typeface="Calibri"/>
                        </a:rPr>
                        <a:t>✗</a:t>
                      </a:r>
                    </a:p>
                  </a:txBody>
                  <a:tcPr>
                    <a:solidFill>
                      <a:srgbClr val="1a2235"/>
                    </a:solidFill>
                  </a:tcPr>
                </a:tc>
                <a:tc>
                  <a:txBody>
                    <a:bodyPr/>
                    <a:lstStyle/>
                    <a:p>
                      <a:pPr algn="l"/>
                      <a:r>
                        <a:rPr sz="900" b="0">
                          <a:solidFill>
                            <a:srgbClr val="EF4444"/>
                          </a:solidFill>
                          <a:latin typeface="Calibri"/>
                        </a:rPr>
                        <a:t>✗</a:t>
                      </a:r>
                    </a:p>
                  </a:txBody>
                  <a:tcPr>
                    <a:solidFill>
                      <a:srgbClr val="1a2235"/>
                    </a:solidFill>
                  </a:tcPr>
                </a:tc>
                <a:tc>
                  <a:txBody>
                    <a:bodyPr/>
                    <a:lstStyle/>
                    <a:p>
                      <a:pPr algn="l"/>
                      <a:r>
                        <a:rPr sz="900" b="0">
                          <a:solidFill>
                            <a:srgbClr val="EF4444"/>
                          </a:solidFill>
                          <a:latin typeface="Calibri"/>
                        </a:rPr>
                        <a:t>✗</a:t>
                      </a:r>
                    </a:p>
                  </a:txBody>
                  <a:tcPr>
                    <a:solidFill>
                      <a:srgbClr val="1a2235"/>
                    </a:solidFill>
                  </a:tcPr>
                </a:tc>
                <a:tc>
                  <a:txBody>
                    <a:bodyPr/>
                    <a:lstStyle/>
                    <a:p>
                      <a:pPr algn="l"/>
                      <a:r>
                        <a:rPr sz="900" b="0">
                          <a:solidFill>
                            <a:srgbClr val="E2E8F0"/>
                          </a:solidFill>
                          <a:latin typeface="Calibri"/>
                        </a:rPr>
                        <a:t>ZBB purists</a:t>
                      </a:r>
                    </a:p>
                  </a:txBody>
                  <a:tcPr>
                    <a:solidFill>
                      <a:srgbClr val="1a2235"/>
                    </a:solidFill>
                  </a:tcPr>
                </a:tc>
              </a:tr>
              <a:tr h="502920">
                <a:tc>
                  <a:txBody>
                    <a:bodyPr/>
                    <a:lstStyle/>
                    <a:p>
                      <a:pPr algn="l"/>
                      <a:r>
                        <a:rPr sz="900" b="0">
                          <a:solidFill>
                            <a:srgbClr val="E2E8F0"/>
                          </a:solidFill>
                          <a:latin typeface="Calibri"/>
                        </a:rPr>
                        <a:t>Copilot</a:t>
                      </a:r>
                    </a:p>
                  </a:txBody>
                  <a:tcPr>
                    <a:solidFill>
                      <a:srgbClr val="1a2235"/>
                    </a:solidFill>
                  </a:tcPr>
                </a:tc>
                <a:tc>
                  <a:txBody>
                    <a:bodyPr/>
                    <a:lstStyle/>
                    <a:p>
                      <a:pPr algn="l"/>
                      <a:r>
                        <a:rPr sz="900" b="0">
                          <a:solidFill>
                            <a:srgbClr val="F59E0B"/>
                          </a:solidFill>
                          <a:latin typeface="Calibri"/>
                        </a:rPr>
                        <a:t>~$95/yr</a:t>
                      </a:r>
                    </a:p>
                  </a:txBody>
                  <a:tcPr>
                    <a:solidFill>
                      <a:srgbClr val="1a2235"/>
                    </a:solidFill>
                  </a:tcPr>
                </a:tc>
                <a:tc>
                  <a:txBody>
                    <a:bodyPr/>
                    <a:lstStyle/>
                    <a:p>
                      <a:pPr algn="l"/>
                      <a:r>
                        <a:rPr sz="900" b="0">
                          <a:solidFill>
                            <a:srgbClr val="E2E8F0"/>
                          </a:solidFill>
                          <a:latin typeface="Calibri"/>
                        </a:rPr>
                        <a:t>✗ No sharing</a:t>
                      </a:r>
                    </a:p>
                  </a:txBody>
                  <a:tcPr>
                    <a:solidFill>
                      <a:srgbClr val="1a2235"/>
                    </a:solidFill>
                  </a:tcPr>
                </a:tc>
                <a:tc>
                  <a:txBody>
                    <a:bodyPr/>
                    <a:lstStyle/>
                    <a:p>
                      <a:pPr algn="l"/>
                      <a:r>
                        <a:rPr sz="900" b="0">
                          <a:solidFill>
                            <a:srgbClr val="F59E0B"/>
                          </a:solidFill>
                          <a:latin typeface="Calibri"/>
                        </a:rPr>
                        <a:t>~ Cat AI only</a:t>
                      </a:r>
                    </a:p>
                  </a:txBody>
                  <a:tcPr>
                    <a:solidFill>
                      <a:srgbClr val="1a2235"/>
                    </a:solidFill>
                  </a:tcPr>
                </a:tc>
                <a:tc>
                  <a:txBody>
                    <a:bodyPr/>
                    <a:lstStyle/>
                    <a:p>
                      <a:pPr algn="l"/>
                      <a:r>
                        <a:rPr sz="900" b="0">
                          <a:solidFill>
                            <a:srgbClr val="EF4444"/>
                          </a:solidFill>
                          <a:latin typeface="Calibri"/>
                        </a:rPr>
                        <a:t>✗</a:t>
                      </a:r>
                    </a:p>
                  </a:txBody>
                  <a:tcPr>
                    <a:solidFill>
                      <a:srgbClr val="1a2235"/>
                    </a:solidFill>
                  </a:tcPr>
                </a:tc>
                <a:tc>
                  <a:txBody>
                    <a:bodyPr/>
                    <a:lstStyle/>
                    <a:p>
                      <a:pPr algn="l"/>
                      <a:r>
                        <a:rPr sz="900" b="0">
                          <a:solidFill>
                            <a:srgbClr val="EF4444"/>
                          </a:solidFill>
                          <a:latin typeface="Calibri"/>
                        </a:rPr>
                        <a:t>✗</a:t>
                      </a:r>
                    </a:p>
                  </a:txBody>
                  <a:tcPr>
                    <a:solidFill>
                      <a:srgbClr val="1a2235"/>
                    </a:solidFill>
                  </a:tcPr>
                </a:tc>
                <a:tc>
                  <a:txBody>
                    <a:bodyPr/>
                    <a:lstStyle/>
                    <a:p>
                      <a:pPr algn="l"/>
                      <a:r>
                        <a:rPr sz="900" b="0">
                          <a:solidFill>
                            <a:srgbClr val="E2E8F0"/>
                          </a:solidFill>
                          <a:latin typeface="Calibri"/>
                        </a:rPr>
                        <a:t>Apple / design-first</a:t>
                      </a:r>
                    </a:p>
                  </a:txBody>
                  <a:tcPr>
                    <a:solidFill>
                      <a:srgbClr val="1a2235"/>
                    </a:solidFill>
                  </a:tcPr>
                </a:tc>
              </a:tr>
              <a:tr h="502920">
                <a:tc>
                  <a:txBody>
                    <a:bodyPr/>
                    <a:lstStyle/>
                    <a:p>
                      <a:pPr algn="l"/>
                      <a:r>
                        <a:rPr sz="900" b="0">
                          <a:solidFill>
                            <a:srgbClr val="E2E8F0"/>
                          </a:solidFill>
                          <a:latin typeface="Calibri"/>
                        </a:rPr>
                        <a:t>Empower</a:t>
                      </a:r>
                    </a:p>
                  </a:txBody>
                  <a:tcPr>
                    <a:solidFill>
                      <a:srgbClr val="1a2235"/>
                    </a:solidFill>
                  </a:tcPr>
                </a:tc>
                <a:tc>
                  <a:txBody>
                    <a:bodyPr/>
                    <a:lstStyle/>
                    <a:p>
                      <a:pPr algn="l"/>
                      <a:r>
                        <a:rPr sz="900" b="0">
                          <a:solidFill>
                            <a:srgbClr val="E2E8F0"/>
                          </a:solidFill>
                          <a:latin typeface="Calibri"/>
                        </a:rPr>
                        <a:t>Free</a:t>
                      </a:r>
                    </a:p>
                  </a:txBody>
                  <a:tcPr>
                    <a:solidFill>
                      <a:srgbClr val="1a2235"/>
                    </a:solidFill>
                  </a:tcPr>
                </a:tc>
                <a:tc>
                  <a:txBody>
                    <a:bodyPr/>
                    <a:lstStyle/>
                    <a:p>
                      <a:pPr algn="l"/>
                      <a:r>
                        <a:rPr sz="900" b="0">
                          <a:solidFill>
                            <a:srgbClr val="EF4444"/>
                          </a:solidFill>
                          <a:latin typeface="Calibri"/>
                        </a:rPr>
                        <a:t>✗</a:t>
                      </a:r>
                    </a:p>
                  </a:txBody>
                  <a:tcPr>
                    <a:solidFill>
                      <a:srgbClr val="1a2235"/>
                    </a:solidFill>
                  </a:tcPr>
                </a:tc>
                <a:tc>
                  <a:txBody>
                    <a:bodyPr/>
                    <a:lstStyle/>
                    <a:p>
                      <a:pPr algn="l"/>
                      <a:r>
                        <a:rPr sz="900" b="0">
                          <a:solidFill>
                            <a:srgbClr val="EF4444"/>
                          </a:solidFill>
                          <a:latin typeface="Calibri"/>
                        </a:rPr>
                        <a:t>✗</a:t>
                      </a:r>
                    </a:p>
                  </a:txBody>
                  <a:tcPr>
                    <a:solidFill>
                      <a:srgbClr val="1a2235"/>
                    </a:solidFill>
                  </a:tcPr>
                </a:tc>
                <a:tc>
                  <a:txBody>
                    <a:bodyPr/>
                    <a:lstStyle/>
                    <a:p>
                      <a:pPr algn="l"/>
                      <a:r>
                        <a:rPr sz="900" b="0">
                          <a:solidFill>
                            <a:srgbClr val="EF4444"/>
                          </a:solidFill>
                          <a:latin typeface="Calibri"/>
                        </a:rPr>
                        <a:t>✗</a:t>
                      </a:r>
                    </a:p>
                  </a:txBody>
                  <a:tcPr>
                    <a:solidFill>
                      <a:srgbClr val="1a2235"/>
                    </a:solidFill>
                  </a:tcPr>
                </a:tc>
                <a:tc>
                  <a:txBody>
                    <a:bodyPr/>
                    <a:lstStyle/>
                    <a:p>
                      <a:pPr algn="l"/>
                      <a:r>
                        <a:rPr sz="900" b="0">
                          <a:solidFill>
                            <a:srgbClr val="EF4444"/>
                          </a:solidFill>
                          <a:latin typeface="Calibri"/>
                        </a:rPr>
                        <a:t>✗</a:t>
                      </a:r>
                    </a:p>
                  </a:txBody>
                  <a:tcPr>
                    <a:solidFill>
                      <a:srgbClr val="1a2235"/>
                    </a:solidFill>
                  </a:tcPr>
                </a:tc>
                <a:tc>
                  <a:txBody>
                    <a:bodyPr/>
                    <a:lstStyle/>
                    <a:p>
                      <a:pPr algn="l"/>
                      <a:r>
                        <a:rPr sz="900" b="0">
                          <a:solidFill>
                            <a:srgbClr val="E2E8F0"/>
                          </a:solidFill>
                          <a:latin typeface="Calibri"/>
                        </a:rPr>
                        <a:t>Net worth tracker</a:t>
                      </a:r>
                    </a:p>
                  </a:txBody>
                  <a:tcPr>
                    <a:solidFill>
                      <a:srgbClr val="1a2235"/>
                    </a:solidFill>
                  </a:tcPr>
                </a:tc>
              </a:tr>
              <a:tr h="502920">
                <a:tc>
                  <a:txBody>
                    <a:bodyPr/>
                    <a:lstStyle/>
                    <a:p>
                      <a:pPr algn="l"/>
                      <a:r>
                        <a:rPr sz="900" b="0">
                          <a:solidFill>
                            <a:srgbClr val="E2E8F0"/>
                          </a:solidFill>
                          <a:latin typeface="Calibri"/>
                        </a:rPr>
                        <a:t>Rocket Money</a:t>
                      </a:r>
                    </a:p>
                  </a:txBody>
                  <a:tcPr>
                    <a:solidFill>
                      <a:srgbClr val="1a2235"/>
                    </a:solidFill>
                  </a:tcPr>
                </a:tc>
                <a:tc>
                  <a:txBody>
                    <a:bodyPr/>
                    <a:lstStyle/>
                    <a:p>
                      <a:pPr algn="l"/>
                      <a:r>
                        <a:rPr sz="900" b="0">
                          <a:solidFill>
                            <a:srgbClr val="E2E8F0"/>
                          </a:solidFill>
                          <a:latin typeface="Calibri"/>
                        </a:rPr>
                        <a:t>Freemium</a:t>
                      </a:r>
                    </a:p>
                  </a:txBody>
                  <a:tcPr>
                    <a:solidFill>
                      <a:srgbClr val="1a2235"/>
                    </a:solidFill>
                  </a:tcPr>
                </a:tc>
                <a:tc>
                  <a:txBody>
                    <a:bodyPr/>
                    <a:lstStyle/>
                    <a:p>
                      <a:pPr algn="l"/>
                      <a:r>
                        <a:rPr sz="900" b="0">
                          <a:solidFill>
                            <a:srgbClr val="EF4444"/>
                          </a:solidFill>
                          <a:latin typeface="Calibri"/>
                        </a:rPr>
                        <a:t>✗</a:t>
                      </a:r>
                    </a:p>
                  </a:txBody>
                  <a:tcPr>
                    <a:solidFill>
                      <a:srgbClr val="1a2235"/>
                    </a:solidFill>
                  </a:tcPr>
                </a:tc>
                <a:tc>
                  <a:txBody>
                    <a:bodyPr/>
                    <a:lstStyle/>
                    <a:p>
                      <a:pPr algn="l"/>
                      <a:r>
                        <a:rPr sz="900" b="0">
                          <a:solidFill>
                            <a:srgbClr val="EF4444"/>
                          </a:solidFill>
                          <a:latin typeface="Calibri"/>
                        </a:rPr>
                        <a:t>✗</a:t>
                      </a:r>
                    </a:p>
                  </a:txBody>
                  <a:tcPr>
                    <a:solidFill>
                      <a:srgbClr val="1a2235"/>
                    </a:solidFill>
                  </a:tcPr>
                </a:tc>
                <a:tc>
                  <a:txBody>
                    <a:bodyPr/>
                    <a:lstStyle/>
                    <a:p>
                      <a:pPr algn="l"/>
                      <a:r>
                        <a:rPr sz="900" b="0">
                          <a:solidFill>
                            <a:srgbClr val="EF4444"/>
                          </a:solidFill>
                          <a:latin typeface="Calibri"/>
                        </a:rPr>
                        <a:t>✗</a:t>
                      </a:r>
                    </a:p>
                  </a:txBody>
                  <a:tcPr>
                    <a:solidFill>
                      <a:srgbClr val="1a2235"/>
                    </a:solidFill>
                  </a:tcPr>
                </a:tc>
                <a:tc>
                  <a:txBody>
                    <a:bodyPr/>
                    <a:lstStyle/>
                    <a:p>
                      <a:pPr algn="l"/>
                      <a:r>
                        <a:rPr sz="900" b="0">
                          <a:solidFill>
                            <a:srgbClr val="EF4444"/>
                          </a:solidFill>
                          <a:latin typeface="Calibri"/>
                        </a:rPr>
                        <a:t>✗</a:t>
                      </a:r>
                    </a:p>
                  </a:txBody>
                  <a:tcPr>
                    <a:solidFill>
                      <a:srgbClr val="1a2235"/>
                    </a:solidFill>
                  </a:tcPr>
                </a:tc>
                <a:tc>
                  <a:txBody>
                    <a:bodyPr/>
                    <a:lstStyle/>
                    <a:p>
                      <a:pPr algn="l"/>
                      <a:r>
                        <a:rPr sz="900" b="0">
                          <a:solidFill>
                            <a:srgbClr val="E2E8F0"/>
                          </a:solidFill>
                          <a:latin typeface="Calibri"/>
                        </a:rPr>
                        <a:t>Subscription cancels</a:t>
                      </a:r>
                    </a:p>
                  </a:txBody>
                  <a:tcPr>
                    <a:solidFill>
                      <a:srgbClr val="1a2235"/>
                    </a:solidFill>
                  </a:tcPr>
                </a:tc>
              </a:tr>
              <a:tr h="502920">
                <a:tc>
                  <a:txBody>
                    <a:bodyPr/>
                    <a:lstStyle/>
                    <a:p>
                      <a:pPr algn="l"/>
                      <a:r>
                        <a:rPr sz="900" b="0">
                          <a:solidFill>
                            <a:srgbClr val="E2E8F0"/>
                          </a:solidFill>
                          <a:latin typeface="Calibri"/>
                        </a:rPr>
                        <a:t>Goodbudget</a:t>
                      </a:r>
                    </a:p>
                  </a:txBody>
                  <a:tcPr>
                    <a:solidFill>
                      <a:srgbClr val="1a2235"/>
                    </a:solidFill>
                  </a:tcPr>
                </a:tc>
                <a:tc>
                  <a:txBody>
                    <a:bodyPr/>
                    <a:lstStyle/>
                    <a:p>
                      <a:pPr algn="l"/>
                      <a:r>
                        <a:rPr sz="900" b="0">
                          <a:solidFill>
                            <a:srgbClr val="E2E8F0"/>
                          </a:solidFill>
                          <a:latin typeface="Calibri"/>
                        </a:rPr>
                        <a:t>Free/$8</a:t>
                      </a:r>
                    </a:p>
                  </a:txBody>
                  <a:tcPr>
                    <a:solidFill>
                      <a:srgbClr val="1a2235"/>
                    </a:solidFill>
                  </a:tcPr>
                </a:tc>
                <a:tc>
                  <a:txBody>
                    <a:bodyPr/>
                    <a:lstStyle/>
                    <a:p>
                      <a:pPr algn="l"/>
                      <a:r>
                        <a:rPr sz="900" b="0">
                          <a:solidFill>
                            <a:srgbClr val="F59E0B"/>
                          </a:solidFill>
                          <a:latin typeface="Calibri"/>
                        </a:rPr>
                        <a:t>~ Limited</a:t>
                      </a:r>
                    </a:p>
                  </a:txBody>
                  <a:tcPr>
                    <a:solidFill>
                      <a:srgbClr val="1a2235"/>
                    </a:solidFill>
                  </a:tcPr>
                </a:tc>
                <a:tc>
                  <a:txBody>
                    <a:bodyPr/>
                    <a:lstStyle/>
                    <a:p>
                      <a:pPr algn="l"/>
                      <a:r>
                        <a:rPr sz="900" b="0">
                          <a:solidFill>
                            <a:srgbClr val="EF4444"/>
                          </a:solidFill>
                          <a:latin typeface="Calibri"/>
                        </a:rPr>
                        <a:t>✗</a:t>
                      </a:r>
                    </a:p>
                  </a:txBody>
                  <a:tcPr>
                    <a:solidFill>
                      <a:srgbClr val="1a2235"/>
                    </a:solidFill>
                  </a:tcPr>
                </a:tc>
                <a:tc>
                  <a:txBody>
                    <a:bodyPr/>
                    <a:lstStyle/>
                    <a:p>
                      <a:pPr algn="l"/>
                      <a:r>
                        <a:rPr sz="900" b="0">
                          <a:solidFill>
                            <a:srgbClr val="F59E0B"/>
                          </a:solidFill>
                          <a:latin typeface="Calibri"/>
                        </a:rPr>
                        <a:t>~ Manual entry</a:t>
                      </a:r>
                    </a:p>
                  </a:txBody>
                  <a:tcPr>
                    <a:solidFill>
                      <a:srgbClr val="1a2235"/>
                    </a:solidFill>
                  </a:tcPr>
                </a:tc>
                <a:tc>
                  <a:txBody>
                    <a:bodyPr/>
                    <a:lstStyle/>
                    <a:p>
                      <a:pPr algn="l"/>
                      <a:r>
                        <a:rPr sz="900" b="0">
                          <a:solidFill>
                            <a:srgbClr val="22C55E"/>
                          </a:solidFill>
                          <a:latin typeface="Calibri"/>
                        </a:rPr>
                        <a:t>✓</a:t>
                      </a:r>
                    </a:p>
                  </a:txBody>
                  <a:tcPr>
                    <a:solidFill>
                      <a:srgbClr val="1a2235"/>
                    </a:solidFill>
                  </a:tcPr>
                </a:tc>
                <a:tc>
                  <a:txBody>
                    <a:bodyPr/>
                    <a:lstStyle/>
                    <a:p>
                      <a:pPr algn="l"/>
                      <a:r>
                        <a:rPr sz="900" b="0">
                          <a:solidFill>
                            <a:srgbClr val="E2E8F0"/>
                          </a:solidFill>
                          <a:latin typeface="Calibri"/>
                        </a:rPr>
                        <a:t>Envelope budgeters</a:t>
                      </a:r>
                    </a:p>
                  </a:txBody>
                  <a:tcPr>
                    <a:solidFill>
                      <a:srgbClr val="1a2235"/>
                    </a:solidFill>
                  </a:tcPr>
                </a:tc>
              </a:tr>
              <a:tr h="502920">
                <a:tc>
                  <a:txBody>
                    <a:bodyPr/>
                    <a:lstStyle/>
                    <a:p>
                      <a:pPr algn="l"/>
                      <a:r>
                        <a:rPr sz="900" b="0">
                          <a:solidFill>
                            <a:srgbClr val="E2E8F0"/>
                          </a:solidFill>
                          <a:latin typeface="Calibri"/>
                        </a:rPr>
                        <a:t>Spreadsheets</a:t>
                      </a:r>
                    </a:p>
                  </a:txBody>
                  <a:tcPr>
                    <a:solidFill>
                      <a:srgbClr val="1a2235"/>
                    </a:solidFill>
                  </a:tcPr>
                </a:tc>
                <a:tc>
                  <a:txBody>
                    <a:bodyPr/>
                    <a:lstStyle/>
                    <a:p>
                      <a:pPr algn="l"/>
                      <a:r>
                        <a:rPr sz="900" b="0">
                          <a:solidFill>
                            <a:srgbClr val="E2E8F0"/>
                          </a:solidFill>
                          <a:latin typeface="Calibri"/>
                        </a:rPr>
                        <a:t>Free</a:t>
                      </a:r>
                    </a:p>
                  </a:txBody>
                  <a:tcPr>
                    <a:solidFill>
                      <a:srgbClr val="1a2235"/>
                    </a:solidFill>
                  </a:tcPr>
                </a:tc>
                <a:tc>
                  <a:txBody>
                    <a:bodyPr/>
                    <a:lstStyle/>
                    <a:p>
                      <a:pPr algn="l"/>
                      <a:r>
                        <a:rPr sz="900" b="0">
                          <a:solidFill>
                            <a:srgbClr val="F59E0B"/>
                          </a:solidFill>
                          <a:latin typeface="Calibri"/>
                        </a:rPr>
                        <a:t>~ DIY only</a:t>
                      </a:r>
                    </a:p>
                  </a:txBody>
                  <a:tcPr>
                    <a:solidFill>
                      <a:srgbClr val="1a2235"/>
                    </a:solidFill>
                  </a:tcPr>
                </a:tc>
                <a:tc>
                  <a:txBody>
                    <a:bodyPr/>
                    <a:lstStyle/>
                    <a:p>
                      <a:pPr algn="l"/>
                      <a:r>
                        <a:rPr sz="900" b="0">
                          <a:solidFill>
                            <a:srgbClr val="EF4444"/>
                          </a:solidFill>
                          <a:latin typeface="Calibri"/>
                        </a:rPr>
                        <a:t>✗</a:t>
                      </a:r>
                    </a:p>
                  </a:txBody>
                  <a:tcPr>
                    <a:solidFill>
                      <a:srgbClr val="1a2235"/>
                    </a:solidFill>
                  </a:tcPr>
                </a:tc>
                <a:tc>
                  <a:txBody>
                    <a:bodyPr/>
                    <a:lstStyle/>
                    <a:p>
                      <a:pPr algn="l"/>
                      <a:r>
                        <a:rPr sz="900" b="0">
                          <a:solidFill>
                            <a:srgbClr val="22C55E"/>
                          </a:solidFill>
                          <a:latin typeface="Calibri"/>
                        </a:rPr>
                        <a:t>✓</a:t>
                      </a:r>
                    </a:p>
                  </a:txBody>
                  <a:tcPr>
                    <a:solidFill>
                      <a:srgbClr val="1a2235"/>
                    </a:solidFill>
                  </a:tcPr>
                </a:tc>
                <a:tc>
                  <a:txBody>
                    <a:bodyPr/>
                    <a:lstStyle/>
                    <a:p>
                      <a:pPr algn="l"/>
                      <a:r>
                        <a:rPr sz="900" b="0">
                          <a:solidFill>
                            <a:srgbClr val="22C55E"/>
                          </a:solidFill>
                          <a:latin typeface="Calibri"/>
                        </a:rPr>
                        <a:t>✓</a:t>
                      </a:r>
                    </a:p>
                  </a:txBody>
                  <a:tcPr>
                    <a:solidFill>
                      <a:srgbClr val="1a2235"/>
                    </a:solidFill>
                  </a:tcPr>
                </a:tc>
                <a:tc>
                  <a:txBody>
                    <a:bodyPr/>
                    <a:lstStyle/>
                    <a:p>
                      <a:pPr algn="l"/>
                      <a:r>
                        <a:rPr sz="900" b="0">
                          <a:solidFill>
                            <a:srgbClr val="E2E8F0"/>
                          </a:solidFill>
                          <a:latin typeface="Calibri"/>
                        </a:rPr>
                        <a:t>Power users</a:t>
                      </a:r>
                    </a:p>
                  </a:txBody>
                  <a:tcPr>
                    <a:solidFill>
                      <a:srgbClr val="1a2235"/>
                    </a:solidFill>
                  </a:tcPr>
                </a:tc>
              </a:tr>
            </a:tbl>
          </a:graphicData>
        </a:graphic>
      </p:graphicFrame>
      <p:sp>
        <p:nvSpPr>
          <p:cNvPr id="5" name="Rectangle 4"/>
          <p:cNvSpPr/>
          <p:nvPr/>
        </p:nvSpPr>
        <p:spPr>
          <a:xfrm>
            <a:off x="365760" y="5029200"/>
            <a:ext cx="11457614" cy="1481328"/>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5751576"/>
            <a:ext cx="11457614" cy="27432"/>
          </a:xfrm>
          <a:prstGeom prst="rect">
            <a:avLst/>
          </a:prstGeom>
          <a:solidFill>
            <a:srgbClr val="2A34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80851" y="5029200"/>
            <a:ext cx="27432" cy="1481328"/>
          </a:xfrm>
          <a:prstGeom prst="rect">
            <a:avLst/>
          </a:prstGeom>
          <a:solidFill>
            <a:srgbClr val="2A34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5084064"/>
            <a:ext cx="11457614" cy="228600"/>
          </a:xfrm>
          <a:prstGeom prst="rect">
            <a:avLst/>
          </a:prstGeom>
          <a:noFill/>
        </p:spPr>
        <p:txBody>
          <a:bodyPr wrap="square">
            <a:spAutoFit/>
          </a:bodyPr>
          <a:lstStyle/>
          <a:p>
            <a:pPr algn="ctr"/>
            <a:r>
              <a:rPr sz="800" b="0" i="0">
                <a:solidFill>
                  <a:srgbClr val="94A3B8"/>
                </a:solidFill>
                <a:latin typeface="Calibri"/>
              </a:rPr>
              <a:t>↑ HIGH AUTOMATION + AI</a:t>
            </a:r>
          </a:p>
        </p:txBody>
      </p:sp>
      <p:sp>
        <p:nvSpPr>
          <p:cNvPr id="9" name="TextBox 8"/>
          <p:cNvSpPr txBox="1"/>
          <p:nvPr/>
        </p:nvSpPr>
        <p:spPr>
          <a:xfrm>
            <a:off x="365760" y="6254496"/>
            <a:ext cx="11457614" cy="228600"/>
          </a:xfrm>
          <a:prstGeom prst="rect">
            <a:avLst/>
          </a:prstGeom>
          <a:noFill/>
        </p:spPr>
        <p:txBody>
          <a:bodyPr wrap="square">
            <a:spAutoFit/>
          </a:bodyPr>
          <a:lstStyle/>
          <a:p>
            <a:pPr algn="ctr"/>
            <a:r>
              <a:rPr sz="800" b="0" i="0">
                <a:solidFill>
                  <a:srgbClr val="94A3B8"/>
                </a:solidFill>
                <a:latin typeface="Calibri"/>
              </a:rPr>
              <a:t>↓ LOW AUTOMATION / MANUAL</a:t>
            </a:r>
          </a:p>
        </p:txBody>
      </p:sp>
      <p:sp>
        <p:nvSpPr>
          <p:cNvPr id="10" name="TextBox 9"/>
          <p:cNvSpPr txBox="1"/>
          <p:nvPr/>
        </p:nvSpPr>
        <p:spPr>
          <a:xfrm>
            <a:off x="457200" y="5440680"/>
            <a:ext cx="1828800" cy="228600"/>
          </a:xfrm>
          <a:prstGeom prst="rect">
            <a:avLst/>
          </a:prstGeom>
          <a:noFill/>
        </p:spPr>
        <p:txBody>
          <a:bodyPr wrap="square">
            <a:spAutoFit/>
          </a:bodyPr>
          <a:lstStyle/>
          <a:p>
            <a:pPr algn="l"/>
            <a:r>
              <a:rPr sz="800" b="0" i="0">
                <a:solidFill>
                  <a:srgbClr val="94A3B8"/>
                </a:solidFill>
                <a:latin typeface="Calibri"/>
              </a:rPr>
              <a:t>← INDIVIDUAL</a:t>
            </a:r>
          </a:p>
        </p:txBody>
      </p:sp>
      <p:sp>
        <p:nvSpPr>
          <p:cNvPr id="11" name="TextBox 10"/>
          <p:cNvSpPr txBox="1"/>
          <p:nvPr/>
        </p:nvSpPr>
        <p:spPr>
          <a:xfrm>
            <a:off x="9811694" y="5440680"/>
            <a:ext cx="1920240" cy="228600"/>
          </a:xfrm>
          <a:prstGeom prst="rect">
            <a:avLst/>
          </a:prstGeom>
          <a:noFill/>
        </p:spPr>
        <p:txBody>
          <a:bodyPr wrap="square">
            <a:spAutoFit/>
          </a:bodyPr>
          <a:lstStyle/>
          <a:p>
            <a:pPr algn="r"/>
            <a:r>
              <a:rPr sz="800" b="0" i="0">
                <a:solidFill>
                  <a:srgbClr val="94A3B8"/>
                </a:solidFill>
                <a:latin typeface="Calibri"/>
              </a:rPr>
              <a:t>HOUSEHOLD-NATIVE →</a:t>
            </a:r>
          </a:p>
        </p:txBody>
      </p:sp>
      <p:sp>
        <p:nvSpPr>
          <p:cNvPr id="12" name="Rectangle 11"/>
          <p:cNvSpPr/>
          <p:nvPr/>
        </p:nvSpPr>
        <p:spPr>
          <a:xfrm>
            <a:off x="7975162" y="5227076"/>
            <a:ext cx="2286000" cy="274320"/>
          </a:xfrm>
          <a:prstGeom prst="rect">
            <a:avLst/>
          </a:prstGeom>
          <a:solidFill>
            <a:srgbClr val="4F8EF7"/>
          </a:solidFill>
          <a:ln w="12700">
            <a:solidFill>
              <a:srgbClr val="4F8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8314" y="5263652"/>
            <a:ext cx="2148840" cy="201168"/>
          </a:xfrm>
          <a:prstGeom prst="rect">
            <a:avLst/>
          </a:prstGeom>
          <a:noFill/>
        </p:spPr>
        <p:txBody>
          <a:bodyPr wrap="square">
            <a:spAutoFit/>
          </a:bodyPr>
          <a:lstStyle/>
          <a:p>
            <a:pPr algn="l"/>
            <a:r>
              <a:rPr sz="900" b="1" i="0">
                <a:solidFill>
                  <a:srgbClr val="FFFFFF"/>
                </a:solidFill>
                <a:latin typeface="Calibri"/>
              </a:rPr>
              <a:t>⭐ Family Budget Assistant</a:t>
            </a:r>
          </a:p>
        </p:txBody>
      </p:sp>
      <p:sp>
        <p:nvSpPr>
          <p:cNvPr id="14" name="Rectangle 13"/>
          <p:cNvSpPr/>
          <p:nvPr/>
        </p:nvSpPr>
        <p:spPr>
          <a:xfrm>
            <a:off x="2017202" y="5315955"/>
            <a:ext cx="1371600" cy="274320"/>
          </a:xfrm>
          <a:prstGeom prst="rect">
            <a:avLst/>
          </a:prstGeom>
          <a:solidFill>
            <a:srgbClr val="1A2235"/>
          </a:solidFill>
          <a:ln w="6350">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090354" y="5352531"/>
            <a:ext cx="2148840" cy="201168"/>
          </a:xfrm>
          <a:prstGeom prst="rect">
            <a:avLst/>
          </a:prstGeom>
          <a:noFill/>
        </p:spPr>
        <p:txBody>
          <a:bodyPr wrap="square">
            <a:spAutoFit/>
          </a:bodyPr>
          <a:lstStyle/>
          <a:p>
            <a:pPr algn="l"/>
            <a:r>
              <a:rPr sz="800" b="0" i="0">
                <a:solidFill>
                  <a:srgbClr val="94A3B8"/>
                </a:solidFill>
                <a:latin typeface="Calibri"/>
              </a:rPr>
              <a:t>Copilot</a:t>
            </a:r>
          </a:p>
        </p:txBody>
      </p:sp>
      <p:sp>
        <p:nvSpPr>
          <p:cNvPr id="16" name="Rectangle 15"/>
          <p:cNvSpPr/>
          <p:nvPr/>
        </p:nvSpPr>
        <p:spPr>
          <a:xfrm>
            <a:off x="1788050" y="5967740"/>
            <a:ext cx="1371600" cy="274320"/>
          </a:xfrm>
          <a:prstGeom prst="rect">
            <a:avLst/>
          </a:prstGeom>
          <a:solidFill>
            <a:srgbClr val="1A2235"/>
          </a:solidFill>
          <a:ln w="6350">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61202" y="6004316"/>
            <a:ext cx="2148840" cy="201168"/>
          </a:xfrm>
          <a:prstGeom prst="rect">
            <a:avLst/>
          </a:prstGeom>
          <a:noFill/>
        </p:spPr>
        <p:txBody>
          <a:bodyPr wrap="square">
            <a:spAutoFit/>
          </a:bodyPr>
          <a:lstStyle/>
          <a:p>
            <a:pPr algn="l"/>
            <a:r>
              <a:rPr sz="800" b="0" i="0">
                <a:solidFill>
                  <a:srgbClr val="94A3B8"/>
                </a:solidFill>
                <a:latin typeface="Calibri"/>
              </a:rPr>
              <a:t>YNAB</a:t>
            </a:r>
          </a:p>
        </p:txBody>
      </p:sp>
      <p:sp>
        <p:nvSpPr>
          <p:cNvPr id="18" name="Rectangle 17"/>
          <p:cNvSpPr/>
          <p:nvPr/>
        </p:nvSpPr>
        <p:spPr>
          <a:xfrm>
            <a:off x="6829400" y="5908487"/>
            <a:ext cx="1371600" cy="274320"/>
          </a:xfrm>
          <a:prstGeom prst="rect">
            <a:avLst/>
          </a:prstGeom>
          <a:solidFill>
            <a:srgbClr val="1A2235"/>
          </a:solidFill>
          <a:ln w="6350">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02552" y="5945063"/>
            <a:ext cx="2148840" cy="201168"/>
          </a:xfrm>
          <a:prstGeom prst="rect">
            <a:avLst/>
          </a:prstGeom>
          <a:noFill/>
        </p:spPr>
        <p:txBody>
          <a:bodyPr wrap="square">
            <a:spAutoFit/>
          </a:bodyPr>
          <a:lstStyle/>
          <a:p>
            <a:pPr algn="l"/>
            <a:r>
              <a:rPr sz="800" b="0" i="0">
                <a:solidFill>
                  <a:srgbClr val="94A3B8"/>
                </a:solidFill>
                <a:latin typeface="Calibri"/>
              </a:rPr>
              <a:t>Monarch</a:t>
            </a:r>
          </a:p>
        </p:txBody>
      </p:sp>
      <p:sp>
        <p:nvSpPr>
          <p:cNvPr id="20" name="Rectangle 19"/>
          <p:cNvSpPr/>
          <p:nvPr/>
        </p:nvSpPr>
        <p:spPr>
          <a:xfrm>
            <a:off x="5454487" y="6086246"/>
            <a:ext cx="1371600" cy="274320"/>
          </a:xfrm>
          <a:prstGeom prst="rect">
            <a:avLst/>
          </a:prstGeom>
          <a:solidFill>
            <a:srgbClr val="1A2235"/>
          </a:solidFill>
          <a:ln w="6350">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27639" y="6122822"/>
            <a:ext cx="2148840" cy="201168"/>
          </a:xfrm>
          <a:prstGeom prst="rect">
            <a:avLst/>
          </a:prstGeom>
          <a:noFill/>
        </p:spPr>
        <p:txBody>
          <a:bodyPr wrap="square">
            <a:spAutoFit/>
          </a:bodyPr>
          <a:lstStyle/>
          <a:p>
            <a:pPr algn="l"/>
            <a:r>
              <a:rPr sz="800" b="0" i="0">
                <a:solidFill>
                  <a:srgbClr val="94A3B8"/>
                </a:solidFill>
                <a:latin typeface="Calibri"/>
              </a:rPr>
              <a:t>Goodbudget</a:t>
            </a:r>
          </a:p>
        </p:txBody>
      </p:sp>
      <p:sp>
        <p:nvSpPr>
          <p:cNvPr id="22" name="TextBox 21"/>
          <p:cNvSpPr txBox="1"/>
          <p:nvPr/>
        </p:nvSpPr>
        <p:spPr>
          <a:xfrm>
            <a:off x="365760" y="6547104"/>
            <a:ext cx="11335725" cy="274320"/>
          </a:xfrm>
          <a:prstGeom prst="rect">
            <a:avLst/>
          </a:prstGeom>
          <a:noFill/>
        </p:spPr>
        <p:txBody>
          <a:bodyPr wrap="square">
            <a:spAutoFit/>
          </a:bodyPr>
          <a:lstStyle/>
          <a:p>
            <a:pPr algn="l"/>
            <a:r>
              <a:rPr sz="900" b="0" i="1">
                <a:solidFill>
                  <a:srgbClr val="4F8EF7"/>
                </a:solidFill>
                <a:latin typeface="Calibri"/>
              </a:rPr>
              <a:t>★ White space: only player combining household-native + high automation + privacy-safe file import.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347472"/>
            <a:ext cx="10970056" cy="256032"/>
          </a:xfrm>
          <a:prstGeom prst="rect">
            <a:avLst/>
          </a:prstGeom>
          <a:noFill/>
        </p:spPr>
        <p:txBody>
          <a:bodyPr wrap="square">
            <a:spAutoFit/>
          </a:bodyPr>
          <a:lstStyle/>
          <a:p>
            <a:pPr algn="l"/>
            <a:r>
              <a:rPr sz="900" b="1" i="0">
                <a:solidFill>
                  <a:srgbClr val="4F8EF7"/>
                </a:solidFill>
                <a:latin typeface="Calibri"/>
              </a:rPr>
              <a:t>☑ EXISTING DATA &amp; MODELS — NO TRAINING FROM SCRATCH</a:t>
            </a:r>
          </a:p>
        </p:txBody>
      </p:sp>
      <p:sp>
        <p:nvSpPr>
          <p:cNvPr id="3" name="TextBox 2"/>
          <p:cNvSpPr txBox="1"/>
          <p:nvPr/>
        </p:nvSpPr>
        <p:spPr>
          <a:xfrm>
            <a:off x="457200" y="603504"/>
            <a:ext cx="10970056" cy="548640"/>
          </a:xfrm>
          <a:prstGeom prst="rect">
            <a:avLst/>
          </a:prstGeom>
          <a:noFill/>
        </p:spPr>
        <p:txBody>
          <a:bodyPr wrap="square">
            <a:spAutoFit/>
          </a:bodyPr>
          <a:lstStyle/>
          <a:p>
            <a:pPr algn="l"/>
            <a:r>
              <a:rPr sz="2600" b="1" i="0">
                <a:solidFill>
                  <a:srgbClr val="FFFFFF"/>
                </a:solidFill>
                <a:latin typeface="Calibri"/>
              </a:rPr>
              <a:t>Leverage what exists; fine-tune only where ROI is clear</a:t>
            </a:r>
          </a:p>
        </p:txBody>
      </p:sp>
      <p:sp>
        <p:nvSpPr>
          <p:cNvPr id="4" name="Rectangle 3"/>
          <p:cNvSpPr/>
          <p:nvPr/>
        </p:nvSpPr>
        <p:spPr>
          <a:xfrm>
            <a:off x="457200" y="1572768"/>
            <a:ext cx="11335725" cy="100584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572768"/>
            <a:ext cx="64008" cy="1005840"/>
          </a:xfrm>
          <a:prstGeom prst="rect">
            <a:avLst/>
          </a:prstGeom>
          <a:solidFill>
            <a:srgbClr val="4F8E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45920"/>
            <a:ext cx="6094476" cy="274320"/>
          </a:xfrm>
          <a:prstGeom prst="rect">
            <a:avLst/>
          </a:prstGeom>
          <a:noFill/>
        </p:spPr>
        <p:txBody>
          <a:bodyPr wrap="square">
            <a:spAutoFit/>
          </a:bodyPr>
          <a:lstStyle/>
          <a:p>
            <a:pPr algn="l"/>
            <a:r>
              <a:rPr sz="1100" b="1" i="0">
                <a:solidFill>
                  <a:srgbClr val="4F8EF7"/>
                </a:solidFill>
                <a:latin typeface="Calibri"/>
              </a:rPr>
              <a:t>Layer 1 — Transaction Categorization</a:t>
            </a:r>
          </a:p>
        </p:txBody>
      </p:sp>
      <p:sp>
        <p:nvSpPr>
          <p:cNvPr id="7" name="TextBox 6"/>
          <p:cNvSpPr txBox="1"/>
          <p:nvPr/>
        </p:nvSpPr>
        <p:spPr>
          <a:xfrm>
            <a:off x="685800" y="1920240"/>
            <a:ext cx="6094476" cy="384048"/>
          </a:xfrm>
          <a:prstGeom prst="rect">
            <a:avLst/>
          </a:prstGeom>
          <a:noFill/>
        </p:spPr>
        <p:txBody>
          <a:bodyPr wrap="square">
            <a:spAutoFit/>
          </a:bodyPr>
          <a:lstStyle/>
          <a:p>
            <a:pPr algn="l"/>
            <a:r>
              <a:rPr sz="1000" b="0" i="0">
                <a:solidFill>
                  <a:srgbClr val="E2E8F0"/>
                </a:solidFill>
                <a:latin typeface="Calibri"/>
              </a:rPr>
              <a:t>Pre-trained DistilBERT on 68K US bank strings
(HuggingFace: us-bank-transaction-categories-v2 · 99.9% val accuracy)</a:t>
            </a:r>
          </a:p>
        </p:txBody>
      </p:sp>
      <p:sp>
        <p:nvSpPr>
          <p:cNvPr id="8" name="TextBox 7"/>
          <p:cNvSpPr txBox="1"/>
          <p:nvPr/>
        </p:nvSpPr>
        <p:spPr>
          <a:xfrm>
            <a:off x="685800" y="2304288"/>
            <a:ext cx="6094476" cy="237744"/>
          </a:xfrm>
          <a:prstGeom prst="rect">
            <a:avLst/>
          </a:prstGeom>
          <a:noFill/>
        </p:spPr>
        <p:txBody>
          <a:bodyPr wrap="square">
            <a:spAutoFit/>
          </a:bodyPr>
          <a:lstStyle/>
          <a:p>
            <a:pPr algn="l"/>
            <a:r>
              <a:rPr sz="900" b="0" i="0">
                <a:solidFill>
                  <a:srgbClr val="22C55E"/>
                </a:solidFill>
                <a:latin typeface="Calibri"/>
              </a:rPr>
              <a:t>📌 MVP: Rules engine first → fine-tuned classifier → review queue for &lt;0.85 confidence. No GPU required.</a:t>
            </a:r>
          </a:p>
        </p:txBody>
      </p:sp>
      <p:sp>
        <p:nvSpPr>
          <p:cNvPr id="9" name="Rectangle 8"/>
          <p:cNvSpPr/>
          <p:nvPr/>
        </p:nvSpPr>
        <p:spPr>
          <a:xfrm>
            <a:off x="457200" y="2715768"/>
            <a:ext cx="11335725" cy="100584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715768"/>
            <a:ext cx="64008" cy="10058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788920"/>
            <a:ext cx="6094476" cy="274320"/>
          </a:xfrm>
          <a:prstGeom prst="rect">
            <a:avLst/>
          </a:prstGeom>
          <a:noFill/>
        </p:spPr>
        <p:txBody>
          <a:bodyPr wrap="square">
            <a:spAutoFit/>
          </a:bodyPr>
          <a:lstStyle/>
          <a:p>
            <a:pPr algn="l"/>
            <a:r>
              <a:rPr sz="1100" b="1" i="0">
                <a:solidFill>
                  <a:srgbClr val="7C3AED"/>
                </a:solidFill>
                <a:latin typeface="Calibri"/>
              </a:rPr>
              <a:t>Layer 2 — AI Budget Q&amp;A (GPT-4o / Gemini)</a:t>
            </a:r>
          </a:p>
        </p:txBody>
      </p:sp>
      <p:sp>
        <p:nvSpPr>
          <p:cNvPr id="12" name="TextBox 11"/>
          <p:cNvSpPr txBox="1"/>
          <p:nvPr/>
        </p:nvSpPr>
        <p:spPr>
          <a:xfrm>
            <a:off x="685800" y="3063240"/>
            <a:ext cx="6094476" cy="384048"/>
          </a:xfrm>
          <a:prstGeom prst="rect">
            <a:avLst/>
          </a:prstGeom>
          <a:noFill/>
        </p:spPr>
        <p:txBody>
          <a:bodyPr wrap="square">
            <a:spAutoFit/>
          </a:bodyPr>
          <a:lstStyle/>
          <a:p>
            <a:pPr algn="l"/>
            <a:r>
              <a:rPr sz="1000" b="0" i="0">
                <a:solidFill>
                  <a:srgbClr val="E2E8F0"/>
                </a:solidFill>
                <a:latin typeface="Calibri"/>
              </a:rPr>
              <a:t>Foundation LLM + structured function calls:
get_budget_status · get_transactions · get_spending_summary · get_goal_progress</a:t>
            </a:r>
          </a:p>
        </p:txBody>
      </p:sp>
      <p:sp>
        <p:nvSpPr>
          <p:cNvPr id="13" name="TextBox 12"/>
          <p:cNvSpPr txBox="1"/>
          <p:nvPr/>
        </p:nvSpPr>
        <p:spPr>
          <a:xfrm>
            <a:off x="685800" y="3447288"/>
            <a:ext cx="6094476" cy="237744"/>
          </a:xfrm>
          <a:prstGeom prst="rect">
            <a:avLst/>
          </a:prstGeom>
          <a:noFill/>
        </p:spPr>
        <p:txBody>
          <a:bodyPr wrap="square">
            <a:spAutoFit/>
          </a:bodyPr>
          <a:lstStyle/>
          <a:p>
            <a:pPr algn="l"/>
            <a:r>
              <a:rPr sz="900" b="0" i="0">
                <a:solidFill>
                  <a:srgbClr val="22C55E"/>
                </a:solidFill>
                <a:latin typeface="Calibri"/>
              </a:rPr>
              <a:t>📌 No fine-tuning needed for MVP. Function-calling is our IP. ~$0.01–0.05/query vs. $0.50+ with raw CSV dumps.</a:t>
            </a:r>
          </a:p>
        </p:txBody>
      </p:sp>
      <p:sp>
        <p:nvSpPr>
          <p:cNvPr id="14" name="Rectangle 13"/>
          <p:cNvSpPr/>
          <p:nvPr/>
        </p:nvSpPr>
        <p:spPr>
          <a:xfrm>
            <a:off x="457200" y="3858768"/>
            <a:ext cx="11335725" cy="100584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3858768"/>
            <a:ext cx="64008" cy="100584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931920"/>
            <a:ext cx="6094476" cy="274320"/>
          </a:xfrm>
          <a:prstGeom prst="rect">
            <a:avLst/>
          </a:prstGeom>
          <a:noFill/>
        </p:spPr>
        <p:txBody>
          <a:bodyPr wrap="square">
            <a:spAutoFit/>
          </a:bodyPr>
          <a:lstStyle/>
          <a:p>
            <a:pPr algn="l"/>
            <a:r>
              <a:rPr sz="1100" b="1" i="0">
                <a:solidFill>
                  <a:srgbClr val="22C55E"/>
                </a:solidFill>
                <a:latin typeface="Calibri"/>
              </a:rPr>
              <a:t>Layer 3 — Budget Recommendation Engine</a:t>
            </a:r>
          </a:p>
        </p:txBody>
      </p:sp>
      <p:sp>
        <p:nvSpPr>
          <p:cNvPr id="17" name="TextBox 16"/>
          <p:cNvSpPr txBox="1"/>
          <p:nvPr/>
        </p:nvSpPr>
        <p:spPr>
          <a:xfrm>
            <a:off x="685800" y="4206240"/>
            <a:ext cx="6094476" cy="384048"/>
          </a:xfrm>
          <a:prstGeom prst="rect">
            <a:avLst/>
          </a:prstGeom>
          <a:noFill/>
        </p:spPr>
        <p:txBody>
          <a:bodyPr wrap="square">
            <a:spAutoFit/>
          </a:bodyPr>
          <a:lstStyle/>
          <a:p>
            <a:pPr algn="l"/>
            <a:r>
              <a:rPr sz="1000" b="0" i="0">
                <a:solidFill>
                  <a:srgbClr val="E2E8F0"/>
                </a:solidFill>
                <a:latin typeface="Calibri"/>
              </a:rPr>
              <a:t>Median/trimmed-mean per category from user's own 3–6 month history + 50/30/20 (Needs/Wants/Savings) framing.</a:t>
            </a:r>
          </a:p>
        </p:txBody>
      </p:sp>
      <p:sp>
        <p:nvSpPr>
          <p:cNvPr id="18" name="TextBox 17"/>
          <p:cNvSpPr txBox="1"/>
          <p:nvPr/>
        </p:nvSpPr>
        <p:spPr>
          <a:xfrm>
            <a:off x="685800" y="4590288"/>
            <a:ext cx="6094476" cy="237744"/>
          </a:xfrm>
          <a:prstGeom prst="rect">
            <a:avLst/>
          </a:prstGeom>
          <a:noFill/>
        </p:spPr>
        <p:txBody>
          <a:bodyPr wrap="square">
            <a:spAutoFit/>
          </a:bodyPr>
          <a:lstStyle/>
          <a:p>
            <a:pPr algn="l"/>
            <a:r>
              <a:rPr sz="900" b="0" i="0">
                <a:solidFill>
                  <a:srgbClr val="22C55E"/>
                </a:solidFill>
                <a:latin typeface="Calibri"/>
              </a:rPr>
              <a:t>📌 No external model needed. Statistically grounded, explainable, and zero incremental cost.</a:t>
            </a:r>
          </a:p>
        </p:txBody>
      </p:sp>
      <p:sp>
        <p:nvSpPr>
          <p:cNvPr id="19" name="Rectangle 18"/>
          <p:cNvSpPr/>
          <p:nvPr/>
        </p:nvSpPr>
        <p:spPr>
          <a:xfrm>
            <a:off x="457200" y="5001768"/>
            <a:ext cx="11335725" cy="100584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5001768"/>
            <a:ext cx="64008" cy="10058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074920"/>
            <a:ext cx="6094476" cy="274320"/>
          </a:xfrm>
          <a:prstGeom prst="rect">
            <a:avLst/>
          </a:prstGeom>
          <a:noFill/>
        </p:spPr>
        <p:txBody>
          <a:bodyPr wrap="square">
            <a:spAutoFit/>
          </a:bodyPr>
          <a:lstStyle/>
          <a:p>
            <a:pPr algn="l"/>
            <a:r>
              <a:rPr sz="1100" b="1" i="0">
                <a:solidFill>
                  <a:srgbClr val="F59E0B"/>
                </a:solidFill>
                <a:latin typeface="Calibri"/>
              </a:rPr>
              <a:t>Layer 4 — Bank File Parsing</a:t>
            </a:r>
          </a:p>
        </p:txBody>
      </p:sp>
      <p:sp>
        <p:nvSpPr>
          <p:cNvPr id="22" name="TextBox 21"/>
          <p:cNvSpPr txBox="1"/>
          <p:nvPr/>
        </p:nvSpPr>
        <p:spPr>
          <a:xfrm>
            <a:off x="685800" y="5349240"/>
            <a:ext cx="6094476" cy="384048"/>
          </a:xfrm>
          <a:prstGeom prst="rect">
            <a:avLst/>
          </a:prstGeom>
          <a:noFill/>
        </p:spPr>
        <p:txBody>
          <a:bodyPr wrap="square">
            <a:spAutoFit/>
          </a:bodyPr>
          <a:lstStyle/>
          <a:p>
            <a:pPr algn="l"/>
            <a:r>
              <a:rPr sz="1000" b="0" i="0">
                <a:solidFill>
                  <a:srgbClr val="E2E8F0"/>
                </a:solidFill>
                <a:latin typeface="Calibri"/>
              </a:rPr>
              <a:t>Open-source ofxparse / ofx-js for OFX/QFX. Rule-based column-mapper for CSV with saved institution templates.</a:t>
            </a:r>
          </a:p>
        </p:txBody>
      </p:sp>
      <p:sp>
        <p:nvSpPr>
          <p:cNvPr id="23" name="TextBox 22"/>
          <p:cNvSpPr txBox="1"/>
          <p:nvPr/>
        </p:nvSpPr>
        <p:spPr>
          <a:xfrm>
            <a:off x="685800" y="5733288"/>
            <a:ext cx="6094476" cy="237744"/>
          </a:xfrm>
          <a:prstGeom prst="rect">
            <a:avLst/>
          </a:prstGeom>
          <a:noFill/>
        </p:spPr>
        <p:txBody>
          <a:bodyPr wrap="square">
            <a:spAutoFit/>
          </a:bodyPr>
          <a:lstStyle/>
          <a:p>
            <a:pPr algn="l"/>
            <a:r>
              <a:rPr sz="900" b="0" i="0">
                <a:solidFill>
                  <a:srgbClr val="22C55E"/>
                </a:solidFill>
                <a:latin typeface="Calibri"/>
              </a:rPr>
              <a:t>📌 Top 10 US bank templates ship in MVP. Community-contributed templates expand coverage in Phase 2.</a:t>
            </a:r>
          </a:p>
        </p:txBody>
      </p:sp>
      <p:sp>
        <p:nvSpPr>
          <p:cNvPr id="24" name="Rectangle 23"/>
          <p:cNvSpPr/>
          <p:nvPr/>
        </p:nvSpPr>
        <p:spPr>
          <a:xfrm>
            <a:off x="457200" y="6236208"/>
            <a:ext cx="3639312" cy="45720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6236208"/>
            <a:ext cx="3639312" cy="201168"/>
          </a:xfrm>
          <a:prstGeom prst="rect">
            <a:avLst/>
          </a:prstGeom>
          <a:solidFill>
            <a:srgbClr val="202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6272784"/>
            <a:ext cx="3419856" cy="201168"/>
          </a:xfrm>
          <a:prstGeom prst="rect">
            <a:avLst/>
          </a:prstGeom>
          <a:noFill/>
        </p:spPr>
        <p:txBody>
          <a:bodyPr wrap="square">
            <a:spAutoFit/>
          </a:bodyPr>
          <a:lstStyle/>
          <a:p>
            <a:pPr algn="l"/>
            <a:r>
              <a:rPr sz="800" b="1" i="0">
                <a:solidFill>
                  <a:srgbClr val="4F8EF7"/>
                </a:solidFill>
                <a:latin typeface="Calibri"/>
              </a:rPr>
              <a:t>MVP — No Training from Scratch</a:t>
            </a:r>
          </a:p>
        </p:txBody>
      </p:sp>
      <p:sp>
        <p:nvSpPr>
          <p:cNvPr id="27" name="Rectangle 26"/>
          <p:cNvSpPr/>
          <p:nvPr/>
        </p:nvSpPr>
        <p:spPr>
          <a:xfrm>
            <a:off x="4270248" y="6236208"/>
            <a:ext cx="3639312" cy="45720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70248" y="6236208"/>
            <a:ext cx="3639312" cy="201168"/>
          </a:xfrm>
          <a:prstGeom prst="rect">
            <a:avLst/>
          </a:prstGeom>
          <a:solidFill>
            <a:srgbClr val="1A3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79976" y="6272784"/>
            <a:ext cx="3419856" cy="201168"/>
          </a:xfrm>
          <a:prstGeom prst="rect">
            <a:avLst/>
          </a:prstGeom>
          <a:noFill/>
        </p:spPr>
        <p:txBody>
          <a:bodyPr wrap="square">
            <a:spAutoFit/>
          </a:bodyPr>
          <a:lstStyle/>
          <a:p>
            <a:pPr algn="l"/>
            <a:r>
              <a:rPr sz="800" b="1" i="0">
                <a:solidFill>
                  <a:srgbClr val="22C55E"/>
                </a:solidFill>
                <a:latin typeface="Calibri"/>
              </a:rPr>
              <a:t>Phase 2 — Targeted Fine-Tuning</a:t>
            </a:r>
          </a:p>
        </p:txBody>
      </p:sp>
      <p:sp>
        <p:nvSpPr>
          <p:cNvPr id="30" name="Rectangle 29"/>
          <p:cNvSpPr/>
          <p:nvPr/>
        </p:nvSpPr>
        <p:spPr>
          <a:xfrm>
            <a:off x="8083296" y="6236208"/>
            <a:ext cx="3639312" cy="457200"/>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83296" y="6236208"/>
            <a:ext cx="3639312" cy="201168"/>
          </a:xfrm>
          <a:prstGeom prst="rect">
            <a:avLst/>
          </a:prstGeom>
          <a:solidFill>
            <a:srgbClr val="252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93024" y="6272784"/>
            <a:ext cx="3419856" cy="201168"/>
          </a:xfrm>
          <a:prstGeom prst="rect">
            <a:avLst/>
          </a:prstGeom>
          <a:noFill/>
        </p:spPr>
        <p:txBody>
          <a:bodyPr wrap="square">
            <a:spAutoFit/>
          </a:bodyPr>
          <a:lstStyle/>
          <a:p>
            <a:pPr algn="l"/>
            <a:r>
              <a:rPr sz="800" b="1" i="0">
                <a:solidFill>
                  <a:srgbClr val="7C3AED"/>
                </a:solidFill>
                <a:latin typeface="Calibri"/>
              </a:rPr>
              <a:t>Phase 3+ — Optional Expansion</a:t>
            </a:r>
          </a:p>
        </p:txBody>
      </p:sp>
      <p:sp>
        <p:nvSpPr>
          <p:cNvPr id="33" name="TextBox 32"/>
          <p:cNvSpPr txBox="1"/>
          <p:nvPr/>
        </p:nvSpPr>
        <p:spPr>
          <a:xfrm>
            <a:off x="457200" y="6492240"/>
            <a:ext cx="11335725" cy="274320"/>
          </a:xfrm>
          <a:prstGeom prst="rect">
            <a:avLst/>
          </a:prstGeom>
          <a:noFill/>
        </p:spPr>
        <p:txBody>
          <a:bodyPr wrap="square">
            <a:spAutoFit/>
          </a:bodyPr>
          <a:lstStyle/>
          <a:p>
            <a:pPr algn="l"/>
            <a:r>
              <a:rPr sz="900" b="0" i="1">
                <a:solidFill>
                  <a:srgbClr val="94A3B8"/>
                </a:solidFill>
                <a:latin typeface="Calibri"/>
              </a:rPr>
              <a:t>Privacy rule: never train on raw user data without opt-in. Synthetic HuggingFace datasets avoid PII entirely for initial models. User corrections → anonymized aggregate patterns only.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88952" cy="6858000"/>
          </a:xfrm>
          <a:prstGeom prst="rect">
            <a:avLst/>
          </a:prstGeom>
          <a:solidFill>
            <a:srgbClr val="0D1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37276" y="1005840"/>
            <a:ext cx="914400" cy="914400"/>
          </a:xfrm>
          <a:prstGeom prst="rect">
            <a:avLst/>
          </a:prstGeom>
          <a:noFill/>
        </p:spPr>
        <p:txBody>
          <a:bodyPr wrap="square">
            <a:spAutoFit/>
          </a:bodyPr>
          <a:lstStyle/>
          <a:p>
            <a:pPr algn="ctr"/>
            <a:r>
              <a:rPr sz="4000" b="0" i="0">
                <a:solidFill>
                  <a:srgbClr val="E2E8F0"/>
                </a:solidFill>
                <a:latin typeface="Calibri"/>
              </a:rPr>
              <a:t>🏠</a:t>
            </a:r>
          </a:p>
        </p:txBody>
      </p:sp>
      <p:sp>
        <p:nvSpPr>
          <p:cNvPr id="5" name="TextBox 4"/>
          <p:cNvSpPr txBox="1"/>
          <p:nvPr/>
        </p:nvSpPr>
        <p:spPr>
          <a:xfrm>
            <a:off x="1979676" y="2011680"/>
            <a:ext cx="8229600" cy="594360"/>
          </a:xfrm>
          <a:prstGeom prst="rect">
            <a:avLst/>
          </a:prstGeom>
          <a:noFill/>
        </p:spPr>
        <p:txBody>
          <a:bodyPr wrap="square">
            <a:spAutoFit/>
          </a:bodyPr>
          <a:lstStyle/>
          <a:p>
            <a:pPr algn="ctr"/>
            <a:r>
              <a:rPr sz="3400" b="1" i="0">
                <a:solidFill>
                  <a:srgbClr val="FFFFFF"/>
                </a:solidFill>
                <a:latin typeface="Calibri"/>
              </a:rPr>
              <a:t>Family Budget Assistant</a:t>
            </a:r>
          </a:p>
        </p:txBody>
      </p:sp>
      <p:sp>
        <p:nvSpPr>
          <p:cNvPr id="6" name="TextBox 5"/>
          <p:cNvSpPr txBox="1"/>
          <p:nvPr/>
        </p:nvSpPr>
        <p:spPr>
          <a:xfrm>
            <a:off x="1979676" y="2606040"/>
            <a:ext cx="8229600" cy="347472"/>
          </a:xfrm>
          <a:prstGeom prst="rect">
            <a:avLst/>
          </a:prstGeom>
          <a:noFill/>
        </p:spPr>
        <p:txBody>
          <a:bodyPr wrap="square">
            <a:spAutoFit/>
          </a:bodyPr>
          <a:lstStyle/>
          <a:p>
            <a:pPr algn="ctr"/>
            <a:r>
              <a:rPr sz="1300" b="0" i="0">
                <a:solidFill>
                  <a:srgbClr val="94A3B8"/>
                </a:solidFill>
                <a:latin typeface="Calibri"/>
              </a:rPr>
              <a:t>Family-native  ·  Privacy-safe  ·  AI-powered  ·  No bank credentials ever</a:t>
            </a:r>
          </a:p>
        </p:txBody>
      </p:sp>
      <p:sp>
        <p:nvSpPr>
          <p:cNvPr id="7" name="Rectangle 6"/>
          <p:cNvSpPr/>
          <p:nvPr/>
        </p:nvSpPr>
        <p:spPr>
          <a:xfrm>
            <a:off x="502920" y="3063240"/>
            <a:ext cx="3429000" cy="1170432"/>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3063240"/>
            <a:ext cx="3429000" cy="45720"/>
          </a:xfrm>
          <a:prstGeom prst="rect">
            <a:avLst/>
          </a:prstGeom>
          <a:solidFill>
            <a:srgbClr val="4F8E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3172968"/>
            <a:ext cx="457200" cy="347472"/>
          </a:xfrm>
          <a:prstGeom prst="rect">
            <a:avLst/>
          </a:prstGeom>
          <a:noFill/>
        </p:spPr>
        <p:txBody>
          <a:bodyPr wrap="square">
            <a:spAutoFit/>
          </a:bodyPr>
          <a:lstStyle/>
          <a:p>
            <a:pPr algn="l"/>
            <a:r>
              <a:rPr sz="1600" b="0" i="0">
                <a:solidFill>
                  <a:srgbClr val="E2E8F0"/>
                </a:solidFill>
                <a:latin typeface="Calibri"/>
              </a:rPr>
              <a:t>👥</a:t>
            </a:r>
          </a:p>
        </p:txBody>
      </p:sp>
      <p:sp>
        <p:nvSpPr>
          <p:cNvPr id="10" name="TextBox 9"/>
          <p:cNvSpPr txBox="1"/>
          <p:nvPr/>
        </p:nvSpPr>
        <p:spPr>
          <a:xfrm>
            <a:off x="1069848" y="3172968"/>
            <a:ext cx="2743200" cy="292608"/>
          </a:xfrm>
          <a:prstGeom prst="rect">
            <a:avLst/>
          </a:prstGeom>
          <a:noFill/>
        </p:spPr>
        <p:txBody>
          <a:bodyPr wrap="square">
            <a:spAutoFit/>
          </a:bodyPr>
          <a:lstStyle/>
          <a:p>
            <a:pPr algn="l"/>
            <a:r>
              <a:rPr sz="1100" b="1" i="0">
                <a:solidFill>
                  <a:srgbClr val="4F8EF7"/>
                </a:solidFill>
                <a:latin typeface="Calibri"/>
              </a:rPr>
              <a:t>Target Customer</a:t>
            </a:r>
          </a:p>
        </p:txBody>
      </p:sp>
      <p:sp>
        <p:nvSpPr>
          <p:cNvPr id="11" name="TextBox 10"/>
          <p:cNvSpPr txBox="1"/>
          <p:nvPr/>
        </p:nvSpPr>
        <p:spPr>
          <a:xfrm>
            <a:off x="612648" y="3520440"/>
            <a:ext cx="3246120" cy="658368"/>
          </a:xfrm>
          <a:prstGeom prst="rect">
            <a:avLst/>
          </a:prstGeom>
          <a:noFill/>
        </p:spPr>
        <p:txBody>
          <a:bodyPr wrap="square">
            <a:spAutoFit/>
          </a:bodyPr>
          <a:lstStyle/>
          <a:p>
            <a:pPr algn="l"/>
            <a:r>
              <a:rPr sz="900" b="0" i="0">
                <a:solidFill>
                  <a:srgbClr val="94A3B8"/>
                </a:solidFill>
                <a:latin typeface="Calibri"/>
              </a:rPr>
              <a:t>Household CFO + partner;
3–8 accounts; privacy-conscious;
already downloads CSVs</a:t>
            </a:r>
          </a:p>
        </p:txBody>
      </p:sp>
      <p:sp>
        <p:nvSpPr>
          <p:cNvPr id="12" name="Rectangle 11"/>
          <p:cNvSpPr/>
          <p:nvPr/>
        </p:nvSpPr>
        <p:spPr>
          <a:xfrm>
            <a:off x="4087368" y="3063240"/>
            <a:ext cx="3429000" cy="1170432"/>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087368" y="3063240"/>
            <a:ext cx="3429000" cy="457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97096" y="3172968"/>
            <a:ext cx="457200" cy="347472"/>
          </a:xfrm>
          <a:prstGeom prst="rect">
            <a:avLst/>
          </a:prstGeom>
          <a:noFill/>
        </p:spPr>
        <p:txBody>
          <a:bodyPr wrap="square">
            <a:spAutoFit/>
          </a:bodyPr>
          <a:lstStyle/>
          <a:p>
            <a:pPr algn="l"/>
            <a:r>
              <a:rPr sz="1600" b="0" i="0">
                <a:solidFill>
                  <a:srgbClr val="E2E8F0"/>
                </a:solidFill>
                <a:latin typeface="Calibri"/>
              </a:rPr>
              <a:t>😣</a:t>
            </a:r>
          </a:p>
        </p:txBody>
      </p:sp>
      <p:sp>
        <p:nvSpPr>
          <p:cNvPr id="15" name="TextBox 14"/>
          <p:cNvSpPr txBox="1"/>
          <p:nvPr/>
        </p:nvSpPr>
        <p:spPr>
          <a:xfrm>
            <a:off x="4654296" y="3172968"/>
            <a:ext cx="2743200" cy="292608"/>
          </a:xfrm>
          <a:prstGeom prst="rect">
            <a:avLst/>
          </a:prstGeom>
          <a:noFill/>
        </p:spPr>
        <p:txBody>
          <a:bodyPr wrap="square">
            <a:spAutoFit/>
          </a:bodyPr>
          <a:lstStyle/>
          <a:p>
            <a:pPr algn="l"/>
            <a:r>
              <a:rPr sz="1100" b="1" i="0">
                <a:solidFill>
                  <a:srgbClr val="EF4444"/>
                </a:solidFill>
                <a:latin typeface="Calibri"/>
              </a:rPr>
              <a:t>Pain Points</a:t>
            </a:r>
          </a:p>
        </p:txBody>
      </p:sp>
      <p:sp>
        <p:nvSpPr>
          <p:cNvPr id="16" name="TextBox 15"/>
          <p:cNvSpPr txBox="1"/>
          <p:nvPr/>
        </p:nvSpPr>
        <p:spPr>
          <a:xfrm>
            <a:off x="4197096" y="3520440"/>
            <a:ext cx="3246120" cy="658368"/>
          </a:xfrm>
          <a:prstGeom prst="rect">
            <a:avLst/>
          </a:prstGeom>
          <a:noFill/>
        </p:spPr>
        <p:txBody>
          <a:bodyPr wrap="square">
            <a:spAutoFit/>
          </a:bodyPr>
          <a:lstStyle/>
          <a:p>
            <a:pPr algn="l"/>
            <a:r>
              <a:rPr sz="900" b="0" i="0">
                <a:solidFill>
                  <a:srgbClr val="94A3B8"/>
                </a:solidFill>
                <a:latin typeface="Calibri"/>
              </a:rPr>
              <a:t>8 pain points; 30–40% bank-link drop-off;
2 hrs/month manual overhead;
no conversational access</a:t>
            </a:r>
          </a:p>
        </p:txBody>
      </p:sp>
      <p:sp>
        <p:nvSpPr>
          <p:cNvPr id="17" name="Rectangle 16"/>
          <p:cNvSpPr/>
          <p:nvPr/>
        </p:nvSpPr>
        <p:spPr>
          <a:xfrm>
            <a:off x="7671816" y="3063240"/>
            <a:ext cx="3429000" cy="1170432"/>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71816" y="3063240"/>
            <a:ext cx="3429000" cy="4572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81544" y="3172968"/>
            <a:ext cx="457200" cy="347472"/>
          </a:xfrm>
          <a:prstGeom prst="rect">
            <a:avLst/>
          </a:prstGeom>
          <a:noFill/>
        </p:spPr>
        <p:txBody>
          <a:bodyPr wrap="square">
            <a:spAutoFit/>
          </a:bodyPr>
          <a:lstStyle/>
          <a:p>
            <a:pPr algn="l"/>
            <a:r>
              <a:rPr sz="1600" b="0" i="0">
                <a:solidFill>
                  <a:srgbClr val="E2E8F0"/>
                </a:solidFill>
                <a:latin typeface="Calibri"/>
              </a:rPr>
              <a:t>🛠</a:t>
            </a:r>
          </a:p>
        </p:txBody>
      </p:sp>
      <p:sp>
        <p:nvSpPr>
          <p:cNvPr id="20" name="TextBox 19"/>
          <p:cNvSpPr txBox="1"/>
          <p:nvPr/>
        </p:nvSpPr>
        <p:spPr>
          <a:xfrm>
            <a:off x="8238744" y="3172968"/>
            <a:ext cx="2743200" cy="292608"/>
          </a:xfrm>
          <a:prstGeom prst="rect">
            <a:avLst/>
          </a:prstGeom>
          <a:noFill/>
        </p:spPr>
        <p:txBody>
          <a:bodyPr wrap="square">
            <a:spAutoFit/>
          </a:bodyPr>
          <a:lstStyle/>
          <a:p>
            <a:pPr algn="l"/>
            <a:r>
              <a:rPr sz="1100" b="1" i="0">
                <a:solidFill>
                  <a:srgbClr val="22C55E"/>
                </a:solidFill>
                <a:latin typeface="Calibri"/>
              </a:rPr>
              <a:t>Solution</a:t>
            </a:r>
          </a:p>
        </p:txBody>
      </p:sp>
      <p:sp>
        <p:nvSpPr>
          <p:cNvPr id="21" name="TextBox 20"/>
          <p:cNvSpPr txBox="1"/>
          <p:nvPr/>
        </p:nvSpPr>
        <p:spPr>
          <a:xfrm>
            <a:off x="7781544" y="3520440"/>
            <a:ext cx="3246120" cy="658368"/>
          </a:xfrm>
          <a:prstGeom prst="rect">
            <a:avLst/>
          </a:prstGeom>
          <a:noFill/>
        </p:spPr>
        <p:txBody>
          <a:bodyPr wrap="square">
            <a:spAutoFit/>
          </a:bodyPr>
          <a:lstStyle/>
          <a:p>
            <a:pPr algn="l"/>
            <a:r>
              <a:rPr sz="900" b="0" i="0">
                <a:solidFill>
                  <a:srgbClr val="94A3B8"/>
                </a:solidFill>
                <a:latin typeface="Calibri"/>
              </a:rPr>
              <a:t>File import → unified ledger →
budget wizard → AI Q&amp;A;
&lt;30 min to first dashboard</a:t>
            </a:r>
          </a:p>
        </p:txBody>
      </p:sp>
      <p:sp>
        <p:nvSpPr>
          <p:cNvPr id="22" name="Rectangle 21"/>
          <p:cNvSpPr/>
          <p:nvPr/>
        </p:nvSpPr>
        <p:spPr>
          <a:xfrm>
            <a:off x="502920" y="4361688"/>
            <a:ext cx="3429000" cy="1170432"/>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361688"/>
            <a:ext cx="3429000" cy="45720"/>
          </a:xfrm>
          <a:prstGeom prst="rect">
            <a:avLst/>
          </a:prstGeom>
          <a:solidFill>
            <a:srgbClr val="4F8E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2648" y="4471416"/>
            <a:ext cx="457200" cy="347472"/>
          </a:xfrm>
          <a:prstGeom prst="rect">
            <a:avLst/>
          </a:prstGeom>
          <a:noFill/>
        </p:spPr>
        <p:txBody>
          <a:bodyPr wrap="square">
            <a:spAutoFit/>
          </a:bodyPr>
          <a:lstStyle/>
          <a:p>
            <a:pPr algn="l"/>
            <a:r>
              <a:rPr sz="1600" b="0" i="0">
                <a:solidFill>
                  <a:srgbClr val="E2E8F0"/>
                </a:solidFill>
                <a:latin typeface="Calibri"/>
              </a:rPr>
              <a:t>⚡</a:t>
            </a:r>
          </a:p>
        </p:txBody>
      </p:sp>
      <p:sp>
        <p:nvSpPr>
          <p:cNvPr id="25" name="TextBox 24"/>
          <p:cNvSpPr txBox="1"/>
          <p:nvPr/>
        </p:nvSpPr>
        <p:spPr>
          <a:xfrm>
            <a:off x="1069848" y="4471416"/>
            <a:ext cx="2743200" cy="292608"/>
          </a:xfrm>
          <a:prstGeom prst="rect">
            <a:avLst/>
          </a:prstGeom>
          <a:noFill/>
        </p:spPr>
        <p:txBody>
          <a:bodyPr wrap="square">
            <a:spAutoFit/>
          </a:bodyPr>
          <a:lstStyle/>
          <a:p>
            <a:pPr algn="l"/>
            <a:r>
              <a:rPr sz="1100" b="1" i="0">
                <a:solidFill>
                  <a:srgbClr val="4F8EF7"/>
                </a:solidFill>
                <a:latin typeface="Calibri"/>
              </a:rPr>
              <a:t>Key Features</a:t>
            </a:r>
          </a:p>
        </p:txBody>
      </p:sp>
      <p:sp>
        <p:nvSpPr>
          <p:cNvPr id="26" name="TextBox 25"/>
          <p:cNvSpPr txBox="1"/>
          <p:nvPr/>
        </p:nvSpPr>
        <p:spPr>
          <a:xfrm>
            <a:off x="612648" y="4818888"/>
            <a:ext cx="3246120" cy="658368"/>
          </a:xfrm>
          <a:prstGeom prst="rect">
            <a:avLst/>
          </a:prstGeom>
          <a:noFill/>
        </p:spPr>
        <p:txBody>
          <a:bodyPr wrap="square">
            <a:spAutoFit/>
          </a:bodyPr>
          <a:lstStyle/>
          <a:p>
            <a:pPr algn="l"/>
            <a:r>
              <a:rPr sz="900" b="0" i="0">
                <a:solidFill>
                  <a:srgbClr val="94A3B8"/>
                </a:solidFill>
                <a:latin typeface="Calibri"/>
              </a:rPr>
              <a:t>8 MVP feature areas; GPT-4o Q&amp;A;
freemium model; household roles;
mid-month pacing alerts</a:t>
            </a:r>
          </a:p>
        </p:txBody>
      </p:sp>
      <p:sp>
        <p:nvSpPr>
          <p:cNvPr id="27" name="Rectangle 26"/>
          <p:cNvSpPr/>
          <p:nvPr/>
        </p:nvSpPr>
        <p:spPr>
          <a:xfrm>
            <a:off x="4087368" y="4361688"/>
            <a:ext cx="3429000" cy="1170432"/>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087368" y="4361688"/>
            <a:ext cx="34290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97096" y="4471416"/>
            <a:ext cx="457200" cy="347472"/>
          </a:xfrm>
          <a:prstGeom prst="rect">
            <a:avLst/>
          </a:prstGeom>
          <a:noFill/>
        </p:spPr>
        <p:txBody>
          <a:bodyPr wrap="square">
            <a:spAutoFit/>
          </a:bodyPr>
          <a:lstStyle/>
          <a:p>
            <a:pPr algn="l"/>
            <a:r>
              <a:rPr sz="1600" b="0" i="0">
                <a:solidFill>
                  <a:srgbClr val="E2E8F0"/>
                </a:solidFill>
                <a:latin typeface="Calibri"/>
              </a:rPr>
              <a:t>🏆</a:t>
            </a:r>
          </a:p>
        </p:txBody>
      </p:sp>
      <p:sp>
        <p:nvSpPr>
          <p:cNvPr id="30" name="TextBox 29"/>
          <p:cNvSpPr txBox="1"/>
          <p:nvPr/>
        </p:nvSpPr>
        <p:spPr>
          <a:xfrm>
            <a:off x="4654296" y="4471416"/>
            <a:ext cx="2743200" cy="292608"/>
          </a:xfrm>
          <a:prstGeom prst="rect">
            <a:avLst/>
          </a:prstGeom>
          <a:noFill/>
        </p:spPr>
        <p:txBody>
          <a:bodyPr wrap="square">
            <a:spAutoFit/>
          </a:bodyPr>
          <a:lstStyle/>
          <a:p>
            <a:pPr algn="l"/>
            <a:r>
              <a:rPr sz="1100" b="1" i="0">
                <a:solidFill>
                  <a:srgbClr val="F59E0B"/>
                </a:solidFill>
                <a:latin typeface="Calibri"/>
              </a:rPr>
              <a:t>Competitive Moat</a:t>
            </a:r>
          </a:p>
        </p:txBody>
      </p:sp>
      <p:sp>
        <p:nvSpPr>
          <p:cNvPr id="31" name="TextBox 30"/>
          <p:cNvSpPr txBox="1"/>
          <p:nvPr/>
        </p:nvSpPr>
        <p:spPr>
          <a:xfrm>
            <a:off x="4197096" y="4818888"/>
            <a:ext cx="3246120" cy="658368"/>
          </a:xfrm>
          <a:prstGeom prst="rect">
            <a:avLst/>
          </a:prstGeom>
          <a:noFill/>
        </p:spPr>
        <p:txBody>
          <a:bodyPr wrap="square">
            <a:spAutoFit/>
          </a:bodyPr>
          <a:lstStyle/>
          <a:p>
            <a:pPr algn="l"/>
            <a:r>
              <a:rPr sz="900" b="0" i="0">
                <a:solidFill>
                  <a:srgbClr val="94A3B8"/>
                </a:solidFill>
                <a:latin typeface="Calibri"/>
              </a:rPr>
              <a:t>Only player with all three pillars:
family-native + file-import-first
+ grounded AI Q&amp;A</a:t>
            </a:r>
          </a:p>
        </p:txBody>
      </p:sp>
      <p:sp>
        <p:nvSpPr>
          <p:cNvPr id="32" name="Rectangle 31"/>
          <p:cNvSpPr/>
          <p:nvPr/>
        </p:nvSpPr>
        <p:spPr>
          <a:xfrm>
            <a:off x="7671816" y="4361688"/>
            <a:ext cx="3429000" cy="1170432"/>
          </a:xfrm>
          <a:prstGeom prst="rect">
            <a:avLst/>
          </a:prstGeom>
          <a:solidFill>
            <a:srgbClr val="1A2235"/>
          </a:solidFill>
          <a:ln w="9525">
            <a:solidFill>
              <a:srgbClr val="2A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671816" y="4361688"/>
            <a:ext cx="3429000" cy="457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81544" y="4471416"/>
            <a:ext cx="457200" cy="347472"/>
          </a:xfrm>
          <a:prstGeom prst="rect">
            <a:avLst/>
          </a:prstGeom>
          <a:noFill/>
        </p:spPr>
        <p:txBody>
          <a:bodyPr wrap="square">
            <a:spAutoFit/>
          </a:bodyPr>
          <a:lstStyle/>
          <a:p>
            <a:pPr algn="l"/>
            <a:r>
              <a:rPr sz="1600" b="0" i="0">
                <a:solidFill>
                  <a:srgbClr val="E2E8F0"/>
                </a:solidFill>
                <a:latin typeface="Calibri"/>
              </a:rPr>
              <a:t>🤖</a:t>
            </a:r>
          </a:p>
        </p:txBody>
      </p:sp>
      <p:sp>
        <p:nvSpPr>
          <p:cNvPr id="35" name="TextBox 34"/>
          <p:cNvSpPr txBox="1"/>
          <p:nvPr/>
        </p:nvSpPr>
        <p:spPr>
          <a:xfrm>
            <a:off x="8238744" y="4471416"/>
            <a:ext cx="2743200" cy="292608"/>
          </a:xfrm>
          <a:prstGeom prst="rect">
            <a:avLst/>
          </a:prstGeom>
          <a:noFill/>
        </p:spPr>
        <p:txBody>
          <a:bodyPr wrap="square">
            <a:spAutoFit/>
          </a:bodyPr>
          <a:lstStyle/>
          <a:p>
            <a:pPr algn="l"/>
            <a:r>
              <a:rPr sz="1100" b="1" i="0">
                <a:solidFill>
                  <a:srgbClr val="7C3AED"/>
                </a:solidFill>
                <a:latin typeface="Calibri"/>
              </a:rPr>
              <a:t>AI &amp; Data Strategy</a:t>
            </a:r>
          </a:p>
        </p:txBody>
      </p:sp>
      <p:sp>
        <p:nvSpPr>
          <p:cNvPr id="36" name="TextBox 35"/>
          <p:cNvSpPr txBox="1"/>
          <p:nvPr/>
        </p:nvSpPr>
        <p:spPr>
          <a:xfrm>
            <a:off x="7781544" y="4818888"/>
            <a:ext cx="3246120" cy="658368"/>
          </a:xfrm>
          <a:prstGeom prst="rect">
            <a:avLst/>
          </a:prstGeom>
          <a:noFill/>
        </p:spPr>
        <p:txBody>
          <a:bodyPr wrap="square">
            <a:spAutoFit/>
          </a:bodyPr>
          <a:lstStyle/>
          <a:p>
            <a:pPr algn="l"/>
            <a:r>
              <a:rPr sz="900" b="0" i="0">
                <a:solidFill>
                  <a:srgbClr val="94A3B8"/>
                </a:solidFill>
                <a:latin typeface="Calibri"/>
              </a:rPr>
              <a:t>No training from scratch;
pre-trained DistilBERT + GPT-4o
function calling = our IP</a:t>
            </a:r>
          </a:p>
        </p:txBody>
      </p:sp>
      <p:sp>
        <p:nvSpPr>
          <p:cNvPr id="37" name="TextBox 36"/>
          <p:cNvSpPr txBox="1"/>
          <p:nvPr/>
        </p:nvSpPr>
        <p:spPr>
          <a:xfrm>
            <a:off x="0" y="6492240"/>
            <a:ext cx="12188952" cy="292608"/>
          </a:xfrm>
          <a:prstGeom prst="rect">
            <a:avLst/>
          </a:prstGeom>
          <a:noFill/>
        </p:spPr>
        <p:txBody>
          <a:bodyPr wrap="square">
            <a:spAutoFit/>
          </a:bodyPr>
          <a:lstStyle/>
          <a:p>
            <a:pPr algn="ctr"/>
            <a:r>
              <a:rPr sz="1000" b="0" i="0">
                <a:solidFill>
                  <a:srgbClr val="2A3450"/>
                </a:solidFill>
                <a:latin typeface="Calibri"/>
              </a:rPr>
              <a:t>saudamini@gmail.com  ·  Family Budget Assistant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