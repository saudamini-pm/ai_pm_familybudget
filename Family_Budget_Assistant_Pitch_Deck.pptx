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60"/>
    <p:restoredTop sz="68450"/>
  </p:normalViewPr>
  <p:slideViewPr>
    <p:cSldViewPr snapToGrid="0" snapToObjects="1">
      <p:cViewPr>
        <p:scale>
          <a:sx n="84" d="100"/>
          <a:sy n="84" d="100"/>
        </p:scale>
        <p:origin x="208"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446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TITLE</a:t>
            </a:r>
          </a:p>
          <a:p>
            <a:endParaRPr/>
          </a:p>
          <a:p>
            <a:r>
              <a:t>Opening hook: "Mint shut down in January 2024 and overnight displaced over 20 million users. They were the free, trusted, household budgeting tool for a decade — and nothing has replaced them. That is the gap we are building into."</a:t>
            </a:r>
          </a:p>
          <a:p>
            <a:endParaRPr/>
          </a:p>
          <a:p>
            <a:r>
              <a:t>Key points to land:</a:t>
            </a:r>
          </a:p>
          <a:p>
            <a:r>
              <a:t>• We are not a Mint clone. We are purpose-built for households — couples, families — not individuals.</a:t>
            </a:r>
          </a:p>
          <a:p>
            <a:r>
              <a:t>• Privacy is a first-class feature, not a footnote. No bank credentials. Ever.</a:t>
            </a:r>
          </a:p>
          <a:p>
            <a:r>
              <a:t>• The AI assistant doesn't just chart your data — it answers questions in plain English from your actual numbers.</a:t>
            </a:r>
          </a:p>
          <a:p>
            <a:endParaRPr/>
          </a:p>
          <a:p>
            <a:r>
              <a:t>Pause on the numbers in the metrics bar:</a:t>
            </a:r>
          </a:p>
          <a:p>
            <a:r>
              <a:t>• $1.5–2.5M seed: enough to reach 10K MAU and prove premium conversion before Series A.</a:t>
            </a:r>
          </a:p>
          <a:p>
            <a:r>
              <a:t>• 45M TAM: dual-income US households — our real addressable universe before even looking internationally.</a:t>
            </a:r>
          </a:p>
          <a:p>
            <a:r>
              <a:t>• 20M+ Mint refugees: warm demand, no cold start problem.</a:t>
            </a:r>
          </a:p>
          <a:p>
            <a:r>
              <a:t>• $8–15/mo ARPU: benchmark against Monarch ($99/yr) and YNAB ($109/yr). We enter lower and earn trust first.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IDEA OVERVIEW</a:t>
            </a:r>
          </a:p>
          <a:p>
            <a:endParaRPr/>
          </a:p>
          <a:p>
            <a:r>
              <a:t>The insight: modern households don't have a money problem — they have a fragmentation problem. Money sits across 3–8 accounts at multiple institutions. Every tool on the market was built for one person, with one bank, linked via Plaid. That's not how families actually live.</a:t>
            </a:r>
          </a:p>
          <a:p>
            <a:endParaRPr/>
          </a:p>
          <a:p>
            <a:r>
              <a:t>Walk the three pillars slowly:</a:t>
            </a:r>
          </a:p>
          <a:p>
            <a:r>
              <a:t>• FAMILY-NATIVE: not "sharing a login" — real household roles. Owner, Editor, Viewer. Per-member spending attribution. Shared savings goals. Built this way from day one, not retrofitted.</a:t>
            </a:r>
          </a:p>
          <a:p>
            <a:r>
              <a:t>• PRIVACY-SAFE: this is the trust moat. Users download their own bank statements and upload the files. We never store credentials, we never talk to Plaid, and we delete the file after parsing. For a privacy-conscious audience, this is the first thing they ask about.</a:t>
            </a:r>
          </a:p>
          <a:p>
            <a:r>
              <a:t>• GROUNDED AI Q&amp;A: the key word is "grounded". The assistant calls structured tool functions over your real database — get_budget_status, get_transactions. It cannot invent transactions because it never sees raw data. This is how we prevent hallucination AND keep costs at $0.01–0.05 per query instead of $0.50+.</a:t>
            </a:r>
          </a:p>
          <a:p>
            <a:endParaRPr/>
          </a:p>
          <a:p>
            <a:r>
              <a:t>Why Now — hit each signal:</a:t>
            </a:r>
          </a:p>
          <a:p>
            <a:r>
              <a:t>• Mint shutdown: demand exists and is unserved.</a:t>
            </a:r>
          </a:p>
          <a:p>
            <a:r>
              <a:t>• Privacy backlash: post-Plaid-breach sentiment is real. Our ICP specifically avoids bank API tools.</a:t>
            </a:r>
          </a:p>
          <a:p>
            <a:r>
              <a:t>• LLM maturity: 18 months ago this product wasn't possible at MVP cost. Now it is.</a:t>
            </a:r>
          </a:p>
          <a:p>
            <a:r>
              <a:t>• Subscription proof: the market has already trained users to pay for this category.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3 — TARGET CUSTOMER</a:t>
            </a:r>
          </a:p>
          <a:p>
            <a:endParaRPr dirty="0"/>
          </a:p>
          <a:p>
            <a:r>
              <a:rPr dirty="0"/>
              <a:t>Primary persona: "Morgan, 38."</a:t>
            </a:r>
          </a:p>
          <a:p>
            <a:r>
              <a:rPr dirty="0"/>
              <a:t>• She is the household CFO — manages every account, does all the financial admin.</a:t>
            </a:r>
          </a:p>
          <a:p>
            <a:r>
              <a:rPr dirty="0"/>
              <a:t>• She already downloads her bank statements every month and pastes them into a spreadsheet. We are not changing her </a:t>
            </a:r>
            <a:r>
              <a:rPr dirty="0" err="1"/>
              <a:t>behaviour</a:t>
            </a:r>
            <a:r>
              <a:rPr dirty="0"/>
              <a:t> — we are making it 6x faster and 10x more useful.</a:t>
            </a:r>
          </a:p>
          <a:p>
            <a:r>
              <a:rPr dirty="0"/>
              <a:t>• She is privacy-conscious. She has seen the news about data breaches. She would never link her bank login to a third-party app.</a:t>
            </a:r>
          </a:p>
          <a:p>
            <a:r>
              <a:rPr dirty="0"/>
              <a:t>• She needs to get her partner aligned without calling a "finance meeting."</a:t>
            </a:r>
          </a:p>
          <a:p>
            <a:endParaRPr dirty="0"/>
          </a:p>
          <a:p>
            <a:r>
              <a:rPr dirty="0"/>
              <a:t>Secondary segments — be brief:</a:t>
            </a:r>
          </a:p>
          <a:p>
            <a:r>
              <a:rPr dirty="0"/>
              <a:t>• Alex (co-parent): acquisition is free — Morgan invites him. He becomes the viral loop.</a:t>
            </a:r>
          </a:p>
          <a:p>
            <a:r>
              <a:rPr dirty="0"/>
              <a:t>• Mint refugees: pre-qualified demand. They already know what budgeting software is and they're actively looking.</a:t>
            </a:r>
          </a:p>
          <a:p>
            <a:r>
              <a:rPr dirty="0"/>
              <a:t>• Budget-skeptic Jamie: larger TAM but harder to convert. SEO and community channels.</a:t>
            </a:r>
          </a:p>
          <a:p>
            <a:r>
              <a:rPr dirty="0"/>
              <a:t>• Privacy-first professionals: doctors, lawyers, tech workers. Smaller segment but highest ARPU and lowest churn.</a:t>
            </a:r>
          </a:p>
          <a:p>
            <a:endParaRPr dirty="0"/>
          </a:p>
          <a:p>
            <a:r>
              <a:rPr dirty="0"/>
              <a:t>ICP tightness:</a:t>
            </a:r>
          </a:p>
          <a:p>
            <a:r>
              <a:rPr dirty="0"/>
              <a:t>• $75K–$250K household income: enough complexity to need a tool, not wealthy enough for a wealth manager.</a:t>
            </a:r>
          </a:p>
          <a:p>
            <a:r>
              <a:rPr dirty="0"/>
              <a:t>• Already downloads statements: zero </a:t>
            </a:r>
            <a:r>
              <a:rPr dirty="0" err="1"/>
              <a:t>behaviour</a:t>
            </a:r>
            <a:r>
              <a:rPr dirty="0"/>
              <a:t> change required at onboarding.</a:t>
            </a:r>
          </a:p>
          <a:p>
            <a:r>
              <a:rPr dirty="0"/>
              <a:t>• 3–8 accounts across 2+ institutions: the fragmentation problem is real for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MARKET OPPORTUNITY</a:t>
            </a:r>
          </a:p>
          <a:p>
            <a:endParaRPr/>
          </a:p>
          <a:p>
            <a:r>
              <a:t>Walk the three rings from outside in:</a:t>
            </a:r>
          </a:p>
          <a:p>
            <a:endParaRPr/>
          </a:p>
          <a:p>
            <a:r>
              <a:t>TAM — 45 million: US households with 2+ income earners. This is Census data. Every one of them has a financial fragmentation problem.</a:t>
            </a:r>
          </a:p>
          <a:p>
            <a:endParaRPr/>
          </a:p>
          <a:p>
            <a:r>
              <a:t>SAM — 12 million: households actively trying to budget. This is Mint's peak user base (~20M) times the ~60% who are budget-conscious rather than just credit-score-watching. This is who we can reach.</a:t>
            </a:r>
          </a:p>
          <a:p>
            <a:endParaRPr/>
          </a:p>
          <a:p>
            <a:r>
              <a:t>SOM — 150K paying households by Year 3: that is 0.4–1.2% of SAM. At $10/mo ARPU, that is $18M ARR — a credible Series A milestone, not a hockey stick fantasy.</a:t>
            </a:r>
          </a:p>
          <a:p>
            <a:endParaRPr/>
          </a:p>
          <a:p>
            <a:r>
              <a:t>The three metric cards on the right anchor the unit economics story:</a:t>
            </a:r>
          </a:p>
          <a:p>
            <a:r>
              <a:t>• $8–15/mo ARPU: benchmarked against Monarch and YNAB. We enter at the lower end to win on trust, then expand with premium tiers.</a:t>
            </a:r>
          </a:p>
          <a:p>
            <a:r>
              <a:t>• 5% free-to-premium: conservative. Goodbudget converts at ~3%, YNAB at ~15% for motivated users. 5% is defensible.</a:t>
            </a:r>
          </a:p>
          <a:p>
            <a:r>
              <a:t>• 40% 90-day retention: the budgeting category lives and dies by this number. Mint averaged ~25%. We target better because family-native design keeps both partners engaged.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PAIN POINTS</a:t>
            </a:r>
          </a:p>
          <a:p>
            <a:endParaRPr/>
          </a:p>
          <a:p>
            <a:r>
              <a:t>Don't rush this slide. Let the pain land.</a:t>
            </a:r>
          </a:p>
          <a:p>
            <a:endParaRPr/>
          </a:p>
          <a:p>
            <a:r>
              <a:t>The goal here is to make the investor feel what Morgan feels on the 15th of every month when she's staring at three browser tabs, a spreadsheet, and a credit card bill she doesn't understand.</a:t>
            </a:r>
          </a:p>
          <a:p>
            <a:endParaRPr/>
          </a:p>
          <a:p>
            <a:r>
              <a:t>Walk the 3×3 grid by row:</a:t>
            </a:r>
          </a:p>
          <a:p>
            <a:endParaRPr/>
          </a:p>
          <a:p>
            <a:r>
              <a:t>Row 1 — The discovery problem:</a:t>
            </a:r>
          </a:p>
          <a:p>
            <a:r>
              <a:t>• Fragmented data: money is everywhere. The anxiety is "I don't know where we stand."</a:t>
            </a:r>
          </a:p>
          <a:p>
            <a:r>
              <a:t>• Manual overhead: 2 hours a month copying numbers. It sounds small until you do it every month for a year and then stop because life got busy.</a:t>
            </a:r>
          </a:p>
          <a:p>
            <a:r>
              <a:t>• Individual-first tools: Mint showed you YOUR spending. There is no concept of the household. Partners are invisible.</a:t>
            </a:r>
          </a:p>
          <a:p>
            <a:endParaRPr/>
          </a:p>
          <a:p>
            <a:r>
              <a:t>Row 2 — The planning failure:</a:t>
            </a:r>
          </a:p>
          <a:p>
            <a:r>
              <a:t>• Unrealistic budgets: most budgets are made up. "We'll spend $400 on dining." Where did that number come from? The result is shame when you blow it in week two and abandon the tool.</a:t>
            </a:r>
          </a:p>
          <a:p>
            <a:r>
              <a:t>• No Q&amp;A: dashboards are passive. You can't ask them a question. You have to become a data analyst to get an insight.</a:t>
            </a:r>
          </a:p>
          <a:p>
            <a:r>
              <a:t>• Privacy anxiety: 30–40% of users who start a Plaid-connected app drop off at the bank-link screen. That is a massive acquisition tax.</a:t>
            </a:r>
          </a:p>
          <a:p>
            <a:endParaRPr/>
          </a:p>
          <a:p>
            <a:r>
              <a:t>Row 3 — The accountability gap:</a:t>
            </a:r>
          </a:p>
          <a:p>
            <a:r>
              <a:t>• Late accountability: finding out you overspent dining at month-end is useless. You needed to know on the 18th.</a:t>
            </a:r>
          </a:p>
          <a:p>
            <a:r>
              <a:t>• Double-counting: this one is insidious — it silently makes your data wrong and you lose trust in the tool.</a:t>
            </a:r>
          </a:p>
          <a:p>
            <a:r>
              <a:t>• Categorization fatigue: if 20% of your 300 transactions need manual review, that's 60 decisions before you can even see your dashboard. You're done.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SOLUTION</a:t>
            </a:r>
          </a:p>
          <a:p>
            <a:endParaRPr/>
          </a:p>
          <a:p>
            <a:r>
              <a:t>Walk the 5-step flow at the top first — it's the user journey in 20 seconds:</a:t>
            </a:r>
          </a:p>
          <a:p>
            <a:r>
              <a:t>1. Download: they already do this. 5 minutes per account.</a:t>
            </a:r>
          </a:p>
          <a:p>
            <a:r>
              <a:t>2. Upload: drag and drop. No credentials, no OAuth dance, no "please connect your bank."</a:t>
            </a:r>
          </a:p>
          <a:p>
            <a:r>
              <a:t>3. Auto-categorize: 80%+ hit rate from our rules engine + pre-trained DistilBERT. The 20% remainder goes into a review queue — human-in-the-loop, not a blocker.</a:t>
            </a:r>
          </a:p>
          <a:p>
            <a:r>
              <a:t>4. Budget wizard: not "enter a number for dining." We read the last 3–6 months of their actual spending, compute a median, and suggest a 50/30/20-aligned budget based on real behaviour.</a:t>
            </a:r>
          </a:p>
          <a:p>
            <a:r>
              <a:t>5. Ask AI: type a question in plain English. Get an answer from real numbers. No hallucination — the AI calls a database function, not a narrative generator.</a:t>
            </a:r>
          </a:p>
          <a:p>
            <a:endParaRPr/>
          </a:p>
          <a:p>
            <a:r>
              <a:t>The table makes the problem-solution pairing explicit. Key lines to call out:</a:t>
            </a:r>
          </a:p>
          <a:p>
            <a:r>
              <a:t>• Manual overhead → "Monthly ritual goes from 2 hours to 20 minutes." That is the value proposition in one sentence.</a:t>
            </a:r>
          </a:p>
          <a:p>
            <a:r>
              <a:t>• Privacy → "No credentials ever stored or transmitted." Full stop. This is not a policy statement — it's an architecture decision.</a:t>
            </a:r>
          </a:p>
          <a:p>
            <a:r>
              <a:t>• No Q&amp;A → "Answers use real numbers; no hallucination; auditable." We know which tool call returned what data. Every answer is traceable.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KEY FEATURES</a:t>
            </a:r>
          </a:p>
          <a:p>
            <a:endParaRPr/>
          </a:p>
          <a:p>
            <a:r>
              <a:t>This is the MVP scope slide. Don't get lost in features — hit three things:</a:t>
            </a:r>
          </a:p>
          <a:p>
            <a:endParaRPr/>
          </a:p>
          <a:p>
            <a:r>
              <a:t>1. Completeness: eight feature areas cover the full household budgeting loop — auth, import, ledger, categorization, budget, AI, alerts, monetization. This is a complete product, not a prototype.</a:t>
            </a:r>
          </a:p>
          <a:p>
            <a:endParaRPr/>
          </a:p>
          <a:p>
            <a:r>
              <a:t>2. The AI assistant is the differentiator: every other feature exists in competitors in some form. GPT-4o / Gemini with grounded function calling over household-scoped data does not. This is why we win the top-right quadrant.</a:t>
            </a:r>
          </a:p>
          <a:p>
            <a:endParaRPr/>
          </a:p>
          <a:p>
            <a:r>
              <a:t>3. Freemium is the growth mechanism: 6 months of history free lowers the barrier to entry completely. Premium is unlocked by power users who want more history and export — exactly the users who are highest intent and lowest churn.</a:t>
            </a:r>
          </a:p>
          <a:p>
            <a:endParaRPr/>
          </a:p>
          <a:p>
            <a:r>
              <a:t>Bottom metrics strip — these are our success targets:</a:t>
            </a:r>
          </a:p>
          <a:p>
            <a:r>
              <a:t>• &lt;30 minutes to first useful dashboard: this is our activation SLA.</a:t>
            </a:r>
          </a:p>
          <a:p>
            <a:r>
              <a:t>• 60% week-1 activation: if they don't complete onboarding and see their first budget in week 1, they churn. This number drives our onboarding design.</a:t>
            </a:r>
          </a:p>
          <a:p>
            <a:r>
              <a:t>• 80% auto-categorization: below this, the review queue kills activation. Above it, the tool feels magical.</a:t>
            </a:r>
          </a:p>
          <a:p>
            <a:r>
              <a:t>• 5% free-to-premium and 40% 90-day retention are the PMF signals that gate our Series 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COMPETITIVE LANDSCAPE</a:t>
            </a:r>
          </a:p>
          <a:p>
            <a:endParaRPr/>
          </a:p>
          <a:p>
            <a:r>
              <a:t>Read the table with the investor, not at them. The story is in the column patterns.</a:t>
            </a:r>
          </a:p>
          <a:p>
            <a:endParaRPr/>
          </a:p>
          <a:p>
            <a:r>
              <a:t>"Look at the Household Sharing column. Only Monarch and us have it — and Monarch's is couples-dashboard, not family-native with roles and member attribution. Now look at AI Q&amp;A. We are the only one with grounded natural-language answers. Now look at File Import and Privacy together. No one else has both."</a:t>
            </a:r>
          </a:p>
          <a:p>
            <a:endParaRPr/>
          </a:p>
          <a:p>
            <a:r>
              <a:t>The ⭐ row is the only row with four checkmarks in the differentiating columns. That's the white space.</a:t>
            </a:r>
          </a:p>
          <a:p>
            <a:endParaRPr/>
          </a:p>
          <a:p>
            <a:r>
              <a:t>On each competitor:</a:t>
            </a:r>
          </a:p>
          <a:p>
            <a:r>
              <a:t>• Monarch: closest threat. Strong Mint replacement, good couples dashboard. But Plaid-first, no conversational AI, $100/yr with no free tier. Our wedge is privacy + AI + family depth.</a:t>
            </a:r>
          </a:p>
          <a:p>
            <a:r>
              <a:t>• YNAB: methodology zealots. Loyal community but steep learning curve, zero-based methodology is prescriptive, no AI. Our wedge is faster time-to-value and plain-English answers over charts.</a:t>
            </a:r>
          </a:p>
          <a:p>
            <a:r>
              <a:t>• Copilot: best-in-class categorization UX, but iOS/Mac only, no household sharing, no Q&amp;A. Our wedge: cross-platform, family-native, conversational layer.</a:t>
            </a:r>
          </a:p>
          <a:p>
            <a:r>
              <a:t>• Goodbudget: our privacy peer. But manual entry, no import automation, no AI. We beat them on every dimension except methodology purity.</a:t>
            </a:r>
          </a:p>
          <a:p>
            <a:r>
              <a:t>• Mint (ghost): proved the demand exists, proved the free model works, proved that users churn when trust breaks. We learned all three lessons.</a:t>
            </a:r>
          </a:p>
          <a:p>
            <a:endParaRPr/>
          </a:p>
          <a:p>
            <a:r>
              <a:t>Preempt the question: "Won't Monarch just add AI chat?" — Their architecture is Plaid-first. Their moat is the bank connection. Ours is the file-import trust relationship and the household data model. These attract different users. We're not fighting for the same customer.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POSITIONING MAP</a:t>
            </a:r>
          </a:p>
          <a:p>
            <a:endParaRPr/>
          </a:p>
          <a:p>
            <a:r>
              <a:t>"Every positioning map looks like this — the presenter puts themselves in the best quadrant. Let me show you why this one is real."</a:t>
            </a:r>
          </a:p>
          <a:p>
            <a:endParaRPr/>
          </a:p>
          <a:p>
            <a:r>
              <a:t>Axes:</a:t>
            </a:r>
          </a:p>
          <a:p>
            <a:r>
              <a:t>• Vertical: automation level. High = smart import, AI Q&amp;A, auto-categorization. Low = manual entry, spreadsheets.</a:t>
            </a:r>
          </a:p>
          <a:p>
            <a:r>
              <a:t>• Horizontal: who the product is designed for. Individual on the left, household-native on the right.</a:t>
            </a:r>
          </a:p>
          <a:p>
            <a:endParaRPr/>
          </a:p>
          <a:p>
            <a:r>
              <a:t>Walk the competitors:</a:t>
            </a:r>
          </a:p>
          <a:p>
            <a:r>
              <a:t>• Copilot is top-left: high automation but individual-only. Beautiful AI categorization, no household model.</a:t>
            </a:r>
          </a:p>
          <a:p>
            <a:r>
              <a:t>• YNAB is bottom-left: great methodology, but you enter every transaction manually and it's built around one person's zero-based budget.</a:t>
            </a:r>
          </a:p>
          <a:p>
            <a:r>
              <a:t>• Monarch is middle-right: couples dashboard, but Plaid-dependent (medium automation in our framing) and no AI Q&amp;A.</a:t>
            </a:r>
          </a:p>
          <a:p>
            <a:r>
              <a:t>• Goodbudget and Spreadsheets are bottom — manual, but at least private.</a:t>
            </a:r>
          </a:p>
          <a:p>
            <a:endParaRPr/>
          </a:p>
          <a:p>
            <a:r>
              <a:t>Our position — top-right — is genuinely unoccupied. The upper-right quadrant requires three capabilities simultaneously: household-native data model, high-automation import, and AI Q&amp;A. No single competitor has all three. Building all three together is our 18-month head start.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AI &amp; DATA STRATEGY</a:t>
            </a:r>
          </a:p>
          <a:p>
            <a:endParaRPr/>
          </a:p>
          <a:p>
            <a:r>
              <a:t>The core message: "We do not need to train a model from scratch. We need to be smart about what already exists."</a:t>
            </a:r>
          </a:p>
          <a:p>
            <a:endParaRPr/>
          </a:p>
          <a:p>
            <a:r>
              <a:t>Layer 1 — Categorization:</a:t>
            </a:r>
          </a:p>
          <a:p>
            <a:r>
              <a:t>• HuggingFace has a pre-trained DistilBERT model on 68,000 US bank transaction strings with 99.9% validation accuracy. We fine-tune it, we don't build it. This ships in Phase 2 — MVP uses a rules engine that our team can build in a week.</a:t>
            </a:r>
          </a:p>
          <a:p>
            <a:r>
              <a:t>• The review queue is deliberate: it gives us labelled correction data from real households, which makes Phase 2 fine-tuning far more accurate than the generic dataset.</a:t>
            </a:r>
          </a:p>
          <a:p>
            <a:endParaRPr/>
          </a:p>
          <a:p>
            <a:r>
              <a:t>Layer 2 — AI Q&amp;A:</a:t>
            </a:r>
          </a:p>
          <a:p>
            <a:r>
              <a:t>• GPT-4o / Gemini does not need fine-tuning for our use case. It needs grounding. We achieve that through function calling — structured tool definitions that force the model to retrieve real data instead of generating narratives.</a:t>
            </a:r>
          </a:p>
          <a:p>
            <a:r>
              <a:t>• This is our IP: not the base model, but the tool layer. get_budget_status, get_spending_summary, get_goal_progress. The model is a commodity; the data model and tool contracts are the moat.</a:t>
            </a:r>
          </a:p>
          <a:p>
            <a:r>
              <a:t>• Cost: function-calling architecture costs $0.01–0.05 per query. Naive "dump the CSV into the prompt" approach costs $0.50+. We are 10–50x more cost-efficient.</a:t>
            </a:r>
          </a:p>
          <a:p>
            <a:endParaRPr/>
          </a:p>
          <a:p>
            <a:r>
              <a:t>Layer 3 — Budget recommendations:</a:t>
            </a:r>
          </a:p>
          <a:p>
            <a:r>
              <a:t>• Median spend from the user's own history. No ML needed. Statistically sound and explainable. "Based on your last 6 months, you spent an average of $380 on dining" is more persuasive than any algorithm.</a:t>
            </a:r>
          </a:p>
          <a:p>
            <a:endParaRPr/>
          </a:p>
          <a:p>
            <a:r>
              <a:t>Phase path — no wasted capital:</a:t>
            </a:r>
          </a:p>
          <a:p>
            <a:r>
              <a:t>• MVP: ship with zero model training. Rules + pre-trained + statistics.</a:t>
            </a:r>
          </a:p>
          <a:p>
            <a:r>
              <a:t>• Phase 2: targeted fine-tuning only where ROI is clear — the merchant categorizer.</a:t>
            </a:r>
          </a:p>
          <a:p>
            <a:r>
              <a:t>• Phase 3 (optional): local LLM for the privacy-first tier. This becomes a premium differentiator, not a day-one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ROADMAP</a:t>
            </a:r>
          </a:p>
          <a:p>
            <a:endParaRPr/>
          </a:p>
          <a:p>
            <a:r>
              <a:t>Frame this as a series of funded milestones, not a wishlist.</a:t>
            </a:r>
          </a:p>
          <a:p>
            <a:endParaRPr/>
          </a:p>
          <a:p>
            <a:r>
              <a:t>MVP (Now → Q3 2026) — funded by this raise:</a:t>
            </a:r>
          </a:p>
          <a:p>
            <a:r>
              <a:t>• Four deliverables: auth/households, file import, AI Q&amp;A, smart categorization.</a:t>
            </a:r>
          </a:p>
          <a:p>
            <a:r>
              <a:t>• Success gate: 1,000 activated households, week-1 activation ≥ 60%.</a:t>
            </a:r>
          </a:p>
          <a:p>
            <a:r>
              <a:t>• This is the PMF experiment. We are proving that privacy-first import + grounded AI creates a retention loop.</a:t>
            </a:r>
          </a:p>
          <a:p>
            <a:endParaRPr/>
          </a:p>
          <a:p>
            <a:r>
              <a:t>Phase 2 (Q4 2026 → Q1 2027) — funded by revenue and/or bridge:</a:t>
            </a:r>
          </a:p>
          <a:p>
            <a:r>
              <a:t>• Recurring detection is the biggest retention driver after core import. Knowing your Netflix renews on the 15th means you're never surprised.</a:t>
            </a:r>
          </a:p>
          <a:p>
            <a:r>
              <a:t>• ML categorization at this stage uses real household correction data from Phase 1. The model gets smarter with scale.</a:t>
            </a:r>
          </a:p>
          <a:p>
            <a:r>
              <a:t>• Sinking funds and split transactions are the features YNAB users love. We take them without requiring zero-based methodology.</a:t>
            </a:r>
          </a:p>
          <a:p>
            <a:endParaRPr/>
          </a:p>
          <a:p>
            <a:r>
              <a:t>Phase 3 (Q2 2027+) — Series A territory:</a:t>
            </a:r>
          </a:p>
          <a:p>
            <a:r>
              <a:t>• Optional Plaid is not a capitulation — it's a TAM expansion. We keep the file-first positioning for our ICP, and add sync for users who want it. Revenue neutral on CAC, positive on retention.</a:t>
            </a:r>
          </a:p>
          <a:p>
            <a:r>
              <a:t>• Teen allowances and tax summaries open the household product into a platform. These are expansion revenue stories, not survival stories.</a:t>
            </a:r>
          </a:p>
          <a:p>
            <a:endParaRPr/>
          </a:p>
          <a:p>
            <a:r>
              <a:t>Key message: every phase has a clear entry gate. We don't move to Phase 2 until we have retention data from Phase 1. Discipline is a feature.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PII PROTECTION</a:t>
            </a:r>
          </a:p>
          <a:p>
            <a:endParaRPr/>
          </a:p>
          <a:p>
            <a:r>
              <a:t>This slide matters most to the privacy-conscious ICP — and increasingly to investors post-GDPR and CCPA.</a:t>
            </a:r>
          </a:p>
          <a:p>
            <a:endParaRPr/>
          </a:p>
          <a:p>
            <a:r>
              <a:t>Walk the architecture flow left to right:</a:t>
            </a:r>
          </a:p>
          <a:p>
            <a:r>
              <a:t>• User data stays in the browser until it's needed for an AI query.</a:t>
            </a:r>
          </a:p>
          <a:p>
            <a:r>
              <a:t>• The PII Scrubber intercepts all data before it reaches the Gemini API: real names become Member 1/Member 2, personal service providers like "Mrs. Kim" become [Person], and transaction notes are stripped entirely.</a:t>
            </a:r>
          </a:p>
          <a:p>
            <a:r>
              <a:t>• Gemini receives only anonymized aggregates — category totals, budget percentages, goal progress. It never sees raw transactions.</a:t>
            </a:r>
          </a:p>
          <a:p>
            <a:r>
              <a:t>• AI responses pass through DOMPurify before rendering — protecting against prompt-injection attacks in the browser.</a:t>
            </a:r>
          </a:p>
          <a:p>
            <a:endParaRPr/>
          </a:p>
          <a:p>
            <a:r>
              <a:t>Left column — what IS sent:</a:t>
            </a:r>
          </a:p>
          <a:p>
            <a:r>
              <a:t>• Category totals, budget %, member counts, cash flow trends, public merchant names (Starbucks is not PII).</a:t>
            </a:r>
          </a:p>
          <a:p>
            <a:r>
              <a:t>• This is enough for the AI to answer every question families actually ask.</a:t>
            </a:r>
          </a:p>
          <a:p>
            <a:endParaRPr/>
          </a:p>
          <a:p>
            <a:r>
              <a:t>Right column — what is NEVER sent:</a:t>
            </a:r>
          </a:p>
          <a:p>
            <a:r>
              <a:t>• Real names, household name, transaction notes, personal service providers, the API key itself.</a:t>
            </a:r>
          </a:p>
          <a:p>
            <a:r>
              <a:t>• "Sofia's piano lesson" stays in the browser. Gemini never knows Sofia exists.</a:t>
            </a:r>
          </a:p>
          <a:p>
            <a:endParaRPr/>
          </a:p>
          <a:p>
            <a:r>
              <a:t>Three implementation layers — each is production code shipping in MVP:</a:t>
            </a:r>
          </a:p>
          <a:p>
            <a:r>
              <a:t>1. System prompt anonymization: Elena → Member 1. The household name is removed. Gemini sees "3 members" not "The Martinez Family."</a:t>
            </a:r>
          </a:p>
          <a:p>
            <a:r>
              <a:t>2. Payee scrubber: regex detects personal-name titles and replaces with [Person]. Merchant names pass through unchanged.</a:t>
            </a:r>
          </a:p>
          <a:p>
            <a:r>
              <a:t>3. Notes omission: the notes field is simply not included in tool responses. It's the highest-risk field and costs us nothing to drop.</a:t>
            </a:r>
          </a:p>
          <a:p>
            <a:endParaRPr/>
          </a:p>
          <a:p>
            <a:r>
              <a:t>Compliance path: this architecture aligns with GDPR-style data minimization by design. We're building the legal review into our seed budget.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13 — INVESTMENT THESIS</a:t>
            </a:r>
          </a:p>
          <a:p>
            <a:endParaRPr dirty="0"/>
          </a:p>
          <a:p>
            <a:r>
              <a:rPr dirty="0"/>
              <a:t>This is the conviction slide. Deliver it with confidence.</a:t>
            </a:r>
          </a:p>
          <a:p>
            <a:endParaRPr dirty="0"/>
          </a:p>
          <a:p>
            <a:r>
              <a:rPr dirty="0"/>
              <a:t>Six reasons this wins — don't read them, hit the themes:</a:t>
            </a:r>
          </a:p>
          <a:p>
            <a:endParaRPr dirty="0"/>
          </a:p>
          <a:p>
            <a:r>
              <a:rPr dirty="0"/>
              <a:t>1. TIMING: "The Mint gap, LLM maturity, and privacy backlash have converged in a 24-month window. We are building into that window. In 36 months, the incumbents will have caught up on AI. Right now, they haven't."</a:t>
            </a:r>
          </a:p>
          <a:p>
            <a:endParaRPr dirty="0"/>
          </a:p>
          <a:p>
            <a:r>
              <a:rPr dirty="0"/>
              <a:t>2. DIFFERENTIATION: "We are not competing with Monarch — we are attracting the customers Monarch turns away. The privacy-conscious household that refuses to link a bank API is not Monarch's ICP. It's ours."</a:t>
            </a:r>
          </a:p>
          <a:p>
            <a:endParaRPr dirty="0"/>
          </a:p>
          <a:p>
            <a:r>
              <a:rPr dirty="0"/>
              <a:t>3. UNIT ECONOMICS: "We acquire through SEO to Mint-refugee communities — low CAC. We convert on premium export and history — high intent. The household invite loop makes co-parents a free acquisition channel."</a:t>
            </a:r>
          </a:p>
          <a:p>
            <a:endParaRPr dirty="0"/>
          </a:p>
          <a:p>
            <a:r>
              <a:rPr dirty="0"/>
              <a:t>4. DEFENSIBILITY: "Every month a family uses the app, two things happen: their institution templates get richer, and their correction history fine-tunes their categorizer. Neither of those transfers to a competitor."</a:t>
            </a:r>
          </a:p>
          <a:p>
            <a:endParaRPr dirty="0"/>
          </a:p>
          <a:p>
            <a:r>
              <a:rPr dirty="0"/>
              <a:t>5. CAPITAL EFFICIENCY: "We are not burning capital on model training. We have a clear technical path from rules engine to fine-tuned classifier to function-calling LLM, with no step requiring a GPU cluster or ML research team."</a:t>
            </a:r>
          </a:p>
          <a:p>
            <a:endParaRPr dirty="0"/>
          </a:p>
          <a:p>
            <a:r>
              <a:rPr dirty="0"/>
              <a:t>6. MARKET PROOF: "Users already pay $99–109/year for products that don't have household sharing or conversational AI. We enter at $8–15/month with both. The value proposition is not hypothetical."</a:t>
            </a:r>
          </a:p>
          <a:p>
            <a:endParaRPr dirty="0"/>
          </a:p>
          <a:p>
            <a:r>
              <a:rPr dirty="0"/>
              <a:t>Seed ask — be direct:</a:t>
            </a:r>
          </a:p>
          <a:p>
            <a:r>
              <a:rPr dirty="0"/>
              <a:t>• $1.5–2.5M gets us to 10K MAU, 5% premium conversion, 40%+ 90-day retention.</a:t>
            </a:r>
          </a:p>
          <a:p>
            <a:r>
              <a:rPr dirty="0"/>
              <a:t>• Those are the three numbers that gate a Series A at a $15–20M valuation.</a:t>
            </a:r>
          </a:p>
          <a:p>
            <a:r>
              <a:rPr dirty="0"/>
              <a:t>• Use of funds: 55% engineering, 20% GTM, 15% design, 10% legal/compliance. Engineering-first. We build before we sell.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14 — CLOSING</a:t>
            </a:r>
          </a:p>
          <a:p>
            <a:endParaRPr dirty="0"/>
          </a:p>
          <a:p>
            <a:r>
              <a:rPr dirty="0"/>
              <a:t>This is not a summary slide. It's a call to action.</a:t>
            </a:r>
          </a:p>
          <a:p>
            <a:endParaRPr dirty="0"/>
          </a:p>
          <a:p>
            <a:r>
              <a:rPr dirty="0"/>
              <a:t>Deliver the one-sentence pitch from memory:</a:t>
            </a:r>
          </a:p>
          <a:p>
            <a:r>
              <a:rPr dirty="0"/>
              <a:t>"Family Budget Assistant is the first household finance tool that understands your whole family's money — not just one person's — and answers your questions in plain English, without ever requiring you to hand over your bank login."</a:t>
            </a:r>
          </a:p>
          <a:p>
            <a:endParaRPr dirty="0"/>
          </a:p>
          <a:p>
            <a:r>
              <a:rPr dirty="0"/>
              <a:t>The four CTA numbers anchor the conversation:</a:t>
            </a:r>
          </a:p>
          <a:p>
            <a:r>
              <a:rPr dirty="0"/>
              <a:t>• $1.5–2.5M: this is the ask. Have a range — $1.5M gets MVP to launch, $2.5M gives 6 months of runway post-launch for iteration.</a:t>
            </a:r>
          </a:p>
          <a:p>
            <a:r>
              <a:rPr dirty="0"/>
              <a:t>• 10K MAU: first PMF milestone. Not revenue — activation. We want to prove the product before we optimize the funnel.</a:t>
            </a:r>
          </a:p>
          <a:p>
            <a:r>
              <a:rPr dirty="0"/>
              <a:t>• 5% free-to-premium: the monetization proof point. If 1 in 20 free users converts, the CAC math works.</a:t>
            </a:r>
          </a:p>
          <a:p>
            <a:r>
              <a:rPr dirty="0"/>
              <a:t>• 40%+ 90-day retention: the retention proof point. If people are still budgeting after 90 days, the product has changed </a:t>
            </a:r>
            <a:r>
              <a:rPr dirty="0" err="1"/>
              <a:t>behaviour</a:t>
            </a:r>
            <a:r>
              <a:rPr dirty="0"/>
              <a:t>.</a:t>
            </a:r>
          </a:p>
          <a:p>
            <a:endParaRPr dirty="0"/>
          </a:p>
          <a:p>
            <a:r>
              <a:rPr dirty="0"/>
              <a:t>Next steps — offer something specific:</a:t>
            </a:r>
          </a:p>
          <a:p>
            <a:r>
              <a:rPr dirty="0"/>
              <a:t>• Offer a product demo with real data.</a:t>
            </a:r>
          </a:p>
          <a:p>
            <a:r>
              <a:rPr dirty="0"/>
              <a:t>• Offer access to a beta cohort if they want to talk to users.</a:t>
            </a:r>
          </a:p>
          <a:p>
            <a:r>
              <a:rPr dirty="0"/>
              <a:t>• Share the full PRD for technical due diligence.</a:t>
            </a:r>
          </a:p>
          <a:p>
            <a:endParaRPr dirty="0"/>
          </a:p>
          <a:p>
            <a:r>
              <a:rPr dirty="0"/>
              <a:t>Close with urgency without manufacturing it:</a:t>
            </a:r>
          </a:p>
          <a:p>
            <a:r>
              <a:rPr dirty="0"/>
              <a:t>"We are in a window. Mint closed 18 months ago. The Mint-refugee community is still actively looking. Every month we wait, they either find an alternative they tolerate or give up on budgeting entirely. We'd like to move quickly."</a:t>
            </a:r>
          </a:p>
          <a:p>
            <a:endParaRPr dirty="0"/>
          </a:p>
          <a:p>
            <a:r>
              <a:rPr dirty="0"/>
              <a:t>Contact: </a:t>
            </a:r>
            <a:r>
              <a:rPr dirty="0" err="1"/>
              <a:t>saudamini@gmail.com</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Rectangle 1"/>
          <p:cNvSpPr/>
          <p:nvPr/>
        </p:nvSpPr>
        <p:spPr>
          <a:xfrm>
            <a:off x="0" y="0"/>
            <a:ext cx="4970130" cy="6858000"/>
          </a:xfrm>
          <a:prstGeom prst="rect">
            <a:avLst/>
          </a:prstGeom>
          <a:solidFill>
            <a:srgbClr val="0D1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11480"/>
            <a:ext cx="640080" cy="640080"/>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02336"/>
            <a:ext cx="640080" cy="640080"/>
          </a:xfrm>
          <a:prstGeom prst="rect">
            <a:avLst/>
          </a:prstGeom>
          <a:noFill/>
        </p:spPr>
        <p:txBody>
          <a:bodyPr wrap="square">
            <a:spAutoFit/>
          </a:bodyPr>
          <a:lstStyle/>
          <a:p>
            <a:pPr algn="ctr"/>
            <a:r>
              <a:rPr sz="2800" b="0" i="0">
                <a:solidFill>
                  <a:srgbClr val="E2E8F0"/>
                </a:solidFill>
                <a:latin typeface="Calibri"/>
              </a:rPr>
              <a:t>💰</a:t>
            </a:r>
          </a:p>
        </p:txBody>
      </p:sp>
      <p:sp>
        <p:nvSpPr>
          <p:cNvPr id="5" name="Rectangle 4"/>
          <p:cNvSpPr/>
          <p:nvPr/>
        </p:nvSpPr>
        <p:spPr>
          <a:xfrm>
            <a:off x="1261872" y="502920"/>
            <a:ext cx="1371600" cy="292608"/>
          </a:xfrm>
          <a:prstGeom prst="rect">
            <a:avLst/>
          </a:prstGeom>
          <a:solidFill>
            <a:srgbClr val="0D2A5A"/>
          </a:solidFill>
          <a:ln w="635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61872" y="512064"/>
            <a:ext cx="1371600" cy="256032"/>
          </a:xfrm>
          <a:prstGeom prst="rect">
            <a:avLst/>
          </a:prstGeom>
          <a:noFill/>
        </p:spPr>
        <p:txBody>
          <a:bodyPr wrap="square">
            <a:spAutoFit/>
          </a:bodyPr>
          <a:lstStyle/>
          <a:p>
            <a:pPr algn="l"/>
            <a:r>
              <a:rPr sz="900" b="1" i="0">
                <a:solidFill>
                  <a:srgbClr val="4F8EF7"/>
                </a:solidFill>
                <a:latin typeface="Calibri"/>
              </a:rPr>
              <a:t>SEED ROUND · 2026</a:t>
            </a:r>
          </a:p>
        </p:txBody>
      </p:sp>
      <p:sp>
        <p:nvSpPr>
          <p:cNvPr id="7" name="TextBox 6"/>
          <p:cNvSpPr txBox="1"/>
          <p:nvPr/>
        </p:nvSpPr>
        <p:spPr>
          <a:xfrm>
            <a:off x="457200" y="960120"/>
            <a:ext cx="6703923" cy="1005840"/>
          </a:xfrm>
          <a:prstGeom prst="rect">
            <a:avLst/>
          </a:prstGeom>
          <a:noFill/>
        </p:spPr>
        <p:txBody>
          <a:bodyPr wrap="square">
            <a:spAutoFit/>
          </a:bodyPr>
          <a:lstStyle/>
          <a:p>
            <a:pPr algn="l"/>
            <a:r>
              <a:rPr sz="5200" b="1" i="0">
                <a:solidFill>
                  <a:srgbClr val="FFFFFF"/>
                </a:solidFill>
                <a:latin typeface="Calibri"/>
              </a:rPr>
              <a:t>Family Budget</a:t>
            </a:r>
          </a:p>
        </p:txBody>
      </p:sp>
      <p:sp>
        <p:nvSpPr>
          <p:cNvPr id="8" name="TextBox 7"/>
          <p:cNvSpPr txBox="1"/>
          <p:nvPr/>
        </p:nvSpPr>
        <p:spPr>
          <a:xfrm>
            <a:off x="457200" y="1783080"/>
            <a:ext cx="6703923" cy="822960"/>
          </a:xfrm>
          <a:prstGeom prst="rect">
            <a:avLst/>
          </a:prstGeom>
          <a:noFill/>
        </p:spPr>
        <p:txBody>
          <a:bodyPr wrap="square">
            <a:spAutoFit/>
          </a:bodyPr>
          <a:lstStyle/>
          <a:p>
            <a:pPr algn="l"/>
            <a:r>
              <a:rPr sz="5200" b="1" i="0">
                <a:solidFill>
                  <a:srgbClr val="4F8EF7"/>
                </a:solidFill>
                <a:latin typeface="Calibri"/>
              </a:rPr>
              <a:t>Assistant</a:t>
            </a:r>
          </a:p>
        </p:txBody>
      </p:sp>
      <p:sp>
        <p:nvSpPr>
          <p:cNvPr id="9" name="TextBox 8"/>
          <p:cNvSpPr txBox="1"/>
          <p:nvPr/>
        </p:nvSpPr>
        <p:spPr>
          <a:xfrm>
            <a:off x="457200" y="2743200"/>
            <a:ext cx="6338255" cy="1097280"/>
          </a:xfrm>
          <a:prstGeom prst="rect">
            <a:avLst/>
          </a:prstGeom>
          <a:noFill/>
        </p:spPr>
        <p:txBody>
          <a:bodyPr wrap="square">
            <a:spAutoFit/>
          </a:bodyPr>
          <a:lstStyle/>
          <a:p>
            <a:pPr algn="l"/>
            <a:r>
              <a:rPr sz="1300" b="0" i="0">
                <a:solidFill>
                  <a:srgbClr val="94A3B8"/>
                </a:solidFill>
                <a:latin typeface="Calibri"/>
              </a:rPr>
              <a:t>The first household finance platform combining family-native shared
budgeting, privacy-safe file import, and AI that answers questions
in plain English over your real spending data.</a:t>
            </a:r>
          </a:p>
        </p:txBody>
      </p:sp>
      <p:sp>
        <p:nvSpPr>
          <p:cNvPr id="10" name="Rectangle 9"/>
          <p:cNvSpPr/>
          <p:nvPr/>
        </p:nvSpPr>
        <p:spPr>
          <a:xfrm>
            <a:off x="457200" y="4114800"/>
            <a:ext cx="2103120" cy="822960"/>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4133087"/>
            <a:ext cx="2103120" cy="438912"/>
          </a:xfrm>
          <a:prstGeom prst="rect">
            <a:avLst/>
          </a:prstGeom>
          <a:noFill/>
        </p:spPr>
        <p:txBody>
          <a:bodyPr wrap="square">
            <a:spAutoFit/>
          </a:bodyPr>
          <a:lstStyle/>
          <a:p>
            <a:pPr algn="ctr"/>
            <a:r>
              <a:rPr sz="2200" b="1" i="0">
                <a:solidFill>
                  <a:srgbClr val="FFFFFF"/>
                </a:solidFill>
                <a:latin typeface="Calibri"/>
              </a:rPr>
              <a:t>$1.5–2.5M</a:t>
            </a:r>
          </a:p>
        </p:txBody>
      </p:sp>
      <p:sp>
        <p:nvSpPr>
          <p:cNvPr id="12" name="TextBox 11"/>
          <p:cNvSpPr txBox="1"/>
          <p:nvPr/>
        </p:nvSpPr>
        <p:spPr>
          <a:xfrm>
            <a:off x="457200" y="4553712"/>
            <a:ext cx="2103120" cy="347472"/>
          </a:xfrm>
          <a:prstGeom prst="rect">
            <a:avLst/>
          </a:prstGeom>
          <a:noFill/>
        </p:spPr>
        <p:txBody>
          <a:bodyPr wrap="square">
            <a:spAutoFit/>
          </a:bodyPr>
          <a:lstStyle/>
          <a:p>
            <a:pPr algn="ctr"/>
            <a:r>
              <a:rPr sz="1000" b="0" i="0">
                <a:solidFill>
                  <a:srgbClr val="94A3B8"/>
                </a:solidFill>
                <a:latin typeface="Calibri"/>
              </a:rPr>
              <a:t>Seed Ask</a:t>
            </a:r>
          </a:p>
        </p:txBody>
      </p:sp>
      <p:sp>
        <p:nvSpPr>
          <p:cNvPr id="13" name="Rectangle 12"/>
          <p:cNvSpPr/>
          <p:nvPr/>
        </p:nvSpPr>
        <p:spPr>
          <a:xfrm>
            <a:off x="2834640" y="4114800"/>
            <a:ext cx="2103120" cy="822960"/>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34640" y="4133087"/>
            <a:ext cx="2103120" cy="438912"/>
          </a:xfrm>
          <a:prstGeom prst="rect">
            <a:avLst/>
          </a:prstGeom>
          <a:noFill/>
        </p:spPr>
        <p:txBody>
          <a:bodyPr wrap="square">
            <a:spAutoFit/>
          </a:bodyPr>
          <a:lstStyle/>
          <a:p>
            <a:pPr algn="ctr"/>
            <a:r>
              <a:rPr sz="2200" b="1" i="0">
                <a:solidFill>
                  <a:srgbClr val="FFFFFF"/>
                </a:solidFill>
                <a:latin typeface="Calibri"/>
              </a:rPr>
              <a:t>45M</a:t>
            </a:r>
          </a:p>
        </p:txBody>
      </p:sp>
      <p:sp>
        <p:nvSpPr>
          <p:cNvPr id="15" name="TextBox 14"/>
          <p:cNvSpPr txBox="1"/>
          <p:nvPr/>
        </p:nvSpPr>
        <p:spPr>
          <a:xfrm>
            <a:off x="2834640" y="4553712"/>
            <a:ext cx="2103120" cy="347472"/>
          </a:xfrm>
          <a:prstGeom prst="rect">
            <a:avLst/>
          </a:prstGeom>
          <a:noFill/>
        </p:spPr>
        <p:txBody>
          <a:bodyPr wrap="square">
            <a:spAutoFit/>
          </a:bodyPr>
          <a:lstStyle/>
          <a:p>
            <a:pPr algn="ctr"/>
            <a:r>
              <a:rPr sz="1000" b="0" i="0">
                <a:solidFill>
                  <a:srgbClr val="94A3B8"/>
                </a:solidFill>
                <a:latin typeface="Calibri"/>
              </a:rPr>
              <a:t>US Household TAM</a:t>
            </a:r>
          </a:p>
        </p:txBody>
      </p:sp>
      <p:sp>
        <p:nvSpPr>
          <p:cNvPr id="16" name="Rectangle 15"/>
          <p:cNvSpPr/>
          <p:nvPr/>
        </p:nvSpPr>
        <p:spPr>
          <a:xfrm>
            <a:off x="5212080" y="4114800"/>
            <a:ext cx="2103120" cy="822960"/>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12080" y="4133087"/>
            <a:ext cx="2103120" cy="438912"/>
          </a:xfrm>
          <a:prstGeom prst="rect">
            <a:avLst/>
          </a:prstGeom>
          <a:noFill/>
        </p:spPr>
        <p:txBody>
          <a:bodyPr wrap="square">
            <a:spAutoFit/>
          </a:bodyPr>
          <a:lstStyle/>
          <a:p>
            <a:pPr algn="ctr"/>
            <a:r>
              <a:rPr sz="2200" b="1" i="0">
                <a:solidFill>
                  <a:srgbClr val="FFFFFF"/>
                </a:solidFill>
                <a:latin typeface="Calibri"/>
              </a:rPr>
              <a:t>20M+</a:t>
            </a:r>
          </a:p>
        </p:txBody>
      </p:sp>
      <p:sp>
        <p:nvSpPr>
          <p:cNvPr id="18" name="TextBox 17"/>
          <p:cNvSpPr txBox="1"/>
          <p:nvPr/>
        </p:nvSpPr>
        <p:spPr>
          <a:xfrm>
            <a:off x="5212080" y="4553712"/>
            <a:ext cx="2103120" cy="347472"/>
          </a:xfrm>
          <a:prstGeom prst="rect">
            <a:avLst/>
          </a:prstGeom>
          <a:noFill/>
        </p:spPr>
        <p:txBody>
          <a:bodyPr wrap="square">
            <a:spAutoFit/>
          </a:bodyPr>
          <a:lstStyle/>
          <a:p>
            <a:pPr algn="ctr"/>
            <a:r>
              <a:rPr sz="1000" b="0" i="0">
                <a:solidFill>
                  <a:srgbClr val="94A3B8"/>
                </a:solidFill>
                <a:latin typeface="Calibri"/>
              </a:rPr>
              <a:t>Mint Refugees (Jan 2024)</a:t>
            </a:r>
          </a:p>
        </p:txBody>
      </p:sp>
      <p:sp>
        <p:nvSpPr>
          <p:cNvPr id="19" name="Rectangle 18"/>
          <p:cNvSpPr/>
          <p:nvPr/>
        </p:nvSpPr>
        <p:spPr>
          <a:xfrm>
            <a:off x="7589520" y="4114800"/>
            <a:ext cx="2103120" cy="822960"/>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0" y="4133087"/>
            <a:ext cx="2103120" cy="438912"/>
          </a:xfrm>
          <a:prstGeom prst="rect">
            <a:avLst/>
          </a:prstGeom>
          <a:noFill/>
        </p:spPr>
        <p:txBody>
          <a:bodyPr wrap="square">
            <a:spAutoFit/>
          </a:bodyPr>
          <a:lstStyle/>
          <a:p>
            <a:pPr algn="ctr"/>
            <a:r>
              <a:rPr sz="2200" b="1" i="0">
                <a:solidFill>
                  <a:srgbClr val="FFFFFF"/>
                </a:solidFill>
                <a:latin typeface="Calibri"/>
              </a:rPr>
              <a:t>$8–15</a:t>
            </a:r>
          </a:p>
        </p:txBody>
      </p:sp>
      <p:sp>
        <p:nvSpPr>
          <p:cNvPr id="21" name="TextBox 20"/>
          <p:cNvSpPr txBox="1"/>
          <p:nvPr/>
        </p:nvSpPr>
        <p:spPr>
          <a:xfrm>
            <a:off x="7589520" y="4553712"/>
            <a:ext cx="2103120" cy="347472"/>
          </a:xfrm>
          <a:prstGeom prst="rect">
            <a:avLst/>
          </a:prstGeom>
          <a:noFill/>
        </p:spPr>
        <p:txBody>
          <a:bodyPr wrap="square">
            <a:spAutoFit/>
          </a:bodyPr>
          <a:lstStyle/>
          <a:p>
            <a:pPr algn="ctr"/>
            <a:r>
              <a:rPr sz="1000" b="0" i="0">
                <a:solidFill>
                  <a:srgbClr val="94A3B8"/>
                </a:solidFill>
                <a:latin typeface="Calibri"/>
              </a:rPr>
              <a:t>Target ARPU / Month</a:t>
            </a:r>
          </a:p>
        </p:txBody>
      </p:sp>
      <p:sp>
        <p:nvSpPr>
          <p:cNvPr id="22" name="Rectangle 21"/>
          <p:cNvSpPr/>
          <p:nvPr/>
        </p:nvSpPr>
        <p:spPr>
          <a:xfrm>
            <a:off x="7557150" y="0"/>
            <a:ext cx="4631801" cy="6858000"/>
          </a:xfrm>
          <a:prstGeom prst="rect">
            <a:avLst/>
          </a:prstGeom>
          <a:solidFill>
            <a:srgbClr val="06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57150" y="2560320"/>
            <a:ext cx="4631801" cy="731520"/>
          </a:xfrm>
          <a:prstGeom prst="rect">
            <a:avLst/>
          </a:prstGeom>
          <a:noFill/>
        </p:spPr>
        <p:txBody>
          <a:bodyPr wrap="square">
            <a:spAutoFit/>
          </a:bodyPr>
          <a:lstStyle/>
          <a:p>
            <a:pPr algn="ctr"/>
            <a:r>
              <a:rPr sz="6000" b="0" i="0">
                <a:solidFill>
                  <a:srgbClr val="E2E8F0"/>
                </a:solidFill>
                <a:latin typeface="Calibri"/>
              </a:rPr>
              <a:t>☀️</a:t>
            </a:r>
          </a:p>
        </p:txBody>
      </p:sp>
      <p:sp>
        <p:nvSpPr>
          <p:cNvPr id="24" name="TextBox 23"/>
          <p:cNvSpPr txBox="1"/>
          <p:nvPr/>
        </p:nvSpPr>
        <p:spPr>
          <a:xfrm>
            <a:off x="7557150" y="3200400"/>
            <a:ext cx="4631801" cy="457200"/>
          </a:xfrm>
          <a:prstGeom prst="rect">
            <a:avLst/>
          </a:prstGeom>
          <a:noFill/>
        </p:spPr>
        <p:txBody>
          <a:bodyPr wrap="square">
            <a:spAutoFit/>
          </a:bodyPr>
          <a:lstStyle/>
          <a:p>
            <a:pPr algn="ctr"/>
            <a:r>
              <a:rPr sz="2400" b="1" i="0">
                <a:solidFill>
                  <a:srgbClr val="FFFFFF"/>
                </a:solidFill>
                <a:latin typeface="Calibri"/>
              </a:rPr>
              <a:t>FamilyBudget</a:t>
            </a:r>
          </a:p>
        </p:txBody>
      </p:sp>
      <p:sp>
        <p:nvSpPr>
          <p:cNvPr id="25" name="TextBox 24"/>
          <p:cNvSpPr txBox="1"/>
          <p:nvPr/>
        </p:nvSpPr>
        <p:spPr>
          <a:xfrm>
            <a:off x="7557150" y="3611880"/>
            <a:ext cx="4631801" cy="365760"/>
          </a:xfrm>
          <a:prstGeom prst="rect">
            <a:avLst/>
          </a:prstGeom>
          <a:noFill/>
        </p:spPr>
        <p:txBody>
          <a:bodyPr wrap="square">
            <a:spAutoFit/>
          </a:bodyPr>
          <a:lstStyle/>
          <a:p>
            <a:pPr algn="ctr"/>
            <a:r>
              <a:rPr sz="1200" b="0" i="0">
                <a:solidFill>
                  <a:srgbClr val="94A3B8"/>
                </a:solidFill>
                <a:latin typeface="Calibri"/>
              </a:rPr>
              <a:t>Your household finances, honestly.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30832"/>
          </a:xfrm>
          <a:prstGeom prst="rect">
            <a:avLst/>
          </a:prstGeom>
          <a:noFill/>
        </p:spPr>
        <p:txBody>
          <a:bodyPr wrap="square">
            <a:spAutoFit/>
          </a:bodyPr>
          <a:lstStyle/>
          <a:p>
            <a:pPr algn="l"/>
            <a:r>
              <a:rPr sz="900" b="1" i="0">
                <a:solidFill>
                  <a:srgbClr val="4F8EF7"/>
                </a:solidFill>
                <a:latin typeface="Calibri" panose="020F0502020204030204" pitchFamily="34" charset="0"/>
                <a:cs typeface="Calibri" panose="020F0502020204030204" pitchFamily="34" charset="0"/>
              </a:rPr>
              <a:t>IDEA OVERVIEW</a:t>
            </a:r>
          </a:p>
        </p:txBody>
      </p:sp>
      <p:sp>
        <p:nvSpPr>
          <p:cNvPr id="3" name="TextBox 2"/>
          <p:cNvSpPr txBox="1"/>
          <p:nvPr/>
        </p:nvSpPr>
        <p:spPr>
          <a:xfrm>
            <a:off x="457200" y="603504"/>
            <a:ext cx="10970056" cy="492443"/>
          </a:xfrm>
          <a:prstGeom prst="rect">
            <a:avLst/>
          </a:prstGeom>
          <a:noFill/>
        </p:spPr>
        <p:txBody>
          <a:bodyPr wrap="square">
            <a:spAutoFit/>
          </a:bodyPr>
          <a:lstStyle/>
          <a:p>
            <a:pPr algn="l"/>
            <a:r>
              <a:rPr sz="2600" b="1" i="0">
                <a:solidFill>
                  <a:srgbClr val="FFFFFF"/>
                </a:solidFill>
                <a:latin typeface="Calibri" panose="020F0502020204030204" pitchFamily="34" charset="0"/>
                <a:cs typeface="Calibri" panose="020F0502020204030204" pitchFamily="34" charset="0"/>
              </a:rPr>
              <a:t>One tool. Every account. Plain-English answers.</a:t>
            </a:r>
          </a:p>
        </p:txBody>
      </p:sp>
      <p:sp>
        <p:nvSpPr>
          <p:cNvPr id="4" name="Rectangle 3"/>
          <p:cNvSpPr/>
          <p:nvPr/>
        </p:nvSpPr>
        <p:spPr>
          <a:xfrm>
            <a:off x="457200" y="1600200"/>
            <a:ext cx="3566160" cy="1965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5" name="Rectangle 4"/>
          <p:cNvSpPr/>
          <p:nvPr/>
        </p:nvSpPr>
        <p:spPr>
          <a:xfrm>
            <a:off x="457200" y="1600200"/>
            <a:ext cx="3566160" cy="54864"/>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6" name="TextBox 5"/>
          <p:cNvSpPr txBox="1"/>
          <p:nvPr/>
        </p:nvSpPr>
        <p:spPr>
          <a:xfrm>
            <a:off x="457200" y="1737360"/>
            <a:ext cx="3566160" cy="457200"/>
          </a:xfrm>
          <a:prstGeom prst="rect">
            <a:avLst/>
          </a:prstGeom>
          <a:noFill/>
        </p:spPr>
        <p:txBody>
          <a:bodyPr wrap="square">
            <a:spAutoFit/>
          </a:bodyPr>
          <a:lstStyle/>
          <a:p>
            <a:pPr algn="ctr"/>
            <a:r>
              <a:rPr sz="2400" b="0" i="0">
                <a:solidFill>
                  <a:srgbClr val="E2E8F0"/>
                </a:solidFill>
                <a:latin typeface="Calibri" panose="020F0502020204030204" pitchFamily="34" charset="0"/>
                <a:cs typeface="Calibri" panose="020F0502020204030204" pitchFamily="34" charset="0"/>
              </a:rPr>
              <a:t>👨‍👩‍👧</a:t>
            </a:r>
          </a:p>
        </p:txBody>
      </p:sp>
      <p:sp>
        <p:nvSpPr>
          <p:cNvPr id="7" name="TextBox 6"/>
          <p:cNvSpPr txBox="1"/>
          <p:nvPr/>
        </p:nvSpPr>
        <p:spPr>
          <a:xfrm>
            <a:off x="457200" y="2176272"/>
            <a:ext cx="3566160" cy="307777"/>
          </a:xfrm>
          <a:prstGeom prst="rect">
            <a:avLst/>
          </a:prstGeom>
          <a:noFill/>
        </p:spPr>
        <p:txBody>
          <a:bodyPr wrap="square">
            <a:spAutoFit/>
          </a:bodyPr>
          <a:lstStyle/>
          <a:p>
            <a:pPr algn="ctr"/>
            <a:r>
              <a:rPr sz="1400" b="1" i="0">
                <a:solidFill>
                  <a:srgbClr val="FFFFFF"/>
                </a:solidFill>
                <a:latin typeface="Calibri" panose="020F0502020204030204" pitchFamily="34" charset="0"/>
                <a:cs typeface="Calibri" panose="020F0502020204030204" pitchFamily="34" charset="0"/>
              </a:rPr>
              <a:t>Family-Native</a:t>
            </a:r>
          </a:p>
        </p:txBody>
      </p:sp>
      <p:sp>
        <p:nvSpPr>
          <p:cNvPr id="8" name="TextBox 7"/>
          <p:cNvSpPr txBox="1"/>
          <p:nvPr/>
        </p:nvSpPr>
        <p:spPr>
          <a:xfrm>
            <a:off x="457200" y="2532888"/>
            <a:ext cx="3474720" cy="600164"/>
          </a:xfrm>
          <a:prstGeom prst="rect">
            <a:avLst/>
          </a:prstGeom>
          <a:noFill/>
        </p:spPr>
        <p:txBody>
          <a:bodyPr wrap="square">
            <a:spAutoFit/>
          </a:bodyPr>
          <a:lstStyle/>
          <a:p>
            <a:pPr algn="ctr"/>
            <a:r>
              <a:rPr sz="1100" b="0" i="0">
                <a:solidFill>
                  <a:srgbClr val="94A3B8"/>
                </a:solidFill>
                <a:latin typeface="Calibri" panose="020F0502020204030204" pitchFamily="34" charset="0"/>
                <a:cs typeface="Calibri" panose="020F0502020204030204" pitchFamily="34" charset="0"/>
              </a:rPr>
              <a:t>2–8 members, shared goals, per-member spend attribution, Owner/Editor/Viewer roles — built for couples from day one.</a:t>
            </a:r>
          </a:p>
        </p:txBody>
      </p:sp>
      <p:sp>
        <p:nvSpPr>
          <p:cNvPr id="9" name="Rectangle 8"/>
          <p:cNvSpPr/>
          <p:nvPr/>
        </p:nvSpPr>
        <p:spPr>
          <a:xfrm>
            <a:off x="4315968" y="1600200"/>
            <a:ext cx="3566160" cy="1965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10" name="Rectangle 9"/>
          <p:cNvSpPr/>
          <p:nvPr/>
        </p:nvSpPr>
        <p:spPr>
          <a:xfrm>
            <a:off x="4315968" y="1600200"/>
            <a:ext cx="356616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11" name="TextBox 10"/>
          <p:cNvSpPr txBox="1"/>
          <p:nvPr/>
        </p:nvSpPr>
        <p:spPr>
          <a:xfrm>
            <a:off x="4315968" y="1737360"/>
            <a:ext cx="3566160" cy="457200"/>
          </a:xfrm>
          <a:prstGeom prst="rect">
            <a:avLst/>
          </a:prstGeom>
          <a:noFill/>
        </p:spPr>
        <p:txBody>
          <a:bodyPr wrap="square">
            <a:spAutoFit/>
          </a:bodyPr>
          <a:lstStyle/>
          <a:p>
            <a:pPr algn="ctr"/>
            <a:r>
              <a:rPr sz="2400" b="0" i="0">
                <a:solidFill>
                  <a:srgbClr val="E2E8F0"/>
                </a:solidFill>
                <a:latin typeface="Calibri" panose="020F0502020204030204" pitchFamily="34" charset="0"/>
                <a:cs typeface="Calibri" panose="020F0502020204030204" pitchFamily="34" charset="0"/>
              </a:rPr>
              <a:t>🔒</a:t>
            </a:r>
          </a:p>
        </p:txBody>
      </p:sp>
      <p:sp>
        <p:nvSpPr>
          <p:cNvPr id="12" name="TextBox 11"/>
          <p:cNvSpPr txBox="1"/>
          <p:nvPr/>
        </p:nvSpPr>
        <p:spPr>
          <a:xfrm>
            <a:off x="4315968" y="2176272"/>
            <a:ext cx="3566160" cy="307777"/>
          </a:xfrm>
          <a:prstGeom prst="rect">
            <a:avLst/>
          </a:prstGeom>
          <a:noFill/>
        </p:spPr>
        <p:txBody>
          <a:bodyPr wrap="square">
            <a:spAutoFit/>
          </a:bodyPr>
          <a:lstStyle/>
          <a:p>
            <a:pPr algn="ctr"/>
            <a:r>
              <a:rPr sz="1400" b="1" i="0">
                <a:solidFill>
                  <a:srgbClr val="FFFFFF"/>
                </a:solidFill>
                <a:latin typeface="Calibri" panose="020F0502020204030204" pitchFamily="34" charset="0"/>
                <a:cs typeface="Calibri" panose="020F0502020204030204" pitchFamily="34" charset="0"/>
              </a:rPr>
              <a:t>Privacy-Safe Import</a:t>
            </a:r>
          </a:p>
        </p:txBody>
      </p:sp>
      <p:sp>
        <p:nvSpPr>
          <p:cNvPr id="13" name="TextBox 12"/>
          <p:cNvSpPr txBox="1"/>
          <p:nvPr/>
        </p:nvSpPr>
        <p:spPr>
          <a:xfrm>
            <a:off x="4315968" y="2532888"/>
            <a:ext cx="3474720" cy="430887"/>
          </a:xfrm>
          <a:prstGeom prst="rect">
            <a:avLst/>
          </a:prstGeom>
          <a:noFill/>
        </p:spPr>
        <p:txBody>
          <a:bodyPr wrap="square">
            <a:spAutoFit/>
          </a:bodyPr>
          <a:lstStyle/>
          <a:p>
            <a:pPr algn="ctr"/>
            <a:r>
              <a:rPr sz="1100" b="0" i="0">
                <a:solidFill>
                  <a:srgbClr val="94A3B8"/>
                </a:solidFill>
                <a:latin typeface="Calibri" panose="020F0502020204030204" pitchFamily="34" charset="0"/>
                <a:cs typeface="Calibri" panose="020F0502020204030204" pitchFamily="34" charset="0"/>
              </a:rPr>
              <a:t>Upload bank statements (CSV, OFX, QFX). No Plaid. No stored credentials. Files deleted after parse.</a:t>
            </a:r>
          </a:p>
        </p:txBody>
      </p:sp>
      <p:sp>
        <p:nvSpPr>
          <p:cNvPr id="14" name="Rectangle 13"/>
          <p:cNvSpPr/>
          <p:nvPr/>
        </p:nvSpPr>
        <p:spPr>
          <a:xfrm>
            <a:off x="8174736" y="1600200"/>
            <a:ext cx="3566160" cy="1965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15" name="Rectangle 14"/>
          <p:cNvSpPr/>
          <p:nvPr/>
        </p:nvSpPr>
        <p:spPr>
          <a:xfrm>
            <a:off x="8174736" y="1600200"/>
            <a:ext cx="356616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16" name="TextBox 15"/>
          <p:cNvSpPr txBox="1"/>
          <p:nvPr/>
        </p:nvSpPr>
        <p:spPr>
          <a:xfrm>
            <a:off x="8174736" y="1737360"/>
            <a:ext cx="3566160" cy="457200"/>
          </a:xfrm>
          <a:prstGeom prst="rect">
            <a:avLst/>
          </a:prstGeom>
          <a:noFill/>
        </p:spPr>
        <p:txBody>
          <a:bodyPr wrap="square">
            <a:spAutoFit/>
          </a:bodyPr>
          <a:lstStyle/>
          <a:p>
            <a:pPr algn="ctr"/>
            <a:r>
              <a:rPr sz="2400" b="0" i="0">
                <a:solidFill>
                  <a:srgbClr val="E2E8F0"/>
                </a:solidFill>
                <a:latin typeface="Calibri" panose="020F0502020204030204" pitchFamily="34" charset="0"/>
                <a:cs typeface="Calibri" panose="020F0502020204030204" pitchFamily="34" charset="0"/>
              </a:rPr>
              <a:t>🤖</a:t>
            </a:r>
          </a:p>
        </p:txBody>
      </p:sp>
      <p:sp>
        <p:nvSpPr>
          <p:cNvPr id="17" name="TextBox 16"/>
          <p:cNvSpPr txBox="1"/>
          <p:nvPr/>
        </p:nvSpPr>
        <p:spPr>
          <a:xfrm>
            <a:off x="8174736" y="2176272"/>
            <a:ext cx="3566160" cy="307777"/>
          </a:xfrm>
          <a:prstGeom prst="rect">
            <a:avLst/>
          </a:prstGeom>
          <a:noFill/>
        </p:spPr>
        <p:txBody>
          <a:bodyPr wrap="square">
            <a:spAutoFit/>
          </a:bodyPr>
          <a:lstStyle/>
          <a:p>
            <a:pPr algn="ctr"/>
            <a:r>
              <a:rPr sz="1400" b="1" i="0">
                <a:solidFill>
                  <a:srgbClr val="FFFFFF"/>
                </a:solidFill>
                <a:latin typeface="Calibri" panose="020F0502020204030204" pitchFamily="34" charset="0"/>
                <a:cs typeface="Calibri" panose="020F0502020204030204" pitchFamily="34" charset="0"/>
              </a:rPr>
              <a:t>Grounded AI Q&amp;A</a:t>
            </a:r>
          </a:p>
        </p:txBody>
      </p:sp>
      <p:sp>
        <p:nvSpPr>
          <p:cNvPr id="18" name="TextBox 17"/>
          <p:cNvSpPr txBox="1"/>
          <p:nvPr/>
        </p:nvSpPr>
        <p:spPr>
          <a:xfrm>
            <a:off x="8174736" y="2532888"/>
            <a:ext cx="3474720" cy="600164"/>
          </a:xfrm>
          <a:prstGeom prst="rect">
            <a:avLst/>
          </a:prstGeom>
          <a:noFill/>
        </p:spPr>
        <p:txBody>
          <a:bodyPr wrap="square">
            <a:spAutoFit/>
          </a:bodyPr>
          <a:lstStyle/>
          <a:p>
            <a:pPr algn="ctr"/>
            <a:r>
              <a:rPr sz="1100" b="0" i="0">
                <a:solidFill>
                  <a:srgbClr val="94A3B8"/>
                </a:solidFill>
                <a:latin typeface="Calibri" panose="020F0502020204030204" pitchFamily="34" charset="0"/>
                <a:cs typeface="Calibri" panose="020F0502020204030204" pitchFamily="34" charset="0"/>
              </a:rPr>
              <a:t>Ask "Are we on track for vacation?" — answered from real numbers via function calls. No hallucinated transactions.</a:t>
            </a:r>
          </a:p>
        </p:txBody>
      </p:sp>
      <p:sp>
        <p:nvSpPr>
          <p:cNvPr id="19" name="Rectangle 18"/>
          <p:cNvSpPr/>
          <p:nvPr/>
        </p:nvSpPr>
        <p:spPr>
          <a:xfrm>
            <a:off x="457200" y="3840480"/>
            <a:ext cx="2633472" cy="11277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20" name="TextBox 19"/>
          <p:cNvSpPr txBox="1"/>
          <p:nvPr/>
        </p:nvSpPr>
        <p:spPr>
          <a:xfrm>
            <a:off x="457200" y="3913632"/>
            <a:ext cx="2633472" cy="365760"/>
          </a:xfrm>
          <a:prstGeom prst="rect">
            <a:avLst/>
          </a:prstGeom>
          <a:noFill/>
        </p:spPr>
        <p:txBody>
          <a:bodyPr wrap="square">
            <a:spAutoFit/>
          </a:bodyPr>
          <a:lstStyle/>
          <a:p>
            <a:pPr algn="ctr"/>
            <a:r>
              <a:rPr sz="1800" b="0" i="0">
                <a:solidFill>
                  <a:srgbClr val="E2E8F0"/>
                </a:solidFill>
                <a:latin typeface="Calibri" panose="020F0502020204030204" pitchFamily="34" charset="0"/>
                <a:cs typeface="Calibri" panose="020F0502020204030204" pitchFamily="34" charset="0"/>
              </a:rPr>
              <a:t>📉</a:t>
            </a:r>
          </a:p>
        </p:txBody>
      </p:sp>
      <p:sp>
        <p:nvSpPr>
          <p:cNvPr id="21" name="TextBox 20"/>
          <p:cNvSpPr txBox="1"/>
          <p:nvPr/>
        </p:nvSpPr>
        <p:spPr>
          <a:xfrm>
            <a:off x="457200" y="4224528"/>
            <a:ext cx="2633472" cy="261610"/>
          </a:xfrm>
          <a:prstGeom prst="rect">
            <a:avLst/>
          </a:prstGeom>
          <a:noFill/>
        </p:spPr>
        <p:txBody>
          <a:bodyPr wrap="square">
            <a:spAutoFit/>
          </a:bodyPr>
          <a:lstStyle/>
          <a:p>
            <a:pPr algn="ctr"/>
            <a:r>
              <a:rPr sz="1100" b="1" i="0">
                <a:solidFill>
                  <a:srgbClr val="FFFFFF"/>
                </a:solidFill>
                <a:latin typeface="Calibri" panose="020F0502020204030204" pitchFamily="34" charset="0"/>
                <a:cs typeface="Calibri" panose="020F0502020204030204" pitchFamily="34" charset="0"/>
              </a:rPr>
              <a:t>Mint Shutdown</a:t>
            </a:r>
          </a:p>
        </p:txBody>
      </p:sp>
      <p:sp>
        <p:nvSpPr>
          <p:cNvPr id="22" name="TextBox 21"/>
          <p:cNvSpPr txBox="1"/>
          <p:nvPr/>
        </p:nvSpPr>
        <p:spPr>
          <a:xfrm>
            <a:off x="548640" y="4480560"/>
            <a:ext cx="2450592" cy="400110"/>
          </a:xfrm>
          <a:prstGeom prst="rect">
            <a:avLst/>
          </a:prstGeom>
          <a:noFill/>
        </p:spPr>
        <p:txBody>
          <a:bodyPr wrap="square">
            <a:spAutoFit/>
          </a:bodyPr>
          <a:lstStyle/>
          <a:p>
            <a:pPr algn="l"/>
            <a:r>
              <a:rPr sz="1000" b="0" i="0">
                <a:solidFill>
                  <a:srgbClr val="94A3B8"/>
                </a:solidFill>
                <a:latin typeface="Calibri" panose="020F0502020204030204" pitchFamily="34" charset="0"/>
                <a:cs typeface="Calibri" panose="020F0502020204030204" pitchFamily="34" charset="0"/>
              </a:rPr>
              <a:t>20M+ users displaced Jan 2024; no free household replacement</a:t>
            </a:r>
          </a:p>
        </p:txBody>
      </p:sp>
      <p:sp>
        <p:nvSpPr>
          <p:cNvPr id="23" name="Rectangle 22"/>
          <p:cNvSpPr/>
          <p:nvPr/>
        </p:nvSpPr>
        <p:spPr>
          <a:xfrm>
            <a:off x="3291840" y="3840480"/>
            <a:ext cx="2633472" cy="11277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24" name="TextBox 23"/>
          <p:cNvSpPr txBox="1"/>
          <p:nvPr/>
        </p:nvSpPr>
        <p:spPr>
          <a:xfrm>
            <a:off x="3291840" y="3913632"/>
            <a:ext cx="2633472" cy="365760"/>
          </a:xfrm>
          <a:prstGeom prst="rect">
            <a:avLst/>
          </a:prstGeom>
          <a:noFill/>
        </p:spPr>
        <p:txBody>
          <a:bodyPr wrap="square">
            <a:spAutoFit/>
          </a:bodyPr>
          <a:lstStyle/>
          <a:p>
            <a:pPr algn="ctr"/>
            <a:r>
              <a:rPr sz="1800" b="0" i="0">
                <a:solidFill>
                  <a:srgbClr val="E2E8F0"/>
                </a:solidFill>
                <a:latin typeface="Calibri" panose="020F0502020204030204" pitchFamily="34" charset="0"/>
                <a:cs typeface="Calibri" panose="020F0502020204030204" pitchFamily="34" charset="0"/>
              </a:rPr>
              <a:t>🛡️</a:t>
            </a:r>
          </a:p>
        </p:txBody>
      </p:sp>
      <p:sp>
        <p:nvSpPr>
          <p:cNvPr id="25" name="TextBox 24"/>
          <p:cNvSpPr txBox="1"/>
          <p:nvPr/>
        </p:nvSpPr>
        <p:spPr>
          <a:xfrm>
            <a:off x="3291840" y="4224528"/>
            <a:ext cx="2633472" cy="261610"/>
          </a:xfrm>
          <a:prstGeom prst="rect">
            <a:avLst/>
          </a:prstGeom>
          <a:noFill/>
        </p:spPr>
        <p:txBody>
          <a:bodyPr wrap="square">
            <a:spAutoFit/>
          </a:bodyPr>
          <a:lstStyle/>
          <a:p>
            <a:pPr algn="ctr"/>
            <a:r>
              <a:rPr sz="1100" b="1" i="0">
                <a:solidFill>
                  <a:srgbClr val="FFFFFF"/>
                </a:solidFill>
                <a:latin typeface="Calibri" panose="020F0502020204030204" pitchFamily="34" charset="0"/>
                <a:cs typeface="Calibri" panose="020F0502020204030204" pitchFamily="34" charset="0"/>
              </a:rPr>
              <a:t>Privacy Backlash</a:t>
            </a:r>
          </a:p>
        </p:txBody>
      </p:sp>
      <p:sp>
        <p:nvSpPr>
          <p:cNvPr id="26" name="TextBox 25"/>
          <p:cNvSpPr txBox="1"/>
          <p:nvPr/>
        </p:nvSpPr>
        <p:spPr>
          <a:xfrm>
            <a:off x="3383280" y="4480560"/>
            <a:ext cx="2450592" cy="400110"/>
          </a:xfrm>
          <a:prstGeom prst="rect">
            <a:avLst/>
          </a:prstGeom>
          <a:noFill/>
        </p:spPr>
        <p:txBody>
          <a:bodyPr wrap="square">
            <a:spAutoFit/>
          </a:bodyPr>
          <a:lstStyle/>
          <a:p>
            <a:pPr algn="l"/>
            <a:r>
              <a:rPr sz="1000" b="0" i="0">
                <a:solidFill>
                  <a:srgbClr val="94A3B8"/>
                </a:solidFill>
                <a:latin typeface="Calibri" panose="020F0502020204030204" pitchFamily="34" charset="0"/>
                <a:cs typeface="Calibri" panose="020F0502020204030204" pitchFamily="34" charset="0"/>
              </a:rPr>
              <a:t>Post-Plaid-breach; users want credential control</a:t>
            </a:r>
          </a:p>
        </p:txBody>
      </p:sp>
      <p:sp>
        <p:nvSpPr>
          <p:cNvPr id="27" name="Rectangle 26"/>
          <p:cNvSpPr/>
          <p:nvPr/>
        </p:nvSpPr>
        <p:spPr>
          <a:xfrm>
            <a:off x="6126480" y="3840480"/>
            <a:ext cx="2633472" cy="11277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28" name="TextBox 27"/>
          <p:cNvSpPr txBox="1"/>
          <p:nvPr/>
        </p:nvSpPr>
        <p:spPr>
          <a:xfrm>
            <a:off x="6126480" y="3913632"/>
            <a:ext cx="2633472" cy="365760"/>
          </a:xfrm>
          <a:prstGeom prst="rect">
            <a:avLst/>
          </a:prstGeom>
          <a:noFill/>
        </p:spPr>
        <p:txBody>
          <a:bodyPr wrap="square">
            <a:spAutoFit/>
          </a:bodyPr>
          <a:lstStyle/>
          <a:p>
            <a:pPr algn="ctr"/>
            <a:r>
              <a:rPr sz="1800" b="0" i="0">
                <a:solidFill>
                  <a:srgbClr val="E2E8F0"/>
                </a:solidFill>
                <a:latin typeface="Calibri" panose="020F0502020204030204" pitchFamily="34" charset="0"/>
                <a:cs typeface="Calibri" panose="020F0502020204030204" pitchFamily="34" charset="0"/>
              </a:rPr>
              <a:t>🧠</a:t>
            </a:r>
          </a:p>
        </p:txBody>
      </p:sp>
      <p:sp>
        <p:nvSpPr>
          <p:cNvPr id="29" name="TextBox 28"/>
          <p:cNvSpPr txBox="1"/>
          <p:nvPr/>
        </p:nvSpPr>
        <p:spPr>
          <a:xfrm>
            <a:off x="6126480" y="4224528"/>
            <a:ext cx="2633472" cy="261610"/>
          </a:xfrm>
          <a:prstGeom prst="rect">
            <a:avLst/>
          </a:prstGeom>
          <a:noFill/>
        </p:spPr>
        <p:txBody>
          <a:bodyPr wrap="square">
            <a:spAutoFit/>
          </a:bodyPr>
          <a:lstStyle/>
          <a:p>
            <a:pPr algn="ctr"/>
            <a:r>
              <a:rPr sz="1100" b="1" i="0">
                <a:solidFill>
                  <a:srgbClr val="FFFFFF"/>
                </a:solidFill>
                <a:latin typeface="Calibri" panose="020F0502020204030204" pitchFamily="34" charset="0"/>
                <a:cs typeface="Calibri" panose="020F0502020204030204" pitchFamily="34" charset="0"/>
              </a:rPr>
              <a:t>LLM Maturity</a:t>
            </a:r>
          </a:p>
        </p:txBody>
      </p:sp>
      <p:sp>
        <p:nvSpPr>
          <p:cNvPr id="30" name="TextBox 29"/>
          <p:cNvSpPr txBox="1"/>
          <p:nvPr/>
        </p:nvSpPr>
        <p:spPr>
          <a:xfrm>
            <a:off x="6217920" y="4480560"/>
            <a:ext cx="2450592" cy="400110"/>
          </a:xfrm>
          <a:prstGeom prst="rect">
            <a:avLst/>
          </a:prstGeom>
          <a:noFill/>
        </p:spPr>
        <p:txBody>
          <a:bodyPr wrap="square">
            <a:spAutoFit/>
          </a:bodyPr>
          <a:lstStyle/>
          <a:p>
            <a:pPr algn="l"/>
            <a:r>
              <a:rPr sz="1000" b="0" i="0">
                <a:solidFill>
                  <a:srgbClr val="94A3B8"/>
                </a:solidFill>
                <a:latin typeface="Calibri" panose="020F0502020204030204" pitchFamily="34" charset="0"/>
                <a:cs typeface="Calibri" panose="020F0502020204030204" pitchFamily="34" charset="0"/>
              </a:rPr>
              <a:t>GPT-4o / Gemini function-calling enables grounded Q&amp;A</a:t>
            </a:r>
          </a:p>
        </p:txBody>
      </p:sp>
      <p:sp>
        <p:nvSpPr>
          <p:cNvPr id="31" name="Rectangle 30"/>
          <p:cNvSpPr/>
          <p:nvPr/>
        </p:nvSpPr>
        <p:spPr>
          <a:xfrm>
            <a:off x="8961120" y="3840480"/>
            <a:ext cx="2633472" cy="11277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32" name="TextBox 31"/>
          <p:cNvSpPr txBox="1"/>
          <p:nvPr/>
        </p:nvSpPr>
        <p:spPr>
          <a:xfrm>
            <a:off x="8961120" y="3913632"/>
            <a:ext cx="2633472" cy="365760"/>
          </a:xfrm>
          <a:prstGeom prst="rect">
            <a:avLst/>
          </a:prstGeom>
          <a:noFill/>
        </p:spPr>
        <p:txBody>
          <a:bodyPr wrap="square">
            <a:spAutoFit/>
          </a:bodyPr>
          <a:lstStyle/>
          <a:p>
            <a:pPr algn="ctr"/>
            <a:r>
              <a:rPr sz="1800" b="0" i="0">
                <a:solidFill>
                  <a:srgbClr val="E2E8F0"/>
                </a:solidFill>
                <a:latin typeface="Calibri" panose="020F0502020204030204" pitchFamily="34" charset="0"/>
                <a:cs typeface="Calibri" panose="020F0502020204030204" pitchFamily="34" charset="0"/>
              </a:rPr>
              <a:t>💳</a:t>
            </a:r>
          </a:p>
        </p:txBody>
      </p:sp>
      <p:sp>
        <p:nvSpPr>
          <p:cNvPr id="33" name="TextBox 32"/>
          <p:cNvSpPr txBox="1"/>
          <p:nvPr/>
        </p:nvSpPr>
        <p:spPr>
          <a:xfrm>
            <a:off x="8961120" y="4224528"/>
            <a:ext cx="2633472" cy="261610"/>
          </a:xfrm>
          <a:prstGeom prst="rect">
            <a:avLst/>
          </a:prstGeom>
          <a:noFill/>
        </p:spPr>
        <p:txBody>
          <a:bodyPr wrap="square">
            <a:spAutoFit/>
          </a:bodyPr>
          <a:lstStyle/>
          <a:p>
            <a:pPr algn="ctr"/>
            <a:r>
              <a:rPr sz="1100" b="1" i="0">
                <a:solidFill>
                  <a:srgbClr val="FFFFFF"/>
                </a:solidFill>
                <a:latin typeface="Calibri" panose="020F0502020204030204" pitchFamily="34" charset="0"/>
                <a:cs typeface="Calibri" panose="020F0502020204030204" pitchFamily="34" charset="0"/>
              </a:rPr>
              <a:t>Subscription Proof</a:t>
            </a:r>
          </a:p>
        </p:txBody>
      </p:sp>
      <p:sp>
        <p:nvSpPr>
          <p:cNvPr id="34" name="TextBox 33"/>
          <p:cNvSpPr txBox="1"/>
          <p:nvPr/>
        </p:nvSpPr>
        <p:spPr>
          <a:xfrm>
            <a:off x="9052560" y="4480560"/>
            <a:ext cx="2450592" cy="400110"/>
          </a:xfrm>
          <a:prstGeom prst="rect">
            <a:avLst/>
          </a:prstGeom>
          <a:noFill/>
        </p:spPr>
        <p:txBody>
          <a:bodyPr wrap="square">
            <a:spAutoFit/>
          </a:bodyPr>
          <a:lstStyle/>
          <a:p>
            <a:pPr algn="l"/>
            <a:r>
              <a:rPr sz="1000" b="0" i="0">
                <a:solidFill>
                  <a:srgbClr val="94A3B8"/>
                </a:solidFill>
                <a:latin typeface="Calibri" panose="020F0502020204030204" pitchFamily="34" charset="0"/>
                <a:cs typeface="Calibri" panose="020F0502020204030204" pitchFamily="34" charset="0"/>
              </a:rPr>
              <a:t>Monarch $99/yr, YNAB $109/yr — users pay when data isn't sold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30832"/>
          </a:xfrm>
          <a:prstGeom prst="rect">
            <a:avLst/>
          </a:prstGeom>
          <a:noFill/>
        </p:spPr>
        <p:txBody>
          <a:bodyPr wrap="square">
            <a:spAutoFit/>
          </a:bodyPr>
          <a:lstStyle/>
          <a:p>
            <a:pPr algn="l"/>
            <a:r>
              <a:rPr sz="900" b="1" i="0">
                <a:solidFill>
                  <a:srgbClr val="4F8EF7"/>
                </a:solidFill>
                <a:latin typeface="+mj-lt"/>
              </a:rPr>
              <a:t>TARGET CUSTOMER</a:t>
            </a:r>
          </a:p>
        </p:txBody>
      </p:sp>
      <p:sp>
        <p:nvSpPr>
          <p:cNvPr id="3" name="TextBox 2"/>
          <p:cNvSpPr txBox="1"/>
          <p:nvPr/>
        </p:nvSpPr>
        <p:spPr>
          <a:xfrm>
            <a:off x="457200" y="603504"/>
            <a:ext cx="10970056" cy="492443"/>
          </a:xfrm>
          <a:prstGeom prst="rect">
            <a:avLst/>
          </a:prstGeom>
          <a:noFill/>
        </p:spPr>
        <p:txBody>
          <a:bodyPr wrap="square">
            <a:spAutoFit/>
          </a:bodyPr>
          <a:lstStyle/>
          <a:p>
            <a:pPr algn="l"/>
            <a:r>
              <a:rPr sz="2600" b="1" i="0">
                <a:solidFill>
                  <a:srgbClr val="FFFFFF"/>
                </a:solidFill>
                <a:latin typeface="+mj-lt"/>
              </a:rPr>
              <a:t>The Household CFO &amp; their family</a:t>
            </a:r>
          </a:p>
        </p:txBody>
      </p:sp>
      <p:sp>
        <p:nvSpPr>
          <p:cNvPr id="4" name="Rectangle 3"/>
          <p:cNvSpPr/>
          <p:nvPr/>
        </p:nvSpPr>
        <p:spPr>
          <a:xfrm>
            <a:off x="457200" y="1600200"/>
            <a:ext cx="11335725" cy="1600200"/>
          </a:xfrm>
          <a:prstGeom prst="rect">
            <a:avLst/>
          </a:prstGeom>
          <a:solidFill>
            <a:srgbClr val="1A2235"/>
          </a:solidFill>
          <a:ln w="9525">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5" name="TextBox 4"/>
          <p:cNvSpPr txBox="1"/>
          <p:nvPr/>
        </p:nvSpPr>
        <p:spPr>
          <a:xfrm>
            <a:off x="502920" y="1691640"/>
            <a:ext cx="822960" cy="646331"/>
          </a:xfrm>
          <a:prstGeom prst="rect">
            <a:avLst/>
          </a:prstGeom>
          <a:noFill/>
        </p:spPr>
        <p:txBody>
          <a:bodyPr wrap="square">
            <a:spAutoFit/>
          </a:bodyPr>
          <a:lstStyle/>
          <a:p>
            <a:pPr algn="l"/>
            <a:r>
              <a:rPr sz="3600" b="0" i="0" dirty="0">
                <a:solidFill>
                  <a:srgbClr val="E2E8F0"/>
                </a:solidFill>
                <a:latin typeface="+mj-lt"/>
              </a:rPr>
              <a:t>👩</a:t>
            </a:r>
          </a:p>
        </p:txBody>
      </p:sp>
      <p:sp>
        <p:nvSpPr>
          <p:cNvPr id="6" name="TextBox 5"/>
          <p:cNvSpPr txBox="1"/>
          <p:nvPr/>
        </p:nvSpPr>
        <p:spPr>
          <a:xfrm>
            <a:off x="1463040" y="1664208"/>
            <a:ext cx="9629272" cy="292388"/>
          </a:xfrm>
          <a:prstGeom prst="rect">
            <a:avLst/>
          </a:prstGeom>
          <a:noFill/>
        </p:spPr>
        <p:txBody>
          <a:bodyPr wrap="square">
            <a:spAutoFit/>
          </a:bodyPr>
          <a:lstStyle/>
          <a:p>
            <a:pPr algn="l"/>
            <a:r>
              <a:rPr sz="1300" b="1" i="0">
                <a:solidFill>
                  <a:srgbClr val="FFFFFF"/>
                </a:solidFill>
                <a:latin typeface="+mj-lt"/>
              </a:rPr>
              <a:t>Primary: "Morgan, 38" — The Household CFO</a:t>
            </a:r>
          </a:p>
        </p:txBody>
      </p:sp>
      <p:sp>
        <p:nvSpPr>
          <p:cNvPr id="7" name="TextBox 6"/>
          <p:cNvSpPr txBox="1"/>
          <p:nvPr/>
        </p:nvSpPr>
        <p:spPr>
          <a:xfrm>
            <a:off x="1463040" y="1984248"/>
            <a:ext cx="9629272" cy="261610"/>
          </a:xfrm>
          <a:prstGeom prst="rect">
            <a:avLst/>
          </a:prstGeom>
          <a:noFill/>
        </p:spPr>
        <p:txBody>
          <a:bodyPr wrap="square">
            <a:spAutoFit/>
          </a:bodyPr>
          <a:lstStyle/>
          <a:p>
            <a:pPr algn="l"/>
            <a:r>
              <a:rPr sz="1100" b="0" i="0">
                <a:solidFill>
                  <a:srgbClr val="4F8EF7"/>
                </a:solidFill>
                <a:latin typeface="+mj-lt"/>
              </a:rPr>
              <a:t>Parent · $75K–$250K household income · US-first</a:t>
            </a:r>
          </a:p>
        </p:txBody>
      </p:sp>
      <p:sp>
        <p:nvSpPr>
          <p:cNvPr id="8" name="TextBox 7"/>
          <p:cNvSpPr txBox="1"/>
          <p:nvPr/>
        </p:nvSpPr>
        <p:spPr>
          <a:xfrm>
            <a:off x="1463040" y="2221992"/>
            <a:ext cx="9507382" cy="430887"/>
          </a:xfrm>
          <a:prstGeom prst="rect">
            <a:avLst/>
          </a:prstGeom>
          <a:noFill/>
        </p:spPr>
        <p:txBody>
          <a:bodyPr wrap="square">
            <a:spAutoFit/>
          </a:bodyPr>
          <a:lstStyle/>
          <a:p>
            <a:pPr algn="l"/>
            <a:r>
              <a:rPr sz="1100" b="0" i="0">
                <a:solidFill>
                  <a:srgbClr val="94A3B8"/>
                </a:solidFill>
                <a:latin typeface="+mj-lt"/>
              </a:rPr>
              <a:t>Manages 1 checking, 1 savings, 2+ credit cards, plus partner's accounts. Spends ~2 hours/month manually consolidating finances in spreadsheets. Privacy-conscious — avoids linking bank APIs.</a:t>
            </a:r>
          </a:p>
        </p:txBody>
      </p:sp>
      <p:sp>
        <p:nvSpPr>
          <p:cNvPr id="9" name="Rectangle 8"/>
          <p:cNvSpPr/>
          <p:nvPr/>
        </p:nvSpPr>
        <p:spPr>
          <a:xfrm>
            <a:off x="1463040" y="2852928"/>
            <a:ext cx="1719072" cy="274320"/>
          </a:xfrm>
          <a:prstGeom prst="rect">
            <a:avLst/>
          </a:prstGeom>
          <a:solidFill>
            <a:srgbClr val="0D2A5A"/>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0" name="TextBox 9"/>
          <p:cNvSpPr txBox="1"/>
          <p:nvPr/>
        </p:nvSpPr>
        <p:spPr>
          <a:xfrm>
            <a:off x="1508760" y="2862072"/>
            <a:ext cx="1627632" cy="261610"/>
          </a:xfrm>
          <a:prstGeom prst="rect">
            <a:avLst/>
          </a:prstGeom>
          <a:noFill/>
        </p:spPr>
        <p:txBody>
          <a:bodyPr wrap="square">
            <a:spAutoFit/>
          </a:bodyPr>
          <a:lstStyle/>
          <a:p>
            <a:pPr algn="l"/>
            <a:r>
              <a:rPr sz="1100" b="0" i="0">
                <a:solidFill>
                  <a:srgbClr val="4F8EF7"/>
                </a:solidFill>
                <a:latin typeface="+mj-lt"/>
              </a:rPr>
              <a:t>3–8 accounts</a:t>
            </a:r>
          </a:p>
        </p:txBody>
      </p:sp>
      <p:sp>
        <p:nvSpPr>
          <p:cNvPr id="11" name="Rectangle 10"/>
          <p:cNvSpPr/>
          <p:nvPr/>
        </p:nvSpPr>
        <p:spPr>
          <a:xfrm>
            <a:off x="3291840" y="2852928"/>
            <a:ext cx="1719072" cy="274320"/>
          </a:xfrm>
          <a:prstGeom prst="rect">
            <a:avLst/>
          </a:prstGeom>
          <a:solidFill>
            <a:srgbClr val="0D2A5A"/>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2" name="TextBox 11"/>
          <p:cNvSpPr txBox="1"/>
          <p:nvPr/>
        </p:nvSpPr>
        <p:spPr>
          <a:xfrm>
            <a:off x="3337560" y="2862072"/>
            <a:ext cx="1627632" cy="261610"/>
          </a:xfrm>
          <a:prstGeom prst="rect">
            <a:avLst/>
          </a:prstGeom>
          <a:noFill/>
        </p:spPr>
        <p:txBody>
          <a:bodyPr wrap="square">
            <a:spAutoFit/>
          </a:bodyPr>
          <a:lstStyle/>
          <a:p>
            <a:pPr algn="l"/>
            <a:r>
              <a:rPr sz="1100" b="0" i="0">
                <a:solidFill>
                  <a:srgbClr val="4F8EF7"/>
                </a:solidFill>
                <a:latin typeface="+mj-lt"/>
              </a:rPr>
              <a:t>2+ institutions</a:t>
            </a:r>
          </a:p>
        </p:txBody>
      </p:sp>
      <p:sp>
        <p:nvSpPr>
          <p:cNvPr id="13" name="Rectangle 12"/>
          <p:cNvSpPr/>
          <p:nvPr/>
        </p:nvSpPr>
        <p:spPr>
          <a:xfrm>
            <a:off x="5120640" y="2852928"/>
            <a:ext cx="1719072" cy="274320"/>
          </a:xfrm>
          <a:prstGeom prst="rect">
            <a:avLst/>
          </a:prstGeom>
          <a:solidFill>
            <a:srgbClr val="0D2A5A"/>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4" name="TextBox 13"/>
          <p:cNvSpPr txBox="1"/>
          <p:nvPr/>
        </p:nvSpPr>
        <p:spPr>
          <a:xfrm>
            <a:off x="5166360" y="2862072"/>
            <a:ext cx="1627632" cy="261610"/>
          </a:xfrm>
          <a:prstGeom prst="rect">
            <a:avLst/>
          </a:prstGeom>
          <a:noFill/>
        </p:spPr>
        <p:txBody>
          <a:bodyPr wrap="square">
            <a:spAutoFit/>
          </a:bodyPr>
          <a:lstStyle/>
          <a:p>
            <a:pPr algn="l"/>
            <a:r>
              <a:rPr sz="1100" b="0" i="0">
                <a:solidFill>
                  <a:srgbClr val="4F8EF7"/>
                </a:solidFill>
                <a:latin typeface="+mj-lt"/>
              </a:rPr>
              <a:t>Privacy-conscious</a:t>
            </a:r>
          </a:p>
        </p:txBody>
      </p:sp>
      <p:sp>
        <p:nvSpPr>
          <p:cNvPr id="15" name="Rectangle 14"/>
          <p:cNvSpPr/>
          <p:nvPr/>
        </p:nvSpPr>
        <p:spPr>
          <a:xfrm>
            <a:off x="6949440" y="2852928"/>
            <a:ext cx="1719072" cy="274320"/>
          </a:xfrm>
          <a:prstGeom prst="rect">
            <a:avLst/>
          </a:prstGeom>
          <a:solidFill>
            <a:srgbClr val="0D2A5A"/>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6" name="TextBox 15"/>
          <p:cNvSpPr txBox="1"/>
          <p:nvPr/>
        </p:nvSpPr>
        <p:spPr>
          <a:xfrm>
            <a:off x="6995160" y="2862072"/>
            <a:ext cx="1627632" cy="261610"/>
          </a:xfrm>
          <a:prstGeom prst="rect">
            <a:avLst/>
          </a:prstGeom>
          <a:noFill/>
        </p:spPr>
        <p:txBody>
          <a:bodyPr wrap="square">
            <a:spAutoFit/>
          </a:bodyPr>
          <a:lstStyle/>
          <a:p>
            <a:pPr algn="l"/>
            <a:r>
              <a:rPr sz="1100" b="0" i="0">
                <a:solidFill>
                  <a:srgbClr val="4F8EF7"/>
                </a:solidFill>
                <a:latin typeface="+mj-lt"/>
              </a:rPr>
              <a:t>Spreadsheet refugee</a:t>
            </a:r>
          </a:p>
        </p:txBody>
      </p:sp>
      <p:sp>
        <p:nvSpPr>
          <p:cNvPr id="17" name="Rectangle 16"/>
          <p:cNvSpPr/>
          <p:nvPr/>
        </p:nvSpPr>
        <p:spPr>
          <a:xfrm>
            <a:off x="457200" y="3291840"/>
            <a:ext cx="2633472" cy="13258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8" name="Rectangle 17"/>
          <p:cNvSpPr/>
          <p:nvPr/>
        </p:nvSpPr>
        <p:spPr>
          <a:xfrm>
            <a:off x="457200" y="3291840"/>
            <a:ext cx="2633472" cy="45720"/>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9" name="TextBox 18"/>
          <p:cNvSpPr txBox="1"/>
          <p:nvPr/>
        </p:nvSpPr>
        <p:spPr>
          <a:xfrm>
            <a:off x="566928" y="3383280"/>
            <a:ext cx="2423160" cy="261610"/>
          </a:xfrm>
          <a:prstGeom prst="rect">
            <a:avLst/>
          </a:prstGeom>
          <a:noFill/>
        </p:spPr>
        <p:txBody>
          <a:bodyPr wrap="square">
            <a:spAutoFit/>
          </a:bodyPr>
          <a:lstStyle/>
          <a:p>
            <a:pPr algn="l"/>
            <a:r>
              <a:rPr sz="1100" b="1" i="0">
                <a:solidFill>
                  <a:srgbClr val="FFFFFF"/>
                </a:solidFill>
                <a:latin typeface="+mj-lt"/>
              </a:rPr>
              <a:t>Partner / Co-Parent</a:t>
            </a:r>
          </a:p>
        </p:txBody>
      </p:sp>
      <p:sp>
        <p:nvSpPr>
          <p:cNvPr id="20" name="TextBox 19"/>
          <p:cNvSpPr txBox="1"/>
          <p:nvPr/>
        </p:nvSpPr>
        <p:spPr>
          <a:xfrm>
            <a:off x="566928" y="3657600"/>
            <a:ext cx="2423160" cy="600164"/>
          </a:xfrm>
          <a:prstGeom prst="rect">
            <a:avLst/>
          </a:prstGeom>
          <a:noFill/>
        </p:spPr>
        <p:txBody>
          <a:bodyPr wrap="square">
            <a:spAutoFit/>
          </a:bodyPr>
          <a:lstStyle/>
          <a:p>
            <a:pPr algn="l"/>
            <a:r>
              <a:rPr sz="1100" b="0" i="0">
                <a:solidFill>
                  <a:srgbClr val="94A3B8"/>
                </a:solidFill>
                <a:latin typeface="+mj-lt"/>
              </a:rPr>
              <a:t>"Alex, 36" — earns income, wants visibility.
Enters via household invite.</a:t>
            </a:r>
          </a:p>
        </p:txBody>
      </p:sp>
      <p:sp>
        <p:nvSpPr>
          <p:cNvPr id="21" name="Rectangle 20"/>
          <p:cNvSpPr/>
          <p:nvPr/>
        </p:nvSpPr>
        <p:spPr>
          <a:xfrm>
            <a:off x="3291840" y="3291840"/>
            <a:ext cx="2633472" cy="13258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2" name="Rectangle 21"/>
          <p:cNvSpPr/>
          <p:nvPr/>
        </p:nvSpPr>
        <p:spPr>
          <a:xfrm>
            <a:off x="3291840" y="3291840"/>
            <a:ext cx="2633472"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3" name="TextBox 22"/>
          <p:cNvSpPr txBox="1"/>
          <p:nvPr/>
        </p:nvSpPr>
        <p:spPr>
          <a:xfrm>
            <a:off x="3401568" y="3383280"/>
            <a:ext cx="2423160" cy="261610"/>
          </a:xfrm>
          <a:prstGeom prst="rect">
            <a:avLst/>
          </a:prstGeom>
          <a:noFill/>
        </p:spPr>
        <p:txBody>
          <a:bodyPr wrap="square">
            <a:spAutoFit/>
          </a:bodyPr>
          <a:lstStyle/>
          <a:p>
            <a:pPr algn="l"/>
            <a:r>
              <a:rPr sz="1100" b="1" i="0">
                <a:solidFill>
                  <a:srgbClr val="FFFFFF"/>
                </a:solidFill>
                <a:latin typeface="+mj-lt"/>
              </a:rPr>
              <a:t>Mint Refugees</a:t>
            </a:r>
          </a:p>
        </p:txBody>
      </p:sp>
      <p:sp>
        <p:nvSpPr>
          <p:cNvPr id="24" name="TextBox 23"/>
          <p:cNvSpPr txBox="1"/>
          <p:nvPr/>
        </p:nvSpPr>
        <p:spPr>
          <a:xfrm>
            <a:off x="3401568" y="3657600"/>
            <a:ext cx="2423160" cy="430887"/>
          </a:xfrm>
          <a:prstGeom prst="rect">
            <a:avLst/>
          </a:prstGeom>
          <a:noFill/>
        </p:spPr>
        <p:txBody>
          <a:bodyPr wrap="square">
            <a:spAutoFit/>
          </a:bodyPr>
          <a:lstStyle/>
          <a:p>
            <a:pPr algn="l"/>
            <a:r>
              <a:rPr sz="1100" b="0" i="0">
                <a:solidFill>
                  <a:srgbClr val="94A3B8"/>
                </a:solidFill>
                <a:latin typeface="+mj-lt"/>
              </a:rPr>
              <a:t>20M+ displaced users seeking free,
privacy-respecting replacement.</a:t>
            </a:r>
          </a:p>
        </p:txBody>
      </p:sp>
      <p:sp>
        <p:nvSpPr>
          <p:cNvPr id="25" name="Rectangle 24"/>
          <p:cNvSpPr/>
          <p:nvPr/>
        </p:nvSpPr>
        <p:spPr>
          <a:xfrm>
            <a:off x="6126480" y="3291840"/>
            <a:ext cx="2633472" cy="13258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6" name="Rectangle 25"/>
          <p:cNvSpPr/>
          <p:nvPr/>
        </p:nvSpPr>
        <p:spPr>
          <a:xfrm>
            <a:off x="6126480" y="3291840"/>
            <a:ext cx="2633472"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7" name="TextBox 26"/>
          <p:cNvSpPr txBox="1"/>
          <p:nvPr/>
        </p:nvSpPr>
        <p:spPr>
          <a:xfrm>
            <a:off x="6236208" y="3383280"/>
            <a:ext cx="2423160" cy="261610"/>
          </a:xfrm>
          <a:prstGeom prst="rect">
            <a:avLst/>
          </a:prstGeom>
          <a:noFill/>
        </p:spPr>
        <p:txBody>
          <a:bodyPr wrap="square">
            <a:spAutoFit/>
          </a:bodyPr>
          <a:lstStyle/>
          <a:p>
            <a:pPr algn="l"/>
            <a:r>
              <a:rPr sz="1100" b="1" i="0">
                <a:solidFill>
                  <a:srgbClr val="FFFFFF"/>
                </a:solidFill>
                <a:latin typeface="+mj-lt"/>
              </a:rPr>
              <a:t>Budget-Skeptic</a:t>
            </a:r>
          </a:p>
        </p:txBody>
      </p:sp>
      <p:sp>
        <p:nvSpPr>
          <p:cNvPr id="28" name="TextBox 27"/>
          <p:cNvSpPr txBox="1"/>
          <p:nvPr/>
        </p:nvSpPr>
        <p:spPr>
          <a:xfrm>
            <a:off x="6236208" y="3657600"/>
            <a:ext cx="2423160" cy="430887"/>
          </a:xfrm>
          <a:prstGeom prst="rect">
            <a:avLst/>
          </a:prstGeom>
          <a:noFill/>
        </p:spPr>
        <p:txBody>
          <a:bodyPr wrap="square">
            <a:spAutoFit/>
          </a:bodyPr>
          <a:lstStyle/>
          <a:p>
            <a:pPr algn="l"/>
            <a:r>
              <a:rPr sz="1100" b="0" i="0">
                <a:solidFill>
                  <a:srgbClr val="94A3B8"/>
                </a:solidFill>
                <a:latin typeface="+mj-lt"/>
              </a:rPr>
              <a:t>"Jamie, 42" — triggered by stress;
intimidated by spreadsheets.</a:t>
            </a:r>
          </a:p>
        </p:txBody>
      </p:sp>
      <p:sp>
        <p:nvSpPr>
          <p:cNvPr id="29" name="Rectangle 28"/>
          <p:cNvSpPr/>
          <p:nvPr/>
        </p:nvSpPr>
        <p:spPr>
          <a:xfrm>
            <a:off x="8961120" y="3291840"/>
            <a:ext cx="2633472" cy="13258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30" name="Rectangle 29"/>
          <p:cNvSpPr/>
          <p:nvPr/>
        </p:nvSpPr>
        <p:spPr>
          <a:xfrm>
            <a:off x="8961120" y="3291840"/>
            <a:ext cx="2633472"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31" name="TextBox 30"/>
          <p:cNvSpPr txBox="1"/>
          <p:nvPr/>
        </p:nvSpPr>
        <p:spPr>
          <a:xfrm>
            <a:off x="9070848" y="3383280"/>
            <a:ext cx="2423160" cy="261610"/>
          </a:xfrm>
          <a:prstGeom prst="rect">
            <a:avLst/>
          </a:prstGeom>
          <a:noFill/>
        </p:spPr>
        <p:txBody>
          <a:bodyPr wrap="square">
            <a:spAutoFit/>
          </a:bodyPr>
          <a:lstStyle/>
          <a:p>
            <a:pPr algn="l"/>
            <a:r>
              <a:rPr sz="1100" b="1" i="0">
                <a:solidFill>
                  <a:srgbClr val="FFFFFF"/>
                </a:solidFill>
                <a:latin typeface="+mj-lt"/>
              </a:rPr>
              <a:t>Privacy-First Pros</a:t>
            </a:r>
          </a:p>
        </p:txBody>
      </p:sp>
      <p:sp>
        <p:nvSpPr>
          <p:cNvPr id="32" name="TextBox 31"/>
          <p:cNvSpPr txBox="1"/>
          <p:nvPr/>
        </p:nvSpPr>
        <p:spPr>
          <a:xfrm>
            <a:off x="9070848" y="3657600"/>
            <a:ext cx="2423160" cy="600164"/>
          </a:xfrm>
          <a:prstGeom prst="rect">
            <a:avLst/>
          </a:prstGeom>
          <a:noFill/>
        </p:spPr>
        <p:txBody>
          <a:bodyPr wrap="square">
            <a:spAutoFit/>
          </a:bodyPr>
          <a:lstStyle/>
          <a:p>
            <a:pPr algn="l"/>
            <a:r>
              <a:rPr sz="1100" b="0" i="0">
                <a:solidFill>
                  <a:srgbClr val="94A3B8"/>
                </a:solidFill>
                <a:latin typeface="+mj-lt"/>
              </a:rPr>
              <a:t>Tech, healthcare, legal — high trust bar;
willing to pay premium.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MARKET OPPORTUNITY</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TAM · SAM · SOM</a:t>
            </a:r>
          </a:p>
        </p:txBody>
      </p:sp>
      <p:sp>
        <p:nvSpPr>
          <p:cNvPr id="4" name="Oval 3"/>
          <p:cNvSpPr/>
          <p:nvPr/>
        </p:nvSpPr>
        <p:spPr>
          <a:xfrm>
            <a:off x="1280160" y="1463040"/>
            <a:ext cx="4572000" cy="4572000"/>
          </a:xfrm>
          <a:prstGeom prst="ellipse">
            <a:avLst/>
          </a:prstGeom>
          <a:solidFill>
            <a:srgbClr val="1A1035"/>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834640" y="3246120"/>
            <a:ext cx="1463040" cy="256032"/>
          </a:xfrm>
          <a:prstGeom prst="rect">
            <a:avLst/>
          </a:prstGeom>
          <a:noFill/>
        </p:spPr>
        <p:txBody>
          <a:bodyPr wrap="square">
            <a:spAutoFit/>
          </a:bodyPr>
          <a:lstStyle/>
          <a:p>
            <a:pPr algn="ctr"/>
            <a:r>
              <a:rPr sz="1000" b="1" i="0">
                <a:solidFill>
                  <a:srgbClr val="7C3AED"/>
                </a:solidFill>
                <a:latin typeface="Calibri"/>
              </a:rPr>
              <a:t>TAM</a:t>
            </a:r>
          </a:p>
        </p:txBody>
      </p:sp>
      <p:sp>
        <p:nvSpPr>
          <p:cNvPr id="6" name="TextBox 5"/>
          <p:cNvSpPr txBox="1"/>
          <p:nvPr/>
        </p:nvSpPr>
        <p:spPr>
          <a:xfrm>
            <a:off x="2834640" y="3493008"/>
            <a:ext cx="1463040" cy="457200"/>
          </a:xfrm>
          <a:prstGeom prst="rect">
            <a:avLst/>
          </a:prstGeom>
          <a:noFill/>
        </p:spPr>
        <p:txBody>
          <a:bodyPr wrap="square">
            <a:spAutoFit/>
          </a:bodyPr>
          <a:lstStyle/>
          <a:p>
            <a:pPr algn="ctr"/>
            <a:r>
              <a:rPr sz="2200" b="1" i="0">
                <a:solidFill>
                  <a:srgbClr val="FFFFFF"/>
                </a:solidFill>
                <a:latin typeface="Calibri"/>
              </a:rPr>
              <a:t>45M</a:t>
            </a:r>
          </a:p>
        </p:txBody>
      </p:sp>
      <p:sp>
        <p:nvSpPr>
          <p:cNvPr id="7" name="TextBox 6"/>
          <p:cNvSpPr txBox="1"/>
          <p:nvPr/>
        </p:nvSpPr>
        <p:spPr>
          <a:xfrm>
            <a:off x="2834640" y="3913632"/>
            <a:ext cx="1463040" cy="256032"/>
          </a:xfrm>
          <a:prstGeom prst="rect">
            <a:avLst/>
          </a:prstGeom>
          <a:noFill/>
        </p:spPr>
        <p:txBody>
          <a:bodyPr wrap="square">
            <a:spAutoFit/>
          </a:bodyPr>
          <a:lstStyle/>
          <a:p>
            <a:pPr algn="ctr"/>
            <a:r>
              <a:rPr sz="900" b="0" i="0">
                <a:solidFill>
                  <a:srgbClr val="94A3B8"/>
                </a:solidFill>
                <a:latin typeface="Calibri"/>
              </a:rPr>
              <a:t>US dual-income households</a:t>
            </a:r>
          </a:p>
        </p:txBody>
      </p:sp>
      <p:sp>
        <p:nvSpPr>
          <p:cNvPr id="8" name="Oval 7"/>
          <p:cNvSpPr/>
          <p:nvPr/>
        </p:nvSpPr>
        <p:spPr>
          <a:xfrm>
            <a:off x="1965960" y="2057400"/>
            <a:ext cx="3200400" cy="3200400"/>
          </a:xfrm>
          <a:prstGeom prst="ellipse">
            <a:avLst/>
          </a:prstGeom>
          <a:solidFill>
            <a:srgbClr val="0D1A38"/>
          </a:solidFill>
          <a:ln w="1905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34640" y="3154680"/>
            <a:ext cx="1463040" cy="256032"/>
          </a:xfrm>
          <a:prstGeom prst="rect">
            <a:avLst/>
          </a:prstGeom>
          <a:noFill/>
        </p:spPr>
        <p:txBody>
          <a:bodyPr wrap="square">
            <a:spAutoFit/>
          </a:bodyPr>
          <a:lstStyle/>
          <a:p>
            <a:pPr algn="ctr"/>
            <a:r>
              <a:rPr sz="1000" b="1" i="0">
                <a:solidFill>
                  <a:srgbClr val="4F8EF7"/>
                </a:solidFill>
                <a:latin typeface="Calibri"/>
              </a:rPr>
              <a:t>SAM</a:t>
            </a:r>
          </a:p>
        </p:txBody>
      </p:sp>
      <p:sp>
        <p:nvSpPr>
          <p:cNvPr id="10" name="TextBox 9"/>
          <p:cNvSpPr txBox="1"/>
          <p:nvPr/>
        </p:nvSpPr>
        <p:spPr>
          <a:xfrm>
            <a:off x="2834640" y="3401568"/>
            <a:ext cx="1463040" cy="457200"/>
          </a:xfrm>
          <a:prstGeom prst="rect">
            <a:avLst/>
          </a:prstGeom>
          <a:noFill/>
        </p:spPr>
        <p:txBody>
          <a:bodyPr wrap="square">
            <a:spAutoFit/>
          </a:bodyPr>
          <a:lstStyle/>
          <a:p>
            <a:pPr algn="ctr"/>
            <a:r>
              <a:rPr sz="2200" b="1" i="0">
                <a:solidFill>
                  <a:srgbClr val="FFFFFF"/>
                </a:solidFill>
                <a:latin typeface="Calibri"/>
              </a:rPr>
              <a:t>12M</a:t>
            </a:r>
          </a:p>
        </p:txBody>
      </p:sp>
      <p:sp>
        <p:nvSpPr>
          <p:cNvPr id="11" name="TextBox 10"/>
          <p:cNvSpPr txBox="1"/>
          <p:nvPr/>
        </p:nvSpPr>
        <p:spPr>
          <a:xfrm>
            <a:off x="2834640" y="3822192"/>
            <a:ext cx="1463040" cy="256032"/>
          </a:xfrm>
          <a:prstGeom prst="rect">
            <a:avLst/>
          </a:prstGeom>
          <a:noFill/>
        </p:spPr>
        <p:txBody>
          <a:bodyPr wrap="square">
            <a:spAutoFit/>
          </a:bodyPr>
          <a:lstStyle/>
          <a:p>
            <a:pPr algn="ctr"/>
            <a:r>
              <a:rPr sz="900" b="0" i="0">
                <a:solidFill>
                  <a:srgbClr val="94A3B8"/>
                </a:solidFill>
                <a:latin typeface="Calibri"/>
              </a:rPr>
              <a:t>Actively budgeting</a:t>
            </a:r>
          </a:p>
        </p:txBody>
      </p:sp>
      <p:sp>
        <p:nvSpPr>
          <p:cNvPr id="12" name="Oval 11"/>
          <p:cNvSpPr/>
          <p:nvPr/>
        </p:nvSpPr>
        <p:spPr>
          <a:xfrm>
            <a:off x="2834640" y="2834640"/>
            <a:ext cx="1463040" cy="1463040"/>
          </a:xfrm>
          <a:prstGeom prst="ellipse">
            <a:avLst/>
          </a:prstGeom>
          <a:solidFill>
            <a:srgbClr val="082218"/>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34640" y="3063240"/>
            <a:ext cx="1463040" cy="256032"/>
          </a:xfrm>
          <a:prstGeom prst="rect">
            <a:avLst/>
          </a:prstGeom>
          <a:noFill/>
        </p:spPr>
        <p:txBody>
          <a:bodyPr wrap="square">
            <a:spAutoFit/>
          </a:bodyPr>
          <a:lstStyle/>
          <a:p>
            <a:pPr algn="ctr"/>
            <a:r>
              <a:rPr sz="1000" b="1" i="0">
                <a:solidFill>
                  <a:srgbClr val="22C55E"/>
                </a:solidFill>
                <a:latin typeface="Calibri"/>
              </a:rPr>
              <a:t>SOM Y3</a:t>
            </a:r>
          </a:p>
        </p:txBody>
      </p:sp>
      <p:sp>
        <p:nvSpPr>
          <p:cNvPr id="14" name="TextBox 13"/>
          <p:cNvSpPr txBox="1"/>
          <p:nvPr/>
        </p:nvSpPr>
        <p:spPr>
          <a:xfrm>
            <a:off x="2834640" y="3310128"/>
            <a:ext cx="1463040" cy="457200"/>
          </a:xfrm>
          <a:prstGeom prst="rect">
            <a:avLst/>
          </a:prstGeom>
          <a:noFill/>
        </p:spPr>
        <p:txBody>
          <a:bodyPr wrap="square">
            <a:spAutoFit/>
          </a:bodyPr>
          <a:lstStyle/>
          <a:p>
            <a:pPr algn="ctr"/>
            <a:r>
              <a:rPr sz="2200" b="1" i="0">
                <a:solidFill>
                  <a:srgbClr val="FFFFFF"/>
                </a:solidFill>
                <a:latin typeface="Calibri"/>
              </a:rPr>
              <a:t>150K</a:t>
            </a:r>
          </a:p>
        </p:txBody>
      </p:sp>
      <p:sp>
        <p:nvSpPr>
          <p:cNvPr id="15" name="TextBox 14"/>
          <p:cNvSpPr txBox="1"/>
          <p:nvPr/>
        </p:nvSpPr>
        <p:spPr>
          <a:xfrm>
            <a:off x="2834640" y="3730752"/>
            <a:ext cx="1463040" cy="256032"/>
          </a:xfrm>
          <a:prstGeom prst="rect">
            <a:avLst/>
          </a:prstGeom>
          <a:noFill/>
        </p:spPr>
        <p:txBody>
          <a:bodyPr wrap="square">
            <a:spAutoFit/>
          </a:bodyPr>
          <a:lstStyle/>
          <a:p>
            <a:pPr algn="ctr"/>
            <a:r>
              <a:rPr sz="900" b="0" i="0">
                <a:solidFill>
                  <a:srgbClr val="94A3B8"/>
                </a:solidFill>
                <a:latin typeface="Calibri"/>
              </a:rPr>
              <a:t>Paying households</a:t>
            </a:r>
          </a:p>
        </p:txBody>
      </p:sp>
      <p:sp>
        <p:nvSpPr>
          <p:cNvPr id="16" name="Rectangle 15"/>
          <p:cNvSpPr/>
          <p:nvPr/>
        </p:nvSpPr>
        <p:spPr>
          <a:xfrm>
            <a:off x="6766560" y="1828800"/>
            <a:ext cx="3200400" cy="107899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60" y="1938528"/>
            <a:ext cx="3200400" cy="502920"/>
          </a:xfrm>
          <a:prstGeom prst="rect">
            <a:avLst/>
          </a:prstGeom>
          <a:noFill/>
        </p:spPr>
        <p:txBody>
          <a:bodyPr wrap="square">
            <a:spAutoFit/>
          </a:bodyPr>
          <a:lstStyle/>
          <a:p>
            <a:pPr algn="ctr"/>
            <a:r>
              <a:rPr sz="2800" b="1" i="0">
                <a:solidFill>
                  <a:srgbClr val="7C3AED"/>
                </a:solidFill>
                <a:latin typeface="Calibri"/>
              </a:rPr>
              <a:t>$8–15/mo</a:t>
            </a:r>
          </a:p>
        </p:txBody>
      </p:sp>
      <p:sp>
        <p:nvSpPr>
          <p:cNvPr id="18" name="TextBox 17"/>
          <p:cNvSpPr txBox="1"/>
          <p:nvPr/>
        </p:nvSpPr>
        <p:spPr>
          <a:xfrm>
            <a:off x="6766560" y="2423160"/>
            <a:ext cx="3200400" cy="320040"/>
          </a:xfrm>
          <a:prstGeom prst="rect">
            <a:avLst/>
          </a:prstGeom>
          <a:noFill/>
        </p:spPr>
        <p:txBody>
          <a:bodyPr wrap="square">
            <a:spAutoFit/>
          </a:bodyPr>
          <a:lstStyle/>
          <a:p>
            <a:pPr algn="ctr"/>
            <a:r>
              <a:rPr sz="1100" b="0" i="0">
                <a:solidFill>
                  <a:srgbClr val="94A3B8"/>
                </a:solidFill>
                <a:latin typeface="Calibri"/>
              </a:rPr>
              <a:t>ARPU target</a:t>
            </a:r>
          </a:p>
        </p:txBody>
      </p:sp>
      <p:sp>
        <p:nvSpPr>
          <p:cNvPr id="19" name="Rectangle 18"/>
          <p:cNvSpPr/>
          <p:nvPr/>
        </p:nvSpPr>
        <p:spPr>
          <a:xfrm>
            <a:off x="6766560" y="3154680"/>
            <a:ext cx="3200400" cy="107899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66560" y="3264408"/>
            <a:ext cx="3200400" cy="502920"/>
          </a:xfrm>
          <a:prstGeom prst="rect">
            <a:avLst/>
          </a:prstGeom>
          <a:noFill/>
        </p:spPr>
        <p:txBody>
          <a:bodyPr wrap="square">
            <a:spAutoFit/>
          </a:bodyPr>
          <a:lstStyle/>
          <a:p>
            <a:pPr algn="ctr"/>
            <a:r>
              <a:rPr sz="2800" b="1" i="0">
                <a:solidFill>
                  <a:srgbClr val="4F8EF7"/>
                </a:solidFill>
                <a:latin typeface="Calibri"/>
              </a:rPr>
              <a:t>5%</a:t>
            </a:r>
          </a:p>
        </p:txBody>
      </p:sp>
      <p:sp>
        <p:nvSpPr>
          <p:cNvPr id="21" name="TextBox 20"/>
          <p:cNvSpPr txBox="1"/>
          <p:nvPr/>
        </p:nvSpPr>
        <p:spPr>
          <a:xfrm>
            <a:off x="6766560" y="3749040"/>
            <a:ext cx="3200400" cy="320040"/>
          </a:xfrm>
          <a:prstGeom prst="rect">
            <a:avLst/>
          </a:prstGeom>
          <a:noFill/>
        </p:spPr>
        <p:txBody>
          <a:bodyPr wrap="square">
            <a:spAutoFit/>
          </a:bodyPr>
          <a:lstStyle/>
          <a:p>
            <a:pPr algn="ctr"/>
            <a:r>
              <a:rPr sz="1100" b="0" i="0">
                <a:solidFill>
                  <a:srgbClr val="94A3B8"/>
                </a:solidFill>
                <a:latin typeface="Calibri"/>
              </a:rPr>
              <a:t>Free → Premium</a:t>
            </a:r>
          </a:p>
        </p:txBody>
      </p:sp>
      <p:sp>
        <p:nvSpPr>
          <p:cNvPr id="22" name="Rectangle 21"/>
          <p:cNvSpPr/>
          <p:nvPr/>
        </p:nvSpPr>
        <p:spPr>
          <a:xfrm>
            <a:off x="6766560" y="4480560"/>
            <a:ext cx="3200400" cy="107899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0" y="4590288"/>
            <a:ext cx="3200400" cy="502920"/>
          </a:xfrm>
          <a:prstGeom prst="rect">
            <a:avLst/>
          </a:prstGeom>
          <a:noFill/>
        </p:spPr>
        <p:txBody>
          <a:bodyPr wrap="square">
            <a:spAutoFit/>
          </a:bodyPr>
          <a:lstStyle/>
          <a:p>
            <a:pPr algn="ctr"/>
            <a:r>
              <a:rPr sz="2800" b="1" i="0">
                <a:solidFill>
                  <a:srgbClr val="22C55E"/>
                </a:solidFill>
                <a:latin typeface="Calibri"/>
              </a:rPr>
              <a:t>40%</a:t>
            </a:r>
          </a:p>
        </p:txBody>
      </p:sp>
      <p:sp>
        <p:nvSpPr>
          <p:cNvPr id="24" name="TextBox 23"/>
          <p:cNvSpPr txBox="1"/>
          <p:nvPr/>
        </p:nvSpPr>
        <p:spPr>
          <a:xfrm>
            <a:off x="6766560" y="5074920"/>
            <a:ext cx="3200400" cy="320040"/>
          </a:xfrm>
          <a:prstGeom prst="rect">
            <a:avLst/>
          </a:prstGeom>
          <a:noFill/>
        </p:spPr>
        <p:txBody>
          <a:bodyPr wrap="square">
            <a:spAutoFit/>
          </a:bodyPr>
          <a:lstStyle/>
          <a:p>
            <a:pPr algn="ctr"/>
            <a:r>
              <a:rPr sz="1100" b="0" i="0">
                <a:solidFill>
                  <a:srgbClr val="94A3B8"/>
                </a:solidFill>
                <a:latin typeface="Calibri"/>
              </a:rPr>
              <a:t>90-day retention</a:t>
            </a:r>
          </a:p>
        </p:txBody>
      </p:sp>
      <p:sp>
        <p:nvSpPr>
          <p:cNvPr id="25" name="TextBox 24"/>
          <p:cNvSpPr txBox="1"/>
          <p:nvPr/>
        </p:nvSpPr>
        <p:spPr>
          <a:xfrm>
            <a:off x="6583680" y="5852160"/>
            <a:ext cx="3566160" cy="365760"/>
          </a:xfrm>
          <a:prstGeom prst="rect">
            <a:avLst/>
          </a:prstGeom>
          <a:noFill/>
        </p:spPr>
        <p:txBody>
          <a:bodyPr wrap="square">
            <a:spAutoFit/>
          </a:bodyPr>
          <a:lstStyle/>
          <a:p>
            <a:pPr algn="ctr"/>
            <a:r>
              <a:rPr sz="1000" b="0" i="0">
                <a:solidFill>
                  <a:srgbClr val="94A3B8"/>
                </a:solidFill>
                <a:latin typeface="Calibri"/>
              </a:rPr>
              <a:t>Seed target: 0.4–1.2% of SAM at $8–12/mo ARPU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61610"/>
          </a:xfrm>
          <a:prstGeom prst="rect">
            <a:avLst/>
          </a:prstGeom>
          <a:noFill/>
        </p:spPr>
        <p:txBody>
          <a:bodyPr wrap="square">
            <a:spAutoFit/>
          </a:bodyPr>
          <a:lstStyle/>
          <a:p>
            <a:pPr algn="l"/>
            <a:r>
              <a:rPr sz="1100" b="1" i="0">
                <a:solidFill>
                  <a:srgbClr val="4F8EF7"/>
                </a:solidFill>
                <a:latin typeface="+mj-lt"/>
              </a:rPr>
              <a:t>CUSTOMER PAIN POINTS</a:t>
            </a:r>
          </a:p>
        </p:txBody>
      </p:sp>
      <p:sp>
        <p:nvSpPr>
          <p:cNvPr id="3" name="TextBox 2"/>
          <p:cNvSpPr txBox="1"/>
          <p:nvPr/>
        </p:nvSpPr>
        <p:spPr>
          <a:xfrm>
            <a:off x="457200" y="603504"/>
            <a:ext cx="10970056" cy="261610"/>
          </a:xfrm>
          <a:prstGeom prst="rect">
            <a:avLst/>
          </a:prstGeom>
          <a:noFill/>
        </p:spPr>
        <p:txBody>
          <a:bodyPr wrap="square">
            <a:spAutoFit/>
          </a:bodyPr>
          <a:lstStyle/>
          <a:p>
            <a:pPr algn="l"/>
            <a:r>
              <a:rPr sz="1100" b="1" i="0">
                <a:solidFill>
                  <a:srgbClr val="FFFFFF"/>
                </a:solidFill>
                <a:latin typeface="+mj-lt"/>
              </a:rPr>
              <a:t>9 reasons families give up on budgeting</a:t>
            </a:r>
          </a:p>
        </p:txBody>
      </p:sp>
      <p:sp>
        <p:nvSpPr>
          <p:cNvPr id="4" name="Rectangle 3"/>
          <p:cNvSpPr/>
          <p:nvPr/>
        </p:nvSpPr>
        <p:spPr>
          <a:xfrm>
            <a:off x="457200" y="1664208"/>
            <a:ext cx="3749039"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5" name="Rectangle 4"/>
          <p:cNvSpPr/>
          <p:nvPr/>
        </p:nvSpPr>
        <p:spPr>
          <a:xfrm>
            <a:off x="457200" y="1664208"/>
            <a:ext cx="3749039" cy="1234440"/>
          </a:xfrm>
          <a:prstGeom prst="rect">
            <a:avLst/>
          </a:prstGeom>
          <a:no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6" name="Rectangle 5"/>
          <p:cNvSpPr/>
          <p:nvPr/>
        </p:nvSpPr>
        <p:spPr>
          <a:xfrm>
            <a:off x="457200" y="1664208"/>
            <a:ext cx="54864"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7" name="TextBox 6"/>
          <p:cNvSpPr txBox="1"/>
          <p:nvPr/>
        </p:nvSpPr>
        <p:spPr>
          <a:xfrm>
            <a:off x="594360" y="1755648"/>
            <a:ext cx="3566159" cy="261610"/>
          </a:xfrm>
          <a:prstGeom prst="rect">
            <a:avLst/>
          </a:prstGeom>
          <a:noFill/>
        </p:spPr>
        <p:txBody>
          <a:bodyPr wrap="square">
            <a:spAutoFit/>
          </a:bodyPr>
          <a:lstStyle/>
          <a:p>
            <a:pPr algn="l"/>
            <a:r>
              <a:rPr sz="1100" b="1" i="0">
                <a:solidFill>
                  <a:srgbClr val="FFFFFF"/>
                </a:solidFill>
                <a:latin typeface="+mj-lt"/>
              </a:rPr>
              <a:t>🧩 Fragmented Data</a:t>
            </a:r>
          </a:p>
        </p:txBody>
      </p:sp>
      <p:sp>
        <p:nvSpPr>
          <p:cNvPr id="8" name="TextBox 7"/>
          <p:cNvSpPr txBox="1"/>
          <p:nvPr/>
        </p:nvSpPr>
        <p:spPr>
          <a:xfrm>
            <a:off x="594360" y="2039112"/>
            <a:ext cx="3566159" cy="261610"/>
          </a:xfrm>
          <a:prstGeom prst="rect">
            <a:avLst/>
          </a:prstGeom>
          <a:noFill/>
        </p:spPr>
        <p:txBody>
          <a:bodyPr wrap="square">
            <a:spAutoFit/>
          </a:bodyPr>
          <a:lstStyle/>
          <a:p>
            <a:pPr algn="l"/>
            <a:r>
              <a:rPr sz="1100" b="0" i="0">
                <a:solidFill>
                  <a:srgbClr val="94A3B8"/>
                </a:solidFill>
                <a:latin typeface="+mj-lt"/>
              </a:rPr>
              <a:t>Statements scattered across email, portals, card apps.</a:t>
            </a:r>
          </a:p>
        </p:txBody>
      </p:sp>
      <p:sp>
        <p:nvSpPr>
          <p:cNvPr id="9" name="TextBox 8"/>
          <p:cNvSpPr txBox="1"/>
          <p:nvPr/>
        </p:nvSpPr>
        <p:spPr>
          <a:xfrm>
            <a:off x="594360" y="2560320"/>
            <a:ext cx="3566159" cy="261610"/>
          </a:xfrm>
          <a:prstGeom prst="rect">
            <a:avLst/>
          </a:prstGeom>
          <a:noFill/>
        </p:spPr>
        <p:txBody>
          <a:bodyPr wrap="square">
            <a:spAutoFit/>
          </a:bodyPr>
          <a:lstStyle/>
          <a:p>
            <a:pPr algn="l"/>
            <a:r>
              <a:rPr sz="1100" b="0" i="0">
                <a:solidFill>
                  <a:srgbClr val="F59E0B"/>
                </a:solidFill>
                <a:latin typeface="+mj-lt"/>
              </a:rPr>
              <a:t>⏱ 2+ hrs/month manual consolidation</a:t>
            </a:r>
          </a:p>
        </p:txBody>
      </p:sp>
      <p:sp>
        <p:nvSpPr>
          <p:cNvPr id="10" name="Rectangle 9"/>
          <p:cNvSpPr/>
          <p:nvPr/>
        </p:nvSpPr>
        <p:spPr>
          <a:xfrm>
            <a:off x="4334255" y="1664208"/>
            <a:ext cx="3749039"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1" name="Rectangle 10"/>
          <p:cNvSpPr/>
          <p:nvPr/>
        </p:nvSpPr>
        <p:spPr>
          <a:xfrm>
            <a:off x="4334255" y="1664208"/>
            <a:ext cx="3749039" cy="1234440"/>
          </a:xfrm>
          <a:prstGeom prst="rect">
            <a:avLst/>
          </a:prstGeom>
          <a:no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2" name="Rectangle 11"/>
          <p:cNvSpPr/>
          <p:nvPr/>
        </p:nvSpPr>
        <p:spPr>
          <a:xfrm>
            <a:off x="4334255" y="1664208"/>
            <a:ext cx="54864"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3" name="TextBox 12"/>
          <p:cNvSpPr txBox="1"/>
          <p:nvPr/>
        </p:nvSpPr>
        <p:spPr>
          <a:xfrm>
            <a:off x="4471415" y="1755648"/>
            <a:ext cx="3566159" cy="261610"/>
          </a:xfrm>
          <a:prstGeom prst="rect">
            <a:avLst/>
          </a:prstGeom>
          <a:noFill/>
        </p:spPr>
        <p:txBody>
          <a:bodyPr wrap="square">
            <a:spAutoFit/>
          </a:bodyPr>
          <a:lstStyle/>
          <a:p>
            <a:pPr algn="l"/>
            <a:r>
              <a:rPr sz="1100" b="1" i="0">
                <a:solidFill>
                  <a:srgbClr val="FFFFFF"/>
                </a:solidFill>
                <a:latin typeface="+mj-lt"/>
              </a:rPr>
              <a:t>📋 Manual Overhead</a:t>
            </a:r>
          </a:p>
        </p:txBody>
      </p:sp>
      <p:sp>
        <p:nvSpPr>
          <p:cNvPr id="14" name="TextBox 13"/>
          <p:cNvSpPr txBox="1"/>
          <p:nvPr/>
        </p:nvSpPr>
        <p:spPr>
          <a:xfrm>
            <a:off x="4471415" y="2039112"/>
            <a:ext cx="3566159" cy="261610"/>
          </a:xfrm>
          <a:prstGeom prst="rect">
            <a:avLst/>
          </a:prstGeom>
          <a:noFill/>
        </p:spPr>
        <p:txBody>
          <a:bodyPr wrap="square">
            <a:spAutoFit/>
          </a:bodyPr>
          <a:lstStyle/>
          <a:p>
            <a:pPr algn="l"/>
            <a:r>
              <a:rPr sz="1100" b="0" i="0">
                <a:solidFill>
                  <a:srgbClr val="94A3B8"/>
                </a:solidFill>
                <a:latin typeface="+mj-lt"/>
              </a:rPr>
              <a:t>Copy-paste into spreadsheets. Abandon after 2–3 months.</a:t>
            </a:r>
          </a:p>
        </p:txBody>
      </p:sp>
      <p:sp>
        <p:nvSpPr>
          <p:cNvPr id="15" name="TextBox 14"/>
          <p:cNvSpPr txBox="1"/>
          <p:nvPr/>
        </p:nvSpPr>
        <p:spPr>
          <a:xfrm>
            <a:off x="4471415" y="2560320"/>
            <a:ext cx="3566159" cy="261610"/>
          </a:xfrm>
          <a:prstGeom prst="rect">
            <a:avLst/>
          </a:prstGeom>
          <a:noFill/>
        </p:spPr>
        <p:txBody>
          <a:bodyPr wrap="square">
            <a:spAutoFit/>
          </a:bodyPr>
          <a:lstStyle/>
          <a:p>
            <a:pPr algn="l"/>
            <a:r>
              <a:rPr sz="1100" b="0" i="0">
                <a:solidFill>
                  <a:srgbClr val="F59E0B"/>
                </a:solidFill>
                <a:latin typeface="+mj-lt"/>
              </a:rPr>
              <a:t>🔄 High churn for DIY solutions</a:t>
            </a:r>
          </a:p>
        </p:txBody>
      </p:sp>
      <p:sp>
        <p:nvSpPr>
          <p:cNvPr id="16" name="Rectangle 15"/>
          <p:cNvSpPr/>
          <p:nvPr/>
        </p:nvSpPr>
        <p:spPr>
          <a:xfrm>
            <a:off x="8211310" y="1664208"/>
            <a:ext cx="3749039"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7" name="Rectangle 16"/>
          <p:cNvSpPr/>
          <p:nvPr/>
        </p:nvSpPr>
        <p:spPr>
          <a:xfrm>
            <a:off x="8211310" y="1664208"/>
            <a:ext cx="3749039" cy="1234440"/>
          </a:xfrm>
          <a:prstGeom prst="rect">
            <a:avLst/>
          </a:prstGeom>
          <a:no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8" name="Rectangle 17"/>
          <p:cNvSpPr/>
          <p:nvPr/>
        </p:nvSpPr>
        <p:spPr>
          <a:xfrm>
            <a:off x="8211310" y="1664208"/>
            <a:ext cx="54864"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9" name="TextBox 18"/>
          <p:cNvSpPr txBox="1"/>
          <p:nvPr/>
        </p:nvSpPr>
        <p:spPr>
          <a:xfrm>
            <a:off x="8348470" y="1755648"/>
            <a:ext cx="3566159" cy="261610"/>
          </a:xfrm>
          <a:prstGeom prst="rect">
            <a:avLst/>
          </a:prstGeom>
          <a:noFill/>
        </p:spPr>
        <p:txBody>
          <a:bodyPr wrap="square">
            <a:spAutoFit/>
          </a:bodyPr>
          <a:lstStyle/>
          <a:p>
            <a:pPr algn="l"/>
            <a:r>
              <a:rPr sz="1100" b="1" i="0">
                <a:solidFill>
                  <a:srgbClr val="FFFFFF"/>
                </a:solidFill>
                <a:latin typeface="+mj-lt"/>
              </a:rPr>
              <a:t>👤 Individual-First</a:t>
            </a:r>
          </a:p>
        </p:txBody>
      </p:sp>
      <p:sp>
        <p:nvSpPr>
          <p:cNvPr id="20" name="TextBox 19"/>
          <p:cNvSpPr txBox="1"/>
          <p:nvPr/>
        </p:nvSpPr>
        <p:spPr>
          <a:xfrm>
            <a:off x="8348470" y="2039112"/>
            <a:ext cx="3566159" cy="261610"/>
          </a:xfrm>
          <a:prstGeom prst="rect">
            <a:avLst/>
          </a:prstGeom>
          <a:noFill/>
        </p:spPr>
        <p:txBody>
          <a:bodyPr wrap="square">
            <a:spAutoFit/>
          </a:bodyPr>
          <a:lstStyle/>
          <a:p>
            <a:pPr algn="l"/>
            <a:r>
              <a:rPr sz="1100" b="0" i="0">
                <a:solidFill>
                  <a:srgbClr val="94A3B8"/>
                </a:solidFill>
                <a:latin typeface="+mj-lt"/>
              </a:rPr>
              <a:t>Mint, YNAB, Copilot assume one person. Partners excluded.</a:t>
            </a:r>
          </a:p>
        </p:txBody>
      </p:sp>
      <p:sp>
        <p:nvSpPr>
          <p:cNvPr id="21" name="TextBox 20"/>
          <p:cNvSpPr txBox="1"/>
          <p:nvPr/>
        </p:nvSpPr>
        <p:spPr>
          <a:xfrm>
            <a:off x="8348470" y="2560320"/>
            <a:ext cx="3566159" cy="261610"/>
          </a:xfrm>
          <a:prstGeom prst="rect">
            <a:avLst/>
          </a:prstGeom>
          <a:noFill/>
        </p:spPr>
        <p:txBody>
          <a:bodyPr wrap="square">
            <a:spAutoFit/>
          </a:bodyPr>
          <a:lstStyle/>
          <a:p>
            <a:pPr algn="l"/>
            <a:r>
              <a:rPr sz="1100" b="0" i="0">
                <a:solidFill>
                  <a:srgbClr val="F59E0B"/>
                </a:solidFill>
                <a:latin typeface="+mj-lt"/>
              </a:rPr>
              <a:t>📉 Low household adoption</a:t>
            </a:r>
          </a:p>
        </p:txBody>
      </p:sp>
      <p:sp>
        <p:nvSpPr>
          <p:cNvPr id="22" name="Rectangle 21"/>
          <p:cNvSpPr/>
          <p:nvPr/>
        </p:nvSpPr>
        <p:spPr>
          <a:xfrm>
            <a:off x="457200" y="2990088"/>
            <a:ext cx="3749039"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3" name="Rectangle 22"/>
          <p:cNvSpPr/>
          <p:nvPr/>
        </p:nvSpPr>
        <p:spPr>
          <a:xfrm>
            <a:off x="457200" y="2990088"/>
            <a:ext cx="3749039" cy="1234440"/>
          </a:xfrm>
          <a:prstGeom prst="rect">
            <a:avLst/>
          </a:prstGeom>
          <a:no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4" name="Rectangle 23"/>
          <p:cNvSpPr/>
          <p:nvPr/>
        </p:nvSpPr>
        <p:spPr>
          <a:xfrm>
            <a:off x="457200" y="2990088"/>
            <a:ext cx="54864"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5" name="TextBox 24"/>
          <p:cNvSpPr txBox="1"/>
          <p:nvPr/>
        </p:nvSpPr>
        <p:spPr>
          <a:xfrm>
            <a:off x="594360" y="3081528"/>
            <a:ext cx="3566159" cy="261610"/>
          </a:xfrm>
          <a:prstGeom prst="rect">
            <a:avLst/>
          </a:prstGeom>
          <a:noFill/>
        </p:spPr>
        <p:txBody>
          <a:bodyPr wrap="square">
            <a:spAutoFit/>
          </a:bodyPr>
          <a:lstStyle/>
          <a:p>
            <a:pPr algn="l"/>
            <a:r>
              <a:rPr sz="1100" b="1" i="0">
                <a:solidFill>
                  <a:srgbClr val="FFFFFF"/>
                </a:solidFill>
                <a:latin typeface="+mj-lt"/>
              </a:rPr>
              <a:t>📉 Unrealistic Budgets</a:t>
            </a:r>
          </a:p>
        </p:txBody>
      </p:sp>
      <p:sp>
        <p:nvSpPr>
          <p:cNvPr id="26" name="TextBox 25"/>
          <p:cNvSpPr txBox="1"/>
          <p:nvPr/>
        </p:nvSpPr>
        <p:spPr>
          <a:xfrm>
            <a:off x="594360" y="3364992"/>
            <a:ext cx="3566159" cy="261610"/>
          </a:xfrm>
          <a:prstGeom prst="rect">
            <a:avLst/>
          </a:prstGeom>
          <a:noFill/>
        </p:spPr>
        <p:txBody>
          <a:bodyPr wrap="square">
            <a:spAutoFit/>
          </a:bodyPr>
          <a:lstStyle/>
          <a:p>
            <a:pPr algn="l"/>
            <a:r>
              <a:rPr sz="1100" b="0" i="0">
                <a:solidFill>
                  <a:srgbClr val="94A3B8"/>
                </a:solidFill>
                <a:latin typeface="+mj-lt"/>
              </a:rPr>
              <a:t>Families guess limits with no data. Fail by week 2.</a:t>
            </a:r>
          </a:p>
        </p:txBody>
      </p:sp>
      <p:sp>
        <p:nvSpPr>
          <p:cNvPr id="27" name="TextBox 26"/>
          <p:cNvSpPr txBox="1"/>
          <p:nvPr/>
        </p:nvSpPr>
        <p:spPr>
          <a:xfrm>
            <a:off x="594360" y="3886200"/>
            <a:ext cx="3566159" cy="261610"/>
          </a:xfrm>
          <a:prstGeom prst="rect">
            <a:avLst/>
          </a:prstGeom>
          <a:noFill/>
        </p:spPr>
        <p:txBody>
          <a:bodyPr wrap="square">
            <a:spAutoFit/>
          </a:bodyPr>
          <a:lstStyle/>
          <a:p>
            <a:pPr algn="l"/>
            <a:r>
              <a:rPr sz="1100" b="0" i="0">
                <a:solidFill>
                  <a:srgbClr val="F59E0B"/>
                </a:solidFill>
                <a:latin typeface="+mj-lt"/>
              </a:rPr>
              <a:t>😔 Shame → tool abandonment</a:t>
            </a:r>
          </a:p>
        </p:txBody>
      </p:sp>
      <p:sp>
        <p:nvSpPr>
          <p:cNvPr id="28" name="Rectangle 27"/>
          <p:cNvSpPr/>
          <p:nvPr/>
        </p:nvSpPr>
        <p:spPr>
          <a:xfrm>
            <a:off x="4334255" y="2990088"/>
            <a:ext cx="3749039"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9" name="Rectangle 28"/>
          <p:cNvSpPr/>
          <p:nvPr/>
        </p:nvSpPr>
        <p:spPr>
          <a:xfrm>
            <a:off x="4334255" y="2990088"/>
            <a:ext cx="3749039" cy="1234440"/>
          </a:xfrm>
          <a:prstGeom prst="rect">
            <a:avLst/>
          </a:prstGeom>
          <a:no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30" name="Rectangle 29"/>
          <p:cNvSpPr/>
          <p:nvPr/>
        </p:nvSpPr>
        <p:spPr>
          <a:xfrm>
            <a:off x="4334255" y="2990088"/>
            <a:ext cx="54864"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31" name="TextBox 30"/>
          <p:cNvSpPr txBox="1"/>
          <p:nvPr/>
        </p:nvSpPr>
        <p:spPr>
          <a:xfrm>
            <a:off x="4471415" y="3081528"/>
            <a:ext cx="3566159" cy="261610"/>
          </a:xfrm>
          <a:prstGeom prst="rect">
            <a:avLst/>
          </a:prstGeom>
          <a:noFill/>
        </p:spPr>
        <p:txBody>
          <a:bodyPr wrap="square">
            <a:spAutoFit/>
          </a:bodyPr>
          <a:lstStyle/>
          <a:p>
            <a:pPr algn="l"/>
            <a:r>
              <a:rPr sz="1100" b="1" i="0">
                <a:solidFill>
                  <a:srgbClr val="FFFFFF"/>
                </a:solidFill>
                <a:latin typeface="+mj-lt"/>
              </a:rPr>
              <a:t>❓ No Q&amp;A Access</a:t>
            </a:r>
          </a:p>
        </p:txBody>
      </p:sp>
      <p:sp>
        <p:nvSpPr>
          <p:cNvPr id="32" name="TextBox 31"/>
          <p:cNvSpPr txBox="1"/>
          <p:nvPr/>
        </p:nvSpPr>
        <p:spPr>
          <a:xfrm>
            <a:off x="4471415" y="3364992"/>
            <a:ext cx="3566159" cy="261610"/>
          </a:xfrm>
          <a:prstGeom prst="rect">
            <a:avLst/>
          </a:prstGeom>
          <a:noFill/>
        </p:spPr>
        <p:txBody>
          <a:bodyPr wrap="square">
            <a:spAutoFit/>
          </a:bodyPr>
          <a:lstStyle/>
          <a:p>
            <a:pPr algn="l"/>
            <a:r>
              <a:rPr sz="1100" b="0" i="0">
                <a:solidFill>
                  <a:srgbClr val="94A3B8"/>
                </a:solidFill>
                <a:latin typeface="+mj-lt"/>
              </a:rPr>
              <a:t>Can't ask "are we on track?" Must interpret dense charts.</a:t>
            </a:r>
          </a:p>
        </p:txBody>
      </p:sp>
      <p:sp>
        <p:nvSpPr>
          <p:cNvPr id="33" name="TextBox 32"/>
          <p:cNvSpPr txBox="1"/>
          <p:nvPr/>
        </p:nvSpPr>
        <p:spPr>
          <a:xfrm>
            <a:off x="4471415" y="3886200"/>
            <a:ext cx="3566159" cy="261610"/>
          </a:xfrm>
          <a:prstGeom prst="rect">
            <a:avLst/>
          </a:prstGeom>
          <a:noFill/>
        </p:spPr>
        <p:txBody>
          <a:bodyPr wrap="square">
            <a:spAutoFit/>
          </a:bodyPr>
          <a:lstStyle/>
          <a:p>
            <a:pPr algn="l"/>
            <a:r>
              <a:rPr sz="1100" b="0" i="0">
                <a:solidFill>
                  <a:srgbClr val="F59E0B"/>
                </a:solidFill>
                <a:latin typeface="+mj-lt"/>
              </a:rPr>
              <a:t>🧠 Dashboard becomes "set and forget"</a:t>
            </a:r>
          </a:p>
        </p:txBody>
      </p:sp>
      <p:sp>
        <p:nvSpPr>
          <p:cNvPr id="34" name="Rectangle 33"/>
          <p:cNvSpPr/>
          <p:nvPr/>
        </p:nvSpPr>
        <p:spPr>
          <a:xfrm>
            <a:off x="8211310" y="2990088"/>
            <a:ext cx="3749039"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35" name="Rectangle 34"/>
          <p:cNvSpPr/>
          <p:nvPr/>
        </p:nvSpPr>
        <p:spPr>
          <a:xfrm>
            <a:off x="8211310" y="2990088"/>
            <a:ext cx="3749039" cy="1234440"/>
          </a:xfrm>
          <a:prstGeom prst="rect">
            <a:avLst/>
          </a:prstGeom>
          <a:no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36" name="Rectangle 35"/>
          <p:cNvSpPr/>
          <p:nvPr/>
        </p:nvSpPr>
        <p:spPr>
          <a:xfrm>
            <a:off x="8211310" y="2990088"/>
            <a:ext cx="54864"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37" name="TextBox 36"/>
          <p:cNvSpPr txBox="1"/>
          <p:nvPr/>
        </p:nvSpPr>
        <p:spPr>
          <a:xfrm>
            <a:off x="8348470" y="3081528"/>
            <a:ext cx="3566159" cy="261610"/>
          </a:xfrm>
          <a:prstGeom prst="rect">
            <a:avLst/>
          </a:prstGeom>
          <a:noFill/>
        </p:spPr>
        <p:txBody>
          <a:bodyPr wrap="square">
            <a:spAutoFit/>
          </a:bodyPr>
          <a:lstStyle/>
          <a:p>
            <a:pPr algn="l"/>
            <a:r>
              <a:rPr sz="1100" b="1" i="0">
                <a:solidFill>
                  <a:srgbClr val="FFFFFF"/>
                </a:solidFill>
                <a:latin typeface="+mj-lt"/>
              </a:rPr>
              <a:t>🔐 Privacy Anxiety</a:t>
            </a:r>
          </a:p>
        </p:txBody>
      </p:sp>
      <p:sp>
        <p:nvSpPr>
          <p:cNvPr id="38" name="TextBox 37"/>
          <p:cNvSpPr txBox="1"/>
          <p:nvPr/>
        </p:nvSpPr>
        <p:spPr>
          <a:xfrm>
            <a:off x="8348470" y="3364992"/>
            <a:ext cx="3566159" cy="261610"/>
          </a:xfrm>
          <a:prstGeom prst="rect">
            <a:avLst/>
          </a:prstGeom>
          <a:noFill/>
        </p:spPr>
        <p:txBody>
          <a:bodyPr wrap="square">
            <a:spAutoFit/>
          </a:bodyPr>
          <a:lstStyle/>
          <a:p>
            <a:pPr algn="l"/>
            <a:r>
              <a:rPr sz="1100" b="0" i="0">
                <a:solidFill>
                  <a:srgbClr val="94A3B8"/>
                </a:solidFill>
                <a:latin typeface="+mj-lt"/>
              </a:rPr>
              <a:t>Plaid / bank API connections feel risky after breaches.</a:t>
            </a:r>
          </a:p>
        </p:txBody>
      </p:sp>
      <p:sp>
        <p:nvSpPr>
          <p:cNvPr id="39" name="TextBox 38"/>
          <p:cNvSpPr txBox="1"/>
          <p:nvPr/>
        </p:nvSpPr>
        <p:spPr>
          <a:xfrm>
            <a:off x="8348470" y="3886200"/>
            <a:ext cx="3566159" cy="261610"/>
          </a:xfrm>
          <a:prstGeom prst="rect">
            <a:avLst/>
          </a:prstGeom>
          <a:noFill/>
        </p:spPr>
        <p:txBody>
          <a:bodyPr wrap="square">
            <a:spAutoFit/>
          </a:bodyPr>
          <a:lstStyle/>
          <a:p>
            <a:pPr algn="l"/>
            <a:r>
              <a:rPr sz="1100" b="0" i="0">
                <a:solidFill>
                  <a:srgbClr val="F59E0B"/>
                </a:solidFill>
                <a:latin typeface="+mj-lt"/>
              </a:rPr>
              <a:t>30–40% drop-off at bank-link step</a:t>
            </a:r>
          </a:p>
        </p:txBody>
      </p:sp>
      <p:sp>
        <p:nvSpPr>
          <p:cNvPr id="40" name="Rectangle 39"/>
          <p:cNvSpPr/>
          <p:nvPr/>
        </p:nvSpPr>
        <p:spPr>
          <a:xfrm>
            <a:off x="457200" y="4315968"/>
            <a:ext cx="3749039"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41" name="Rectangle 40"/>
          <p:cNvSpPr/>
          <p:nvPr/>
        </p:nvSpPr>
        <p:spPr>
          <a:xfrm>
            <a:off x="457200" y="4315968"/>
            <a:ext cx="3749039" cy="1234440"/>
          </a:xfrm>
          <a:prstGeom prst="rect">
            <a:avLst/>
          </a:prstGeom>
          <a:no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42" name="Rectangle 41"/>
          <p:cNvSpPr/>
          <p:nvPr/>
        </p:nvSpPr>
        <p:spPr>
          <a:xfrm>
            <a:off x="457200" y="4315968"/>
            <a:ext cx="54864"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43" name="TextBox 42"/>
          <p:cNvSpPr txBox="1"/>
          <p:nvPr/>
        </p:nvSpPr>
        <p:spPr>
          <a:xfrm>
            <a:off x="594360" y="4407408"/>
            <a:ext cx="3566159" cy="261610"/>
          </a:xfrm>
          <a:prstGeom prst="rect">
            <a:avLst/>
          </a:prstGeom>
          <a:noFill/>
        </p:spPr>
        <p:txBody>
          <a:bodyPr wrap="square">
            <a:spAutoFit/>
          </a:bodyPr>
          <a:lstStyle/>
          <a:p>
            <a:pPr algn="l"/>
            <a:r>
              <a:rPr sz="1100" b="1" i="0">
                <a:solidFill>
                  <a:srgbClr val="FFFFFF"/>
                </a:solidFill>
                <a:latin typeface="+mj-lt"/>
              </a:rPr>
              <a:t>🔔 Late Accountability</a:t>
            </a:r>
          </a:p>
        </p:txBody>
      </p:sp>
      <p:sp>
        <p:nvSpPr>
          <p:cNvPr id="44" name="TextBox 43"/>
          <p:cNvSpPr txBox="1"/>
          <p:nvPr/>
        </p:nvSpPr>
        <p:spPr>
          <a:xfrm>
            <a:off x="594360" y="4690872"/>
            <a:ext cx="3566159" cy="261610"/>
          </a:xfrm>
          <a:prstGeom prst="rect">
            <a:avLst/>
          </a:prstGeom>
          <a:noFill/>
        </p:spPr>
        <p:txBody>
          <a:bodyPr wrap="square">
            <a:spAutoFit/>
          </a:bodyPr>
          <a:lstStyle/>
          <a:p>
            <a:pPr algn="l"/>
            <a:r>
              <a:rPr sz="1100" b="0" i="0">
                <a:solidFill>
                  <a:srgbClr val="94A3B8"/>
                </a:solidFill>
                <a:latin typeface="+mj-lt"/>
              </a:rPr>
              <a:t>Overspending visible only at month-end.</a:t>
            </a:r>
          </a:p>
        </p:txBody>
      </p:sp>
      <p:sp>
        <p:nvSpPr>
          <p:cNvPr id="45" name="TextBox 44"/>
          <p:cNvSpPr txBox="1"/>
          <p:nvPr/>
        </p:nvSpPr>
        <p:spPr>
          <a:xfrm>
            <a:off x="594360" y="5212080"/>
            <a:ext cx="3566159" cy="261610"/>
          </a:xfrm>
          <a:prstGeom prst="rect">
            <a:avLst/>
          </a:prstGeom>
          <a:noFill/>
        </p:spPr>
        <p:txBody>
          <a:bodyPr wrap="square">
            <a:spAutoFit/>
          </a:bodyPr>
          <a:lstStyle/>
          <a:p>
            <a:pPr algn="l"/>
            <a:r>
              <a:rPr sz="1100" b="0" i="0">
                <a:solidFill>
                  <a:srgbClr val="F59E0B"/>
                </a:solidFill>
                <a:latin typeface="+mj-lt"/>
              </a:rPr>
              <a:t>🚨 Reactive vs. proactive money mgmt</a:t>
            </a:r>
          </a:p>
        </p:txBody>
      </p:sp>
      <p:sp>
        <p:nvSpPr>
          <p:cNvPr id="46" name="Rectangle 45"/>
          <p:cNvSpPr/>
          <p:nvPr/>
        </p:nvSpPr>
        <p:spPr>
          <a:xfrm>
            <a:off x="4334255" y="4315968"/>
            <a:ext cx="3749039"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47" name="Rectangle 46"/>
          <p:cNvSpPr/>
          <p:nvPr/>
        </p:nvSpPr>
        <p:spPr>
          <a:xfrm>
            <a:off x="4334255" y="4315968"/>
            <a:ext cx="3749039" cy="1234440"/>
          </a:xfrm>
          <a:prstGeom prst="rect">
            <a:avLst/>
          </a:prstGeom>
          <a:no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48" name="Rectangle 47"/>
          <p:cNvSpPr/>
          <p:nvPr/>
        </p:nvSpPr>
        <p:spPr>
          <a:xfrm>
            <a:off x="4334255" y="4315968"/>
            <a:ext cx="54864"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49" name="TextBox 48"/>
          <p:cNvSpPr txBox="1"/>
          <p:nvPr/>
        </p:nvSpPr>
        <p:spPr>
          <a:xfrm>
            <a:off x="4471415" y="4407408"/>
            <a:ext cx="3566159" cy="261610"/>
          </a:xfrm>
          <a:prstGeom prst="rect">
            <a:avLst/>
          </a:prstGeom>
          <a:noFill/>
        </p:spPr>
        <p:txBody>
          <a:bodyPr wrap="square">
            <a:spAutoFit/>
          </a:bodyPr>
          <a:lstStyle/>
          <a:p>
            <a:pPr algn="l"/>
            <a:r>
              <a:rPr sz="1100" b="1" i="0">
                <a:solidFill>
                  <a:srgbClr val="FFFFFF"/>
                </a:solidFill>
                <a:latin typeface="+mj-lt"/>
              </a:rPr>
              <a:t>🔁 Double-Counting</a:t>
            </a:r>
          </a:p>
        </p:txBody>
      </p:sp>
      <p:sp>
        <p:nvSpPr>
          <p:cNvPr id="50" name="TextBox 49"/>
          <p:cNvSpPr txBox="1"/>
          <p:nvPr/>
        </p:nvSpPr>
        <p:spPr>
          <a:xfrm>
            <a:off x="4471415" y="4690872"/>
            <a:ext cx="3566159" cy="261610"/>
          </a:xfrm>
          <a:prstGeom prst="rect">
            <a:avLst/>
          </a:prstGeom>
          <a:noFill/>
        </p:spPr>
        <p:txBody>
          <a:bodyPr wrap="square">
            <a:spAutoFit/>
          </a:bodyPr>
          <a:lstStyle/>
          <a:p>
            <a:pPr algn="l"/>
            <a:r>
              <a:rPr sz="1100" b="0" i="0">
                <a:solidFill>
                  <a:srgbClr val="94A3B8"/>
                </a:solidFill>
                <a:latin typeface="+mj-lt"/>
              </a:rPr>
              <a:t>CC payments counted as expenses in both accounts.</a:t>
            </a:r>
          </a:p>
        </p:txBody>
      </p:sp>
      <p:sp>
        <p:nvSpPr>
          <p:cNvPr id="51" name="TextBox 50"/>
          <p:cNvSpPr txBox="1"/>
          <p:nvPr/>
        </p:nvSpPr>
        <p:spPr>
          <a:xfrm>
            <a:off x="4471415" y="5212080"/>
            <a:ext cx="3566159" cy="261610"/>
          </a:xfrm>
          <a:prstGeom prst="rect">
            <a:avLst/>
          </a:prstGeom>
          <a:noFill/>
        </p:spPr>
        <p:txBody>
          <a:bodyPr wrap="square">
            <a:spAutoFit/>
          </a:bodyPr>
          <a:lstStyle/>
          <a:p>
            <a:pPr algn="l"/>
            <a:r>
              <a:rPr sz="1100" b="0" i="0">
                <a:solidFill>
                  <a:srgbClr val="F59E0B"/>
                </a:solidFill>
                <a:latin typeface="+mj-lt"/>
              </a:rPr>
              <a:t>🏚 Erodes trust in the tool</a:t>
            </a:r>
          </a:p>
        </p:txBody>
      </p:sp>
      <p:sp>
        <p:nvSpPr>
          <p:cNvPr id="52" name="Rectangle 51"/>
          <p:cNvSpPr/>
          <p:nvPr/>
        </p:nvSpPr>
        <p:spPr>
          <a:xfrm>
            <a:off x="8211310" y="4315968"/>
            <a:ext cx="3749039"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53" name="Rectangle 52"/>
          <p:cNvSpPr/>
          <p:nvPr/>
        </p:nvSpPr>
        <p:spPr>
          <a:xfrm>
            <a:off x="8211310" y="4315968"/>
            <a:ext cx="3749039" cy="1234440"/>
          </a:xfrm>
          <a:prstGeom prst="rect">
            <a:avLst/>
          </a:prstGeom>
          <a:no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54" name="Rectangle 53"/>
          <p:cNvSpPr/>
          <p:nvPr/>
        </p:nvSpPr>
        <p:spPr>
          <a:xfrm>
            <a:off x="8211310" y="4315968"/>
            <a:ext cx="54864"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55" name="TextBox 54"/>
          <p:cNvSpPr txBox="1"/>
          <p:nvPr/>
        </p:nvSpPr>
        <p:spPr>
          <a:xfrm>
            <a:off x="8348470" y="4407408"/>
            <a:ext cx="3566159" cy="261610"/>
          </a:xfrm>
          <a:prstGeom prst="rect">
            <a:avLst/>
          </a:prstGeom>
          <a:noFill/>
        </p:spPr>
        <p:txBody>
          <a:bodyPr wrap="square">
            <a:spAutoFit/>
          </a:bodyPr>
          <a:lstStyle/>
          <a:p>
            <a:pPr algn="l"/>
            <a:r>
              <a:rPr sz="1100" b="1" i="0">
                <a:solidFill>
                  <a:srgbClr val="FFFFFF"/>
                </a:solidFill>
                <a:latin typeface="+mj-lt"/>
              </a:rPr>
              <a:t>😩 Categorization Fatigue</a:t>
            </a:r>
          </a:p>
        </p:txBody>
      </p:sp>
      <p:sp>
        <p:nvSpPr>
          <p:cNvPr id="56" name="TextBox 55"/>
          <p:cNvSpPr txBox="1"/>
          <p:nvPr/>
        </p:nvSpPr>
        <p:spPr>
          <a:xfrm>
            <a:off x="8348470" y="4690872"/>
            <a:ext cx="3566159" cy="261610"/>
          </a:xfrm>
          <a:prstGeom prst="rect">
            <a:avLst/>
          </a:prstGeom>
          <a:noFill/>
        </p:spPr>
        <p:txBody>
          <a:bodyPr wrap="square">
            <a:spAutoFit/>
          </a:bodyPr>
          <a:lstStyle/>
          <a:p>
            <a:pPr algn="l"/>
            <a:r>
              <a:rPr sz="1100" b="0" i="0">
                <a:solidFill>
                  <a:srgbClr val="94A3B8"/>
                </a:solidFill>
                <a:latin typeface="+mj-lt"/>
              </a:rPr>
              <a:t>15–20% of transactions need manual review on day 1.</a:t>
            </a:r>
          </a:p>
        </p:txBody>
      </p:sp>
      <p:sp>
        <p:nvSpPr>
          <p:cNvPr id="57" name="TextBox 56"/>
          <p:cNvSpPr txBox="1"/>
          <p:nvPr/>
        </p:nvSpPr>
        <p:spPr>
          <a:xfrm>
            <a:off x="8348470" y="5212080"/>
            <a:ext cx="3566159" cy="261610"/>
          </a:xfrm>
          <a:prstGeom prst="rect">
            <a:avLst/>
          </a:prstGeom>
          <a:noFill/>
        </p:spPr>
        <p:txBody>
          <a:bodyPr wrap="square">
            <a:spAutoFit/>
          </a:bodyPr>
          <a:lstStyle/>
          <a:p>
            <a:pPr algn="l"/>
            <a:r>
              <a:rPr sz="1100" b="0" i="0">
                <a:solidFill>
                  <a:srgbClr val="F59E0B"/>
                </a:solidFill>
                <a:latin typeface="+mj-lt"/>
              </a:rPr>
              <a:t>❌ Week-1 activation failure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30832"/>
          </a:xfrm>
          <a:prstGeom prst="rect">
            <a:avLst/>
          </a:prstGeom>
          <a:noFill/>
        </p:spPr>
        <p:txBody>
          <a:bodyPr wrap="square">
            <a:spAutoFit/>
          </a:bodyPr>
          <a:lstStyle/>
          <a:p>
            <a:pPr algn="l"/>
            <a:r>
              <a:rPr sz="900" b="1" i="0">
                <a:solidFill>
                  <a:srgbClr val="4F8EF7"/>
                </a:solidFill>
                <a:latin typeface="+mj-lt"/>
              </a:rPr>
              <a:t>HOW WE SOLVE IT</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dirty="0">
                <a:solidFill>
                  <a:srgbClr val="FFFFFF"/>
                </a:solidFill>
                <a:latin typeface="Calibri"/>
              </a:rPr>
              <a:t>From chaos to clarity in &lt;30 minutes</a:t>
            </a:r>
          </a:p>
        </p:txBody>
      </p:sp>
      <p:sp>
        <p:nvSpPr>
          <p:cNvPr id="4" name="Rectangle 3"/>
          <p:cNvSpPr/>
          <p:nvPr/>
        </p:nvSpPr>
        <p:spPr>
          <a:xfrm>
            <a:off x="457200" y="1572768"/>
            <a:ext cx="17373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5" name="TextBox 4"/>
          <p:cNvSpPr txBox="1"/>
          <p:nvPr/>
        </p:nvSpPr>
        <p:spPr>
          <a:xfrm>
            <a:off x="457200" y="1645920"/>
            <a:ext cx="1737360" cy="400110"/>
          </a:xfrm>
          <a:prstGeom prst="rect">
            <a:avLst/>
          </a:prstGeom>
          <a:noFill/>
        </p:spPr>
        <p:txBody>
          <a:bodyPr wrap="square">
            <a:spAutoFit/>
          </a:bodyPr>
          <a:lstStyle/>
          <a:p>
            <a:pPr algn="ctr"/>
            <a:r>
              <a:rPr sz="2000" b="0" i="0">
                <a:solidFill>
                  <a:srgbClr val="E2E8F0"/>
                </a:solidFill>
                <a:latin typeface="+mj-lt"/>
              </a:rPr>
              <a:t>📥</a:t>
            </a:r>
          </a:p>
        </p:txBody>
      </p:sp>
      <p:sp>
        <p:nvSpPr>
          <p:cNvPr id="6" name="TextBox 5"/>
          <p:cNvSpPr txBox="1"/>
          <p:nvPr/>
        </p:nvSpPr>
        <p:spPr>
          <a:xfrm>
            <a:off x="457200" y="2011680"/>
            <a:ext cx="1737360" cy="261610"/>
          </a:xfrm>
          <a:prstGeom prst="rect">
            <a:avLst/>
          </a:prstGeom>
          <a:noFill/>
        </p:spPr>
        <p:txBody>
          <a:bodyPr wrap="square">
            <a:spAutoFit/>
          </a:bodyPr>
          <a:lstStyle/>
          <a:p>
            <a:pPr algn="ctr"/>
            <a:r>
              <a:rPr sz="1100" b="1" i="0">
                <a:solidFill>
                  <a:srgbClr val="FFFFFF"/>
                </a:solidFill>
                <a:latin typeface="+mj-lt"/>
              </a:rPr>
              <a:t>Download</a:t>
            </a:r>
          </a:p>
        </p:txBody>
      </p:sp>
      <p:sp>
        <p:nvSpPr>
          <p:cNvPr id="7" name="TextBox 6"/>
          <p:cNvSpPr txBox="1"/>
          <p:nvPr/>
        </p:nvSpPr>
        <p:spPr>
          <a:xfrm>
            <a:off x="457200" y="2267712"/>
            <a:ext cx="1737360" cy="261610"/>
          </a:xfrm>
          <a:prstGeom prst="rect">
            <a:avLst/>
          </a:prstGeom>
          <a:noFill/>
        </p:spPr>
        <p:txBody>
          <a:bodyPr wrap="square">
            <a:spAutoFit/>
          </a:bodyPr>
          <a:lstStyle/>
          <a:p>
            <a:pPr algn="ctr"/>
            <a:r>
              <a:rPr sz="1100" b="0" i="0">
                <a:solidFill>
                  <a:srgbClr val="22C55E"/>
                </a:solidFill>
                <a:latin typeface="+mj-lt"/>
              </a:rPr>
              <a:t>5 min/account</a:t>
            </a:r>
          </a:p>
        </p:txBody>
      </p:sp>
      <p:sp>
        <p:nvSpPr>
          <p:cNvPr id="8" name="TextBox 7"/>
          <p:cNvSpPr txBox="1"/>
          <p:nvPr/>
        </p:nvSpPr>
        <p:spPr>
          <a:xfrm>
            <a:off x="2194560" y="1828800"/>
            <a:ext cx="420624" cy="261610"/>
          </a:xfrm>
          <a:prstGeom prst="rect">
            <a:avLst/>
          </a:prstGeom>
          <a:noFill/>
        </p:spPr>
        <p:txBody>
          <a:bodyPr wrap="square">
            <a:spAutoFit/>
          </a:bodyPr>
          <a:lstStyle/>
          <a:p>
            <a:pPr algn="ctr"/>
            <a:r>
              <a:rPr sz="1100" b="0" i="0">
                <a:solidFill>
                  <a:srgbClr val="4F8EF7"/>
                </a:solidFill>
                <a:latin typeface="+mj-lt"/>
              </a:rPr>
              <a:t>→</a:t>
            </a:r>
          </a:p>
        </p:txBody>
      </p:sp>
      <p:sp>
        <p:nvSpPr>
          <p:cNvPr id="9" name="Rectangle 8"/>
          <p:cNvSpPr/>
          <p:nvPr/>
        </p:nvSpPr>
        <p:spPr>
          <a:xfrm>
            <a:off x="2615184" y="1572768"/>
            <a:ext cx="17373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0" name="TextBox 9"/>
          <p:cNvSpPr txBox="1"/>
          <p:nvPr/>
        </p:nvSpPr>
        <p:spPr>
          <a:xfrm>
            <a:off x="2615184" y="1645920"/>
            <a:ext cx="1737360" cy="400110"/>
          </a:xfrm>
          <a:prstGeom prst="rect">
            <a:avLst/>
          </a:prstGeom>
          <a:noFill/>
        </p:spPr>
        <p:txBody>
          <a:bodyPr wrap="square">
            <a:spAutoFit/>
          </a:bodyPr>
          <a:lstStyle/>
          <a:p>
            <a:pPr algn="ctr"/>
            <a:r>
              <a:rPr sz="2000" b="0" i="0">
                <a:solidFill>
                  <a:srgbClr val="E2E8F0"/>
                </a:solidFill>
                <a:latin typeface="+mj-lt"/>
              </a:rPr>
              <a:t>⬆️</a:t>
            </a:r>
          </a:p>
        </p:txBody>
      </p:sp>
      <p:sp>
        <p:nvSpPr>
          <p:cNvPr id="11" name="TextBox 10"/>
          <p:cNvSpPr txBox="1"/>
          <p:nvPr/>
        </p:nvSpPr>
        <p:spPr>
          <a:xfrm>
            <a:off x="2615184" y="2011680"/>
            <a:ext cx="1737360" cy="261610"/>
          </a:xfrm>
          <a:prstGeom prst="rect">
            <a:avLst/>
          </a:prstGeom>
          <a:noFill/>
        </p:spPr>
        <p:txBody>
          <a:bodyPr wrap="square">
            <a:spAutoFit/>
          </a:bodyPr>
          <a:lstStyle/>
          <a:p>
            <a:pPr algn="ctr"/>
            <a:r>
              <a:rPr sz="1100" b="1" i="0">
                <a:solidFill>
                  <a:srgbClr val="FFFFFF"/>
                </a:solidFill>
                <a:latin typeface="+mj-lt"/>
              </a:rPr>
              <a:t>Upload</a:t>
            </a:r>
          </a:p>
        </p:txBody>
      </p:sp>
      <p:sp>
        <p:nvSpPr>
          <p:cNvPr id="12" name="TextBox 11"/>
          <p:cNvSpPr txBox="1"/>
          <p:nvPr/>
        </p:nvSpPr>
        <p:spPr>
          <a:xfrm>
            <a:off x="2615184" y="2267712"/>
            <a:ext cx="1737360" cy="261610"/>
          </a:xfrm>
          <a:prstGeom prst="rect">
            <a:avLst/>
          </a:prstGeom>
          <a:noFill/>
        </p:spPr>
        <p:txBody>
          <a:bodyPr wrap="square">
            <a:spAutoFit/>
          </a:bodyPr>
          <a:lstStyle/>
          <a:p>
            <a:pPr algn="ctr"/>
            <a:r>
              <a:rPr sz="1100" b="0" i="0">
                <a:solidFill>
                  <a:srgbClr val="22C55E"/>
                </a:solidFill>
                <a:latin typeface="+mj-lt"/>
              </a:rPr>
              <a:t>No credentials</a:t>
            </a:r>
          </a:p>
        </p:txBody>
      </p:sp>
      <p:sp>
        <p:nvSpPr>
          <p:cNvPr id="13" name="TextBox 12"/>
          <p:cNvSpPr txBox="1"/>
          <p:nvPr/>
        </p:nvSpPr>
        <p:spPr>
          <a:xfrm>
            <a:off x="4352544" y="1828800"/>
            <a:ext cx="420624" cy="261610"/>
          </a:xfrm>
          <a:prstGeom prst="rect">
            <a:avLst/>
          </a:prstGeom>
          <a:noFill/>
        </p:spPr>
        <p:txBody>
          <a:bodyPr wrap="square">
            <a:spAutoFit/>
          </a:bodyPr>
          <a:lstStyle/>
          <a:p>
            <a:pPr algn="ctr"/>
            <a:r>
              <a:rPr sz="1100" b="0" i="0">
                <a:solidFill>
                  <a:srgbClr val="4F8EF7"/>
                </a:solidFill>
                <a:latin typeface="+mj-lt"/>
              </a:rPr>
              <a:t>→</a:t>
            </a:r>
          </a:p>
        </p:txBody>
      </p:sp>
      <p:sp>
        <p:nvSpPr>
          <p:cNvPr id="14" name="Rectangle 13"/>
          <p:cNvSpPr/>
          <p:nvPr/>
        </p:nvSpPr>
        <p:spPr>
          <a:xfrm>
            <a:off x="4773168" y="1572768"/>
            <a:ext cx="17373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5" name="TextBox 14"/>
          <p:cNvSpPr txBox="1"/>
          <p:nvPr/>
        </p:nvSpPr>
        <p:spPr>
          <a:xfrm>
            <a:off x="4773168" y="1645920"/>
            <a:ext cx="1737360" cy="400110"/>
          </a:xfrm>
          <a:prstGeom prst="rect">
            <a:avLst/>
          </a:prstGeom>
          <a:noFill/>
        </p:spPr>
        <p:txBody>
          <a:bodyPr wrap="square">
            <a:spAutoFit/>
          </a:bodyPr>
          <a:lstStyle/>
          <a:p>
            <a:pPr algn="ctr"/>
            <a:r>
              <a:rPr sz="2000" b="0" i="0">
                <a:solidFill>
                  <a:srgbClr val="E2E8F0"/>
                </a:solidFill>
                <a:latin typeface="+mj-lt"/>
              </a:rPr>
              <a:t>🏷️</a:t>
            </a:r>
          </a:p>
        </p:txBody>
      </p:sp>
      <p:sp>
        <p:nvSpPr>
          <p:cNvPr id="16" name="TextBox 15"/>
          <p:cNvSpPr txBox="1"/>
          <p:nvPr/>
        </p:nvSpPr>
        <p:spPr>
          <a:xfrm>
            <a:off x="4773168" y="2011680"/>
            <a:ext cx="1737360" cy="261610"/>
          </a:xfrm>
          <a:prstGeom prst="rect">
            <a:avLst/>
          </a:prstGeom>
          <a:noFill/>
        </p:spPr>
        <p:txBody>
          <a:bodyPr wrap="square">
            <a:spAutoFit/>
          </a:bodyPr>
          <a:lstStyle/>
          <a:p>
            <a:pPr algn="ctr"/>
            <a:r>
              <a:rPr sz="1100" b="1" i="0">
                <a:solidFill>
                  <a:srgbClr val="FFFFFF"/>
                </a:solidFill>
                <a:latin typeface="+mj-lt"/>
              </a:rPr>
              <a:t>Auto-Categorize</a:t>
            </a:r>
          </a:p>
        </p:txBody>
      </p:sp>
      <p:sp>
        <p:nvSpPr>
          <p:cNvPr id="17" name="TextBox 16"/>
          <p:cNvSpPr txBox="1"/>
          <p:nvPr/>
        </p:nvSpPr>
        <p:spPr>
          <a:xfrm>
            <a:off x="4773168" y="2267712"/>
            <a:ext cx="1737360" cy="261610"/>
          </a:xfrm>
          <a:prstGeom prst="rect">
            <a:avLst/>
          </a:prstGeom>
          <a:noFill/>
        </p:spPr>
        <p:txBody>
          <a:bodyPr wrap="square">
            <a:spAutoFit/>
          </a:bodyPr>
          <a:lstStyle/>
          <a:p>
            <a:pPr algn="ctr"/>
            <a:r>
              <a:rPr sz="1100" b="0" i="0">
                <a:solidFill>
                  <a:srgbClr val="22C55E"/>
                </a:solidFill>
                <a:latin typeface="+mj-lt"/>
              </a:rPr>
              <a:t>80%+ auto-tagged</a:t>
            </a:r>
          </a:p>
        </p:txBody>
      </p:sp>
      <p:sp>
        <p:nvSpPr>
          <p:cNvPr id="18" name="TextBox 17"/>
          <p:cNvSpPr txBox="1"/>
          <p:nvPr/>
        </p:nvSpPr>
        <p:spPr>
          <a:xfrm>
            <a:off x="6510528" y="1828800"/>
            <a:ext cx="420624" cy="261610"/>
          </a:xfrm>
          <a:prstGeom prst="rect">
            <a:avLst/>
          </a:prstGeom>
          <a:noFill/>
        </p:spPr>
        <p:txBody>
          <a:bodyPr wrap="square">
            <a:spAutoFit/>
          </a:bodyPr>
          <a:lstStyle/>
          <a:p>
            <a:pPr algn="ctr"/>
            <a:r>
              <a:rPr sz="1100" b="0" i="0">
                <a:solidFill>
                  <a:srgbClr val="4F8EF7"/>
                </a:solidFill>
                <a:latin typeface="+mj-lt"/>
              </a:rPr>
              <a:t>→</a:t>
            </a:r>
          </a:p>
        </p:txBody>
      </p:sp>
      <p:sp>
        <p:nvSpPr>
          <p:cNvPr id="19" name="Rectangle 18"/>
          <p:cNvSpPr/>
          <p:nvPr/>
        </p:nvSpPr>
        <p:spPr>
          <a:xfrm>
            <a:off x="6931152" y="1572768"/>
            <a:ext cx="17373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0" name="TextBox 19"/>
          <p:cNvSpPr txBox="1"/>
          <p:nvPr/>
        </p:nvSpPr>
        <p:spPr>
          <a:xfrm>
            <a:off x="6931152" y="1645920"/>
            <a:ext cx="1737360" cy="400110"/>
          </a:xfrm>
          <a:prstGeom prst="rect">
            <a:avLst/>
          </a:prstGeom>
          <a:noFill/>
        </p:spPr>
        <p:txBody>
          <a:bodyPr wrap="square">
            <a:spAutoFit/>
          </a:bodyPr>
          <a:lstStyle/>
          <a:p>
            <a:pPr algn="ctr"/>
            <a:r>
              <a:rPr sz="2000" b="0" i="0">
                <a:solidFill>
                  <a:srgbClr val="E2E8F0"/>
                </a:solidFill>
                <a:latin typeface="+mj-lt"/>
              </a:rPr>
              <a:t>🧮</a:t>
            </a:r>
          </a:p>
        </p:txBody>
      </p:sp>
      <p:sp>
        <p:nvSpPr>
          <p:cNvPr id="21" name="TextBox 20"/>
          <p:cNvSpPr txBox="1"/>
          <p:nvPr/>
        </p:nvSpPr>
        <p:spPr>
          <a:xfrm>
            <a:off x="6931152" y="2011680"/>
            <a:ext cx="1737360" cy="261610"/>
          </a:xfrm>
          <a:prstGeom prst="rect">
            <a:avLst/>
          </a:prstGeom>
          <a:noFill/>
        </p:spPr>
        <p:txBody>
          <a:bodyPr wrap="square">
            <a:spAutoFit/>
          </a:bodyPr>
          <a:lstStyle/>
          <a:p>
            <a:pPr algn="ctr"/>
            <a:r>
              <a:rPr sz="1100" b="1" i="0">
                <a:solidFill>
                  <a:srgbClr val="FFFFFF"/>
                </a:solidFill>
                <a:latin typeface="+mj-lt"/>
              </a:rPr>
              <a:t>Budget Wizard</a:t>
            </a:r>
          </a:p>
        </p:txBody>
      </p:sp>
      <p:sp>
        <p:nvSpPr>
          <p:cNvPr id="22" name="TextBox 21"/>
          <p:cNvSpPr txBox="1"/>
          <p:nvPr/>
        </p:nvSpPr>
        <p:spPr>
          <a:xfrm>
            <a:off x="6931152" y="2267712"/>
            <a:ext cx="1737360" cy="230832"/>
          </a:xfrm>
          <a:prstGeom prst="rect">
            <a:avLst/>
          </a:prstGeom>
          <a:noFill/>
        </p:spPr>
        <p:txBody>
          <a:bodyPr wrap="square">
            <a:spAutoFit/>
          </a:bodyPr>
          <a:lstStyle/>
          <a:p>
            <a:pPr algn="ctr"/>
            <a:r>
              <a:rPr sz="900" b="0" i="0">
                <a:solidFill>
                  <a:srgbClr val="22C55E"/>
                </a:solidFill>
                <a:latin typeface="+mj-lt"/>
              </a:rPr>
              <a:t>50/30/20 from data</a:t>
            </a:r>
          </a:p>
        </p:txBody>
      </p:sp>
      <p:sp>
        <p:nvSpPr>
          <p:cNvPr id="23" name="TextBox 22"/>
          <p:cNvSpPr txBox="1"/>
          <p:nvPr/>
        </p:nvSpPr>
        <p:spPr>
          <a:xfrm>
            <a:off x="8668512" y="1828800"/>
            <a:ext cx="420624" cy="261610"/>
          </a:xfrm>
          <a:prstGeom prst="rect">
            <a:avLst/>
          </a:prstGeom>
          <a:noFill/>
        </p:spPr>
        <p:txBody>
          <a:bodyPr wrap="square">
            <a:spAutoFit/>
          </a:bodyPr>
          <a:lstStyle/>
          <a:p>
            <a:pPr algn="ctr"/>
            <a:r>
              <a:rPr sz="1100" b="0" i="0">
                <a:solidFill>
                  <a:srgbClr val="4F8EF7"/>
                </a:solidFill>
                <a:latin typeface="+mj-lt"/>
              </a:rPr>
              <a:t>→</a:t>
            </a:r>
          </a:p>
        </p:txBody>
      </p:sp>
      <p:sp>
        <p:nvSpPr>
          <p:cNvPr id="24" name="Rectangle 23"/>
          <p:cNvSpPr/>
          <p:nvPr/>
        </p:nvSpPr>
        <p:spPr>
          <a:xfrm>
            <a:off x="9089136" y="1572768"/>
            <a:ext cx="17373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5" name="TextBox 24"/>
          <p:cNvSpPr txBox="1"/>
          <p:nvPr/>
        </p:nvSpPr>
        <p:spPr>
          <a:xfrm>
            <a:off x="9089136" y="1645920"/>
            <a:ext cx="1737360" cy="400110"/>
          </a:xfrm>
          <a:prstGeom prst="rect">
            <a:avLst/>
          </a:prstGeom>
          <a:noFill/>
        </p:spPr>
        <p:txBody>
          <a:bodyPr wrap="square">
            <a:spAutoFit/>
          </a:bodyPr>
          <a:lstStyle/>
          <a:p>
            <a:pPr algn="ctr"/>
            <a:r>
              <a:rPr sz="2000" b="0" i="0">
                <a:solidFill>
                  <a:srgbClr val="E2E8F0"/>
                </a:solidFill>
                <a:latin typeface="+mj-lt"/>
              </a:rPr>
              <a:t>💬</a:t>
            </a:r>
          </a:p>
        </p:txBody>
      </p:sp>
      <p:sp>
        <p:nvSpPr>
          <p:cNvPr id="26" name="TextBox 25"/>
          <p:cNvSpPr txBox="1"/>
          <p:nvPr/>
        </p:nvSpPr>
        <p:spPr>
          <a:xfrm>
            <a:off x="9089136" y="2011680"/>
            <a:ext cx="1737360" cy="261610"/>
          </a:xfrm>
          <a:prstGeom prst="rect">
            <a:avLst/>
          </a:prstGeom>
          <a:noFill/>
        </p:spPr>
        <p:txBody>
          <a:bodyPr wrap="square">
            <a:spAutoFit/>
          </a:bodyPr>
          <a:lstStyle/>
          <a:p>
            <a:pPr algn="ctr"/>
            <a:r>
              <a:rPr sz="1100" b="1" i="0">
                <a:solidFill>
                  <a:srgbClr val="FFFFFF"/>
                </a:solidFill>
                <a:latin typeface="+mj-lt"/>
              </a:rPr>
              <a:t>Ask AI</a:t>
            </a:r>
          </a:p>
        </p:txBody>
      </p:sp>
      <p:sp>
        <p:nvSpPr>
          <p:cNvPr id="27" name="TextBox 26"/>
          <p:cNvSpPr txBox="1"/>
          <p:nvPr/>
        </p:nvSpPr>
        <p:spPr>
          <a:xfrm>
            <a:off x="9089136" y="2267712"/>
            <a:ext cx="1737360" cy="261610"/>
          </a:xfrm>
          <a:prstGeom prst="rect">
            <a:avLst/>
          </a:prstGeom>
          <a:noFill/>
        </p:spPr>
        <p:txBody>
          <a:bodyPr wrap="square">
            <a:spAutoFit/>
          </a:bodyPr>
          <a:lstStyle/>
          <a:p>
            <a:pPr algn="ctr"/>
            <a:r>
              <a:rPr sz="1100" b="0" i="0">
                <a:solidFill>
                  <a:srgbClr val="22C55E"/>
                </a:solidFill>
                <a:latin typeface="+mj-lt"/>
              </a:rPr>
              <a:t>"Why is dining over?"</a:t>
            </a:r>
          </a:p>
        </p:txBody>
      </p:sp>
      <p:graphicFrame>
        <p:nvGraphicFramePr>
          <p:cNvPr id="28" name="Table 27"/>
          <p:cNvGraphicFramePr>
            <a:graphicFrameLocks noGrp="1"/>
          </p:cNvGraphicFramePr>
          <p:nvPr/>
        </p:nvGraphicFramePr>
        <p:xfrm>
          <a:off x="457200" y="2788920"/>
          <a:ext cx="11155680" cy="35661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509451">
                <a:tc>
                  <a:txBody>
                    <a:bodyPr/>
                    <a:lstStyle/>
                    <a:p>
                      <a:pPr algn="l"/>
                      <a:r>
                        <a:rPr sz="1000" b="1">
                          <a:solidFill>
                            <a:srgbClr val="94A3B8"/>
                          </a:solidFill>
                          <a:latin typeface="Calibri"/>
                        </a:rPr>
                        <a:t>Pain</a:t>
                      </a:r>
                    </a:p>
                  </a:txBody>
                  <a:tcPr>
                    <a:solidFill>
                      <a:srgbClr val="111827"/>
                    </a:solidFill>
                  </a:tcPr>
                </a:tc>
                <a:tc>
                  <a:txBody>
                    <a:bodyPr/>
                    <a:lstStyle/>
                    <a:p>
                      <a:pPr algn="l"/>
                      <a:r>
                        <a:rPr sz="1000" b="1">
                          <a:solidFill>
                            <a:srgbClr val="94A3B8"/>
                          </a:solidFill>
                          <a:latin typeface="Calibri"/>
                        </a:rPr>
                        <a:t>Our Solution</a:t>
                      </a:r>
                    </a:p>
                  </a:txBody>
                  <a:tcPr>
                    <a:solidFill>
                      <a:srgbClr val="111827"/>
                    </a:solidFill>
                  </a:tcPr>
                </a:tc>
                <a:tc>
                  <a:txBody>
                    <a:bodyPr/>
                    <a:lstStyle/>
                    <a:p>
                      <a:pPr algn="l"/>
                      <a:r>
                        <a:rPr sz="1000" b="1">
                          <a:solidFill>
                            <a:srgbClr val="94A3B8"/>
                          </a:solidFill>
                          <a:latin typeface="Calibri"/>
                        </a:rPr>
                        <a:t>Why It Works</a:t>
                      </a:r>
                    </a:p>
                  </a:txBody>
                  <a:tcPr>
                    <a:solidFill>
                      <a:srgbClr val="111827"/>
                    </a:solidFill>
                  </a:tcPr>
                </a:tc>
                <a:extLst>
                  <a:ext uri="{0D108BD9-81ED-4DB2-BD59-A6C34878D82A}">
                    <a16:rowId xmlns:a16="http://schemas.microsoft.com/office/drawing/2014/main" val="10000"/>
                  </a:ext>
                </a:extLst>
              </a:tr>
              <a:tr h="509451">
                <a:tc>
                  <a:txBody>
                    <a:bodyPr/>
                    <a:lstStyle/>
                    <a:p>
                      <a:pPr algn="l"/>
                      <a:r>
                        <a:rPr sz="1100" b="0">
                          <a:solidFill>
                            <a:srgbClr val="94A3B8"/>
                          </a:solidFill>
                          <a:latin typeface="Calibri"/>
                        </a:rPr>
                        <a:t>Fragmented data</a:t>
                      </a:r>
                    </a:p>
                  </a:txBody>
                  <a:tcPr>
                    <a:solidFill>
                      <a:srgbClr val="1A2235"/>
                    </a:solidFill>
                  </a:tcPr>
                </a:tc>
                <a:tc>
                  <a:txBody>
                    <a:bodyPr/>
                    <a:lstStyle/>
                    <a:p>
                      <a:pPr algn="l"/>
                      <a:r>
                        <a:rPr sz="1100" b="0">
                          <a:solidFill>
                            <a:srgbClr val="FFFFFF"/>
                          </a:solidFill>
                          <a:latin typeface="Calibri"/>
                        </a:rPr>
                        <a:t>Unified ledger + transfer detection</a:t>
                      </a:r>
                    </a:p>
                  </a:txBody>
                  <a:tcPr>
                    <a:solidFill>
                      <a:srgbClr val="1A2235"/>
                    </a:solidFill>
                  </a:tcPr>
                </a:tc>
                <a:tc>
                  <a:txBody>
                    <a:bodyPr/>
                    <a:lstStyle/>
                    <a:p>
                      <a:pPr algn="l"/>
                      <a:r>
                        <a:rPr sz="1100" b="0">
                          <a:solidFill>
                            <a:srgbClr val="22C55E"/>
                          </a:solidFill>
                          <a:latin typeface="Calibri"/>
                        </a:rPr>
                        <a:t>Single timeline; no double-counting</a:t>
                      </a:r>
                    </a:p>
                  </a:txBody>
                  <a:tcPr>
                    <a:solidFill>
                      <a:srgbClr val="1A2235"/>
                    </a:solidFill>
                  </a:tcPr>
                </a:tc>
                <a:extLst>
                  <a:ext uri="{0D108BD9-81ED-4DB2-BD59-A6C34878D82A}">
                    <a16:rowId xmlns:a16="http://schemas.microsoft.com/office/drawing/2014/main" val="10001"/>
                  </a:ext>
                </a:extLst>
              </a:tr>
              <a:tr h="509451">
                <a:tc>
                  <a:txBody>
                    <a:bodyPr/>
                    <a:lstStyle/>
                    <a:p>
                      <a:pPr algn="l"/>
                      <a:r>
                        <a:rPr sz="1100" b="0">
                          <a:solidFill>
                            <a:srgbClr val="94A3B8"/>
                          </a:solidFill>
                          <a:latin typeface="Calibri"/>
                        </a:rPr>
                        <a:t>Manual overhead</a:t>
                      </a:r>
                    </a:p>
                  </a:txBody>
                  <a:tcPr>
                    <a:solidFill>
                      <a:srgbClr val="1A2235"/>
                    </a:solidFill>
                  </a:tcPr>
                </a:tc>
                <a:tc>
                  <a:txBody>
                    <a:bodyPr/>
                    <a:lstStyle/>
                    <a:p>
                      <a:pPr algn="l"/>
                      <a:r>
                        <a:rPr sz="1100" b="0">
                          <a:solidFill>
                            <a:srgbClr val="FFFFFF"/>
                          </a:solidFill>
                          <a:latin typeface="Calibri"/>
                        </a:rPr>
                        <a:t>CSV/OFX import + saved column mappings + dedup</a:t>
                      </a:r>
                    </a:p>
                  </a:txBody>
                  <a:tcPr>
                    <a:solidFill>
                      <a:srgbClr val="1A2235"/>
                    </a:solidFill>
                  </a:tcPr>
                </a:tc>
                <a:tc>
                  <a:txBody>
                    <a:bodyPr/>
                    <a:lstStyle/>
                    <a:p>
                      <a:pPr algn="l"/>
                      <a:r>
                        <a:rPr sz="1100" b="0">
                          <a:solidFill>
                            <a:srgbClr val="22C55E"/>
                          </a:solidFill>
                          <a:latin typeface="Calibri"/>
                        </a:rPr>
                        <a:t>Monthly ritual → 20 min vs. 2 hrs</a:t>
                      </a:r>
                    </a:p>
                  </a:txBody>
                  <a:tcPr>
                    <a:solidFill>
                      <a:srgbClr val="1A2235"/>
                    </a:solidFill>
                  </a:tcPr>
                </a:tc>
                <a:extLst>
                  <a:ext uri="{0D108BD9-81ED-4DB2-BD59-A6C34878D82A}">
                    <a16:rowId xmlns:a16="http://schemas.microsoft.com/office/drawing/2014/main" val="10002"/>
                  </a:ext>
                </a:extLst>
              </a:tr>
              <a:tr h="509451">
                <a:tc>
                  <a:txBody>
                    <a:bodyPr/>
                    <a:lstStyle/>
                    <a:p>
                      <a:pPr algn="l"/>
                      <a:r>
                        <a:rPr sz="1100" b="0">
                          <a:solidFill>
                            <a:srgbClr val="94A3B8"/>
                          </a:solidFill>
                          <a:latin typeface="Calibri"/>
                        </a:rPr>
                        <a:t>Individual-first</a:t>
                      </a:r>
                    </a:p>
                  </a:txBody>
                  <a:tcPr>
                    <a:solidFill>
                      <a:srgbClr val="1A2235"/>
                    </a:solidFill>
                  </a:tcPr>
                </a:tc>
                <a:tc>
                  <a:txBody>
                    <a:bodyPr/>
                    <a:lstStyle/>
                    <a:p>
                      <a:pPr algn="l"/>
                      <a:r>
                        <a:rPr sz="1100" b="0">
                          <a:solidFill>
                            <a:srgbClr val="FFFFFF"/>
                          </a:solidFill>
                          <a:latin typeface="Calibri"/>
                        </a:rPr>
                        <a:t>Household workspace with roles + member tags</a:t>
                      </a:r>
                    </a:p>
                  </a:txBody>
                  <a:tcPr>
                    <a:solidFill>
                      <a:srgbClr val="1A2235"/>
                    </a:solidFill>
                  </a:tcPr>
                </a:tc>
                <a:tc>
                  <a:txBody>
                    <a:bodyPr/>
                    <a:lstStyle/>
                    <a:p>
                      <a:pPr algn="l"/>
                      <a:r>
                        <a:rPr sz="1100" b="0">
                          <a:solidFill>
                            <a:srgbClr val="22C55E"/>
                          </a:solidFill>
                          <a:latin typeface="Calibri"/>
                        </a:rPr>
                        <a:t>Built for couples from day one</a:t>
                      </a:r>
                    </a:p>
                  </a:txBody>
                  <a:tcPr>
                    <a:solidFill>
                      <a:srgbClr val="1A2235"/>
                    </a:solidFill>
                  </a:tcPr>
                </a:tc>
                <a:extLst>
                  <a:ext uri="{0D108BD9-81ED-4DB2-BD59-A6C34878D82A}">
                    <a16:rowId xmlns:a16="http://schemas.microsoft.com/office/drawing/2014/main" val="10003"/>
                  </a:ext>
                </a:extLst>
              </a:tr>
              <a:tr h="509451">
                <a:tc>
                  <a:txBody>
                    <a:bodyPr/>
                    <a:lstStyle/>
                    <a:p>
                      <a:pPr algn="l"/>
                      <a:r>
                        <a:rPr sz="1100" b="0">
                          <a:solidFill>
                            <a:srgbClr val="94A3B8"/>
                          </a:solidFill>
                          <a:latin typeface="Calibri"/>
                        </a:rPr>
                        <a:t>Unrealistic budgets</a:t>
                      </a:r>
                    </a:p>
                  </a:txBody>
                  <a:tcPr>
                    <a:solidFill>
                      <a:srgbClr val="1A2235"/>
                    </a:solidFill>
                  </a:tcPr>
                </a:tc>
                <a:tc>
                  <a:txBody>
                    <a:bodyPr/>
                    <a:lstStyle/>
                    <a:p>
                      <a:pPr algn="l"/>
                      <a:r>
                        <a:rPr sz="1100" b="0">
                          <a:solidFill>
                            <a:srgbClr val="FFFFFF"/>
                          </a:solidFill>
                          <a:latin typeface="Calibri"/>
                        </a:rPr>
                        <a:t>Budget wizard from 3–6 month median spend</a:t>
                      </a:r>
                    </a:p>
                  </a:txBody>
                  <a:tcPr>
                    <a:solidFill>
                      <a:srgbClr val="1A2235"/>
                    </a:solidFill>
                  </a:tcPr>
                </a:tc>
                <a:tc>
                  <a:txBody>
                    <a:bodyPr/>
                    <a:lstStyle/>
                    <a:p>
                      <a:pPr algn="l"/>
                      <a:r>
                        <a:rPr sz="1100" b="0">
                          <a:solidFill>
                            <a:srgbClr val="22C55E"/>
                          </a:solidFill>
                          <a:latin typeface="Calibri"/>
                        </a:rPr>
                        <a:t>Grounded in their data</a:t>
                      </a:r>
                    </a:p>
                  </a:txBody>
                  <a:tcPr>
                    <a:solidFill>
                      <a:srgbClr val="1A2235"/>
                    </a:solidFill>
                  </a:tcPr>
                </a:tc>
                <a:extLst>
                  <a:ext uri="{0D108BD9-81ED-4DB2-BD59-A6C34878D82A}">
                    <a16:rowId xmlns:a16="http://schemas.microsoft.com/office/drawing/2014/main" val="10004"/>
                  </a:ext>
                </a:extLst>
              </a:tr>
              <a:tr h="509451">
                <a:tc>
                  <a:txBody>
                    <a:bodyPr/>
                    <a:lstStyle/>
                    <a:p>
                      <a:pPr algn="l"/>
                      <a:r>
                        <a:rPr sz="1100" b="0">
                          <a:solidFill>
                            <a:srgbClr val="94A3B8"/>
                          </a:solidFill>
                          <a:latin typeface="Calibri"/>
                        </a:rPr>
                        <a:t>No Q&amp;A</a:t>
                      </a:r>
                    </a:p>
                  </a:txBody>
                  <a:tcPr>
                    <a:solidFill>
                      <a:srgbClr val="1A2235"/>
                    </a:solidFill>
                  </a:tcPr>
                </a:tc>
                <a:tc>
                  <a:txBody>
                    <a:bodyPr/>
                    <a:lstStyle/>
                    <a:p>
                      <a:pPr algn="l"/>
                      <a:r>
                        <a:rPr sz="1100" b="0">
                          <a:solidFill>
                            <a:srgbClr val="FFFFFF"/>
                          </a:solidFill>
                          <a:latin typeface="Calibri"/>
                        </a:rPr>
                        <a:t>AI assistant with function calling over structured DB</a:t>
                      </a:r>
                    </a:p>
                  </a:txBody>
                  <a:tcPr>
                    <a:solidFill>
                      <a:srgbClr val="1A2235"/>
                    </a:solidFill>
                  </a:tcPr>
                </a:tc>
                <a:tc>
                  <a:txBody>
                    <a:bodyPr/>
                    <a:lstStyle/>
                    <a:p>
                      <a:pPr algn="l"/>
                      <a:r>
                        <a:rPr sz="1100" b="0">
                          <a:solidFill>
                            <a:srgbClr val="22C55E"/>
                          </a:solidFill>
                          <a:latin typeface="Calibri"/>
                        </a:rPr>
                        <a:t>Real numbers; no hallucination</a:t>
                      </a:r>
                    </a:p>
                  </a:txBody>
                  <a:tcPr>
                    <a:solidFill>
                      <a:srgbClr val="1A2235"/>
                    </a:solidFill>
                  </a:tcPr>
                </a:tc>
                <a:extLst>
                  <a:ext uri="{0D108BD9-81ED-4DB2-BD59-A6C34878D82A}">
                    <a16:rowId xmlns:a16="http://schemas.microsoft.com/office/drawing/2014/main" val="10005"/>
                  </a:ext>
                </a:extLst>
              </a:tr>
              <a:tr h="509454">
                <a:tc>
                  <a:txBody>
                    <a:bodyPr/>
                    <a:lstStyle/>
                    <a:p>
                      <a:pPr algn="l"/>
                      <a:r>
                        <a:rPr sz="1100" b="0">
                          <a:solidFill>
                            <a:srgbClr val="94A3B8"/>
                          </a:solidFill>
                          <a:latin typeface="Calibri"/>
                        </a:rPr>
                        <a:t>Privacy anxiety</a:t>
                      </a:r>
                    </a:p>
                  </a:txBody>
                  <a:tcPr>
                    <a:solidFill>
                      <a:srgbClr val="1A2235"/>
                    </a:solidFill>
                  </a:tcPr>
                </a:tc>
                <a:tc>
                  <a:txBody>
                    <a:bodyPr/>
                    <a:lstStyle/>
                    <a:p>
                      <a:pPr algn="l"/>
                      <a:r>
                        <a:rPr sz="1100" b="0">
                          <a:solidFill>
                            <a:srgbClr val="FFFFFF"/>
                          </a:solidFill>
                          <a:latin typeface="Calibri"/>
                        </a:rPr>
                        <a:t>File-only import; encrypted at rest; GDPR delete</a:t>
                      </a:r>
                    </a:p>
                  </a:txBody>
                  <a:tcPr>
                    <a:solidFill>
                      <a:srgbClr val="1A2235"/>
                    </a:solidFill>
                  </a:tcPr>
                </a:tc>
                <a:tc>
                  <a:txBody>
                    <a:bodyPr/>
                    <a:lstStyle/>
                    <a:p>
                      <a:pPr algn="l"/>
                      <a:r>
                        <a:rPr sz="1100" b="0">
                          <a:solidFill>
                            <a:srgbClr val="22C55E"/>
                          </a:solidFill>
                          <a:latin typeface="Calibri"/>
                        </a:rPr>
                        <a:t>No credentials ever stored</a:t>
                      </a:r>
                    </a:p>
                  </a:txBody>
                  <a:tcPr>
                    <a:solidFill>
                      <a:srgbClr val="1A223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KEY FEATURES — MVP</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Everything families need. Nothing they don't.</a:t>
            </a:r>
          </a:p>
        </p:txBody>
      </p:sp>
      <p:sp>
        <p:nvSpPr>
          <p:cNvPr id="4" name="Rectangle 3"/>
          <p:cNvSpPr/>
          <p:nvPr/>
        </p:nvSpPr>
        <p:spPr>
          <a:xfrm>
            <a:off x="457200" y="1572768"/>
            <a:ext cx="2724912" cy="10972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5" name="TextBox 4"/>
          <p:cNvSpPr txBox="1"/>
          <p:nvPr/>
        </p:nvSpPr>
        <p:spPr>
          <a:xfrm>
            <a:off x="594360" y="166420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6" name="TextBox 5"/>
          <p:cNvSpPr txBox="1"/>
          <p:nvPr/>
        </p:nvSpPr>
        <p:spPr>
          <a:xfrm>
            <a:off x="594360" y="1993392"/>
            <a:ext cx="2450592" cy="261610"/>
          </a:xfrm>
          <a:prstGeom prst="rect">
            <a:avLst/>
          </a:prstGeom>
          <a:noFill/>
        </p:spPr>
        <p:txBody>
          <a:bodyPr wrap="square">
            <a:spAutoFit/>
          </a:bodyPr>
          <a:lstStyle/>
          <a:p>
            <a:pPr algn="l"/>
            <a:r>
              <a:rPr sz="1100" b="1" i="0">
                <a:solidFill>
                  <a:srgbClr val="FFFFFF"/>
                </a:solidFill>
                <a:latin typeface="Calibri" panose="020F0502020204030204" pitchFamily="34" charset="0"/>
                <a:cs typeface="Calibri" panose="020F0502020204030204" pitchFamily="34" charset="0"/>
              </a:rPr>
              <a:t>Household Workspace</a:t>
            </a:r>
          </a:p>
        </p:txBody>
      </p:sp>
      <p:sp>
        <p:nvSpPr>
          <p:cNvPr id="7" name="TextBox 6"/>
          <p:cNvSpPr txBox="1"/>
          <p:nvPr/>
        </p:nvSpPr>
        <p:spPr>
          <a:xfrm>
            <a:off x="594360" y="2249424"/>
            <a:ext cx="2450592" cy="430887"/>
          </a:xfrm>
          <a:prstGeom prst="rect">
            <a:avLst/>
          </a:prstGeom>
          <a:noFill/>
        </p:spPr>
        <p:txBody>
          <a:bodyPr wrap="square">
            <a:spAutoFit/>
          </a:bodyPr>
          <a:lstStyle/>
          <a:p>
            <a:pPr algn="l"/>
            <a:r>
              <a:rPr sz="1100" b="0" i="0">
                <a:solidFill>
                  <a:srgbClr val="94A3B8"/>
                </a:solidFill>
                <a:latin typeface="Calibri" panose="020F0502020204030204" pitchFamily="34" charset="0"/>
                <a:cs typeface="Calibri" panose="020F0502020204030204" pitchFamily="34" charset="0"/>
              </a:rPr>
              <a:t>Email + Google SSO; invite members with Owner/Editor/Viewer roles</a:t>
            </a:r>
          </a:p>
        </p:txBody>
      </p:sp>
      <p:sp>
        <p:nvSpPr>
          <p:cNvPr id="8" name="Rectangle 7"/>
          <p:cNvSpPr/>
          <p:nvPr/>
        </p:nvSpPr>
        <p:spPr>
          <a:xfrm>
            <a:off x="3310128" y="1572768"/>
            <a:ext cx="2724912" cy="10972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9" name="TextBox 8"/>
          <p:cNvSpPr txBox="1"/>
          <p:nvPr/>
        </p:nvSpPr>
        <p:spPr>
          <a:xfrm>
            <a:off x="3447288" y="166420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10" name="TextBox 9"/>
          <p:cNvSpPr txBox="1"/>
          <p:nvPr/>
        </p:nvSpPr>
        <p:spPr>
          <a:xfrm>
            <a:off x="3447288" y="1993392"/>
            <a:ext cx="2450592" cy="261610"/>
          </a:xfrm>
          <a:prstGeom prst="rect">
            <a:avLst/>
          </a:prstGeom>
          <a:noFill/>
        </p:spPr>
        <p:txBody>
          <a:bodyPr wrap="square">
            <a:spAutoFit/>
          </a:bodyPr>
          <a:lstStyle/>
          <a:p>
            <a:pPr algn="l"/>
            <a:r>
              <a:rPr sz="1100" b="1" i="0">
                <a:solidFill>
                  <a:srgbClr val="FFFFFF"/>
                </a:solidFill>
                <a:latin typeface="Calibri" panose="020F0502020204030204" pitchFamily="34" charset="0"/>
                <a:cs typeface="Calibri" panose="020F0502020204030204" pitchFamily="34" charset="0"/>
              </a:rPr>
              <a:t>Smart File Import</a:t>
            </a:r>
          </a:p>
        </p:txBody>
      </p:sp>
      <p:sp>
        <p:nvSpPr>
          <p:cNvPr id="11" name="TextBox 10"/>
          <p:cNvSpPr txBox="1"/>
          <p:nvPr/>
        </p:nvSpPr>
        <p:spPr>
          <a:xfrm>
            <a:off x="3447288" y="2249424"/>
            <a:ext cx="2450592" cy="430887"/>
          </a:xfrm>
          <a:prstGeom prst="rect">
            <a:avLst/>
          </a:prstGeom>
          <a:noFill/>
        </p:spPr>
        <p:txBody>
          <a:bodyPr wrap="square">
            <a:spAutoFit/>
          </a:bodyPr>
          <a:lstStyle/>
          <a:p>
            <a:pPr algn="l"/>
            <a:r>
              <a:rPr sz="1100" b="0" i="0">
                <a:solidFill>
                  <a:srgbClr val="94A3B8"/>
                </a:solidFill>
                <a:latin typeface="Calibri" panose="020F0502020204030204" pitchFamily="34" charset="0"/>
                <a:cs typeface="Calibri" panose="020F0502020204030204" pitchFamily="34" charset="0"/>
              </a:rPr>
              <a:t>CSV, OFX, QFX; column mapper; saved templates; preview + dedup</a:t>
            </a:r>
          </a:p>
        </p:txBody>
      </p:sp>
      <p:sp>
        <p:nvSpPr>
          <p:cNvPr id="12" name="Rectangle 11"/>
          <p:cNvSpPr/>
          <p:nvPr/>
        </p:nvSpPr>
        <p:spPr>
          <a:xfrm>
            <a:off x="6163056" y="1572768"/>
            <a:ext cx="2724912" cy="10972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13" name="TextBox 12"/>
          <p:cNvSpPr txBox="1"/>
          <p:nvPr/>
        </p:nvSpPr>
        <p:spPr>
          <a:xfrm>
            <a:off x="6300216" y="166420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14" name="TextBox 13"/>
          <p:cNvSpPr txBox="1"/>
          <p:nvPr/>
        </p:nvSpPr>
        <p:spPr>
          <a:xfrm>
            <a:off x="6300216" y="1993392"/>
            <a:ext cx="2450592" cy="261610"/>
          </a:xfrm>
          <a:prstGeom prst="rect">
            <a:avLst/>
          </a:prstGeom>
          <a:noFill/>
        </p:spPr>
        <p:txBody>
          <a:bodyPr wrap="square">
            <a:spAutoFit/>
          </a:bodyPr>
          <a:lstStyle/>
          <a:p>
            <a:pPr algn="l"/>
            <a:r>
              <a:rPr sz="1100" b="1" i="0">
                <a:solidFill>
                  <a:srgbClr val="FFFFFF"/>
                </a:solidFill>
                <a:latin typeface="Calibri" panose="020F0502020204030204" pitchFamily="34" charset="0"/>
                <a:cs typeface="Calibri" panose="020F0502020204030204" pitchFamily="34" charset="0"/>
              </a:rPr>
              <a:t>Unified Ledger</a:t>
            </a:r>
          </a:p>
        </p:txBody>
      </p:sp>
      <p:sp>
        <p:nvSpPr>
          <p:cNvPr id="15" name="TextBox 14"/>
          <p:cNvSpPr txBox="1"/>
          <p:nvPr/>
        </p:nvSpPr>
        <p:spPr>
          <a:xfrm>
            <a:off x="6300216" y="2249424"/>
            <a:ext cx="2450592" cy="430887"/>
          </a:xfrm>
          <a:prstGeom prst="rect">
            <a:avLst/>
          </a:prstGeom>
          <a:noFill/>
        </p:spPr>
        <p:txBody>
          <a:bodyPr wrap="square">
            <a:spAutoFit/>
          </a:bodyPr>
          <a:lstStyle/>
          <a:p>
            <a:pPr algn="l"/>
            <a:r>
              <a:rPr sz="1100" b="0" i="0">
                <a:solidFill>
                  <a:srgbClr val="94A3B8"/>
                </a:solidFill>
                <a:latin typeface="Calibri" panose="020F0502020204030204" pitchFamily="34" charset="0"/>
                <a:cs typeface="Calibri" panose="020F0502020204030204" pitchFamily="34" charset="0"/>
              </a:rPr>
              <a:t>All accounts in one timeline; bulk edit; member tags; transfer pairing</a:t>
            </a:r>
          </a:p>
        </p:txBody>
      </p:sp>
      <p:sp>
        <p:nvSpPr>
          <p:cNvPr id="16" name="Rectangle 15"/>
          <p:cNvSpPr/>
          <p:nvPr/>
        </p:nvSpPr>
        <p:spPr>
          <a:xfrm>
            <a:off x="9015984" y="1572768"/>
            <a:ext cx="2724912" cy="10972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17" name="TextBox 16"/>
          <p:cNvSpPr txBox="1"/>
          <p:nvPr/>
        </p:nvSpPr>
        <p:spPr>
          <a:xfrm>
            <a:off x="9153144" y="166420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18" name="TextBox 17"/>
          <p:cNvSpPr txBox="1"/>
          <p:nvPr/>
        </p:nvSpPr>
        <p:spPr>
          <a:xfrm>
            <a:off x="9153144" y="1993392"/>
            <a:ext cx="2450592" cy="261610"/>
          </a:xfrm>
          <a:prstGeom prst="rect">
            <a:avLst/>
          </a:prstGeom>
          <a:noFill/>
        </p:spPr>
        <p:txBody>
          <a:bodyPr wrap="square">
            <a:spAutoFit/>
          </a:bodyPr>
          <a:lstStyle/>
          <a:p>
            <a:pPr algn="l"/>
            <a:r>
              <a:rPr sz="1100" b="1" i="0">
                <a:solidFill>
                  <a:srgbClr val="FFFFFF"/>
                </a:solidFill>
                <a:latin typeface="Calibri" panose="020F0502020204030204" pitchFamily="34" charset="0"/>
                <a:cs typeface="Calibri" panose="020F0502020204030204" pitchFamily="34" charset="0"/>
              </a:rPr>
              <a:t>AI Categorization</a:t>
            </a:r>
          </a:p>
        </p:txBody>
      </p:sp>
      <p:sp>
        <p:nvSpPr>
          <p:cNvPr id="19" name="TextBox 18"/>
          <p:cNvSpPr txBox="1"/>
          <p:nvPr/>
        </p:nvSpPr>
        <p:spPr>
          <a:xfrm>
            <a:off x="9153144" y="2249424"/>
            <a:ext cx="2450592" cy="430887"/>
          </a:xfrm>
          <a:prstGeom prst="rect">
            <a:avLst/>
          </a:prstGeom>
          <a:noFill/>
        </p:spPr>
        <p:txBody>
          <a:bodyPr wrap="square">
            <a:spAutoFit/>
          </a:bodyPr>
          <a:lstStyle/>
          <a:p>
            <a:pPr algn="l"/>
            <a:r>
              <a:rPr sz="1100" b="0" i="0">
                <a:solidFill>
                  <a:srgbClr val="94A3B8"/>
                </a:solidFill>
                <a:latin typeface="Calibri" panose="020F0502020204030204" pitchFamily="34" charset="0"/>
                <a:cs typeface="Calibri" panose="020F0502020204030204" pitchFamily="34" charset="0"/>
              </a:rPr>
              <a:t>Family-oriented categories; rules engine; low-confidence review queue</a:t>
            </a:r>
          </a:p>
        </p:txBody>
      </p:sp>
      <p:sp>
        <p:nvSpPr>
          <p:cNvPr id="20" name="Rectangle 19"/>
          <p:cNvSpPr/>
          <p:nvPr/>
        </p:nvSpPr>
        <p:spPr>
          <a:xfrm>
            <a:off x="457200" y="2779776"/>
            <a:ext cx="2724912" cy="10972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21" name="TextBox 20"/>
          <p:cNvSpPr txBox="1"/>
          <p:nvPr/>
        </p:nvSpPr>
        <p:spPr>
          <a:xfrm>
            <a:off x="594360" y="2871216"/>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22" name="TextBox 21"/>
          <p:cNvSpPr txBox="1"/>
          <p:nvPr/>
        </p:nvSpPr>
        <p:spPr>
          <a:xfrm>
            <a:off x="594360" y="3200400"/>
            <a:ext cx="2450592" cy="261610"/>
          </a:xfrm>
          <a:prstGeom prst="rect">
            <a:avLst/>
          </a:prstGeom>
          <a:noFill/>
        </p:spPr>
        <p:txBody>
          <a:bodyPr wrap="square">
            <a:spAutoFit/>
          </a:bodyPr>
          <a:lstStyle/>
          <a:p>
            <a:pPr algn="l"/>
            <a:r>
              <a:rPr sz="1100" b="1" i="0">
                <a:solidFill>
                  <a:srgbClr val="FFFFFF"/>
                </a:solidFill>
                <a:latin typeface="Calibri" panose="020F0502020204030204" pitchFamily="34" charset="0"/>
                <a:cs typeface="Calibri" panose="020F0502020204030204" pitchFamily="34" charset="0"/>
              </a:rPr>
              <a:t>Budget Wizard</a:t>
            </a:r>
          </a:p>
        </p:txBody>
      </p:sp>
      <p:sp>
        <p:nvSpPr>
          <p:cNvPr id="23" name="TextBox 22"/>
          <p:cNvSpPr txBox="1"/>
          <p:nvPr/>
        </p:nvSpPr>
        <p:spPr>
          <a:xfrm>
            <a:off x="594360" y="3456432"/>
            <a:ext cx="2450592" cy="430887"/>
          </a:xfrm>
          <a:prstGeom prst="rect">
            <a:avLst/>
          </a:prstGeom>
          <a:noFill/>
        </p:spPr>
        <p:txBody>
          <a:bodyPr wrap="square">
            <a:spAutoFit/>
          </a:bodyPr>
          <a:lstStyle/>
          <a:p>
            <a:pPr algn="l"/>
            <a:r>
              <a:rPr sz="1100" b="0" i="0">
                <a:solidFill>
                  <a:srgbClr val="94A3B8"/>
                </a:solidFill>
                <a:latin typeface="Calibri" panose="020F0502020204030204" pitchFamily="34" charset="0"/>
                <a:cs typeface="Calibri" panose="020F0502020204030204" pitchFamily="34" charset="0"/>
              </a:rPr>
              <a:t>50/30/20 framing + per-category caps from 3–6 month history</a:t>
            </a:r>
          </a:p>
        </p:txBody>
      </p:sp>
      <p:sp>
        <p:nvSpPr>
          <p:cNvPr id="24" name="Rectangle 23"/>
          <p:cNvSpPr/>
          <p:nvPr/>
        </p:nvSpPr>
        <p:spPr>
          <a:xfrm>
            <a:off x="3310128" y="2779776"/>
            <a:ext cx="2724912" cy="10972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25" name="TextBox 24"/>
          <p:cNvSpPr txBox="1"/>
          <p:nvPr/>
        </p:nvSpPr>
        <p:spPr>
          <a:xfrm>
            <a:off x="3447288" y="2871216"/>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26" name="TextBox 25"/>
          <p:cNvSpPr txBox="1"/>
          <p:nvPr/>
        </p:nvSpPr>
        <p:spPr>
          <a:xfrm>
            <a:off x="3447288" y="3200400"/>
            <a:ext cx="2450592" cy="261610"/>
          </a:xfrm>
          <a:prstGeom prst="rect">
            <a:avLst/>
          </a:prstGeom>
          <a:noFill/>
        </p:spPr>
        <p:txBody>
          <a:bodyPr wrap="square">
            <a:spAutoFit/>
          </a:bodyPr>
          <a:lstStyle/>
          <a:p>
            <a:pPr algn="l"/>
            <a:r>
              <a:rPr sz="1100" b="1" i="0">
                <a:solidFill>
                  <a:srgbClr val="FFFFFF"/>
                </a:solidFill>
                <a:latin typeface="Calibri" panose="020F0502020204030204" pitchFamily="34" charset="0"/>
                <a:cs typeface="Calibri" panose="020F0502020204030204" pitchFamily="34" charset="0"/>
              </a:rPr>
              <a:t>AI Budget Assistant</a:t>
            </a:r>
          </a:p>
        </p:txBody>
      </p:sp>
      <p:sp>
        <p:nvSpPr>
          <p:cNvPr id="27" name="TextBox 26"/>
          <p:cNvSpPr txBox="1"/>
          <p:nvPr/>
        </p:nvSpPr>
        <p:spPr>
          <a:xfrm>
            <a:off x="3447288" y="3456432"/>
            <a:ext cx="2450592" cy="430887"/>
          </a:xfrm>
          <a:prstGeom prst="rect">
            <a:avLst/>
          </a:prstGeom>
          <a:noFill/>
        </p:spPr>
        <p:txBody>
          <a:bodyPr wrap="square">
            <a:spAutoFit/>
          </a:bodyPr>
          <a:lstStyle/>
          <a:p>
            <a:pPr algn="l"/>
            <a:r>
              <a:rPr sz="1100" b="0" i="0">
                <a:solidFill>
                  <a:srgbClr val="94A3B8"/>
                </a:solidFill>
                <a:latin typeface="Calibri" panose="020F0502020204030204" pitchFamily="34" charset="0"/>
                <a:cs typeface="Calibri" panose="020F0502020204030204" pitchFamily="34" charset="0"/>
              </a:rPr>
              <a:t>NL Q&amp;A over transactions, budgets, goals via function calling</a:t>
            </a:r>
          </a:p>
        </p:txBody>
      </p:sp>
      <p:sp>
        <p:nvSpPr>
          <p:cNvPr id="28" name="Rectangle 27"/>
          <p:cNvSpPr/>
          <p:nvPr/>
        </p:nvSpPr>
        <p:spPr>
          <a:xfrm>
            <a:off x="6163056" y="2779776"/>
            <a:ext cx="2724912" cy="10972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29" name="TextBox 28"/>
          <p:cNvSpPr txBox="1"/>
          <p:nvPr/>
        </p:nvSpPr>
        <p:spPr>
          <a:xfrm>
            <a:off x="6300216" y="2871216"/>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30" name="TextBox 29"/>
          <p:cNvSpPr txBox="1"/>
          <p:nvPr/>
        </p:nvSpPr>
        <p:spPr>
          <a:xfrm>
            <a:off x="6300216" y="3200400"/>
            <a:ext cx="2450592" cy="261610"/>
          </a:xfrm>
          <a:prstGeom prst="rect">
            <a:avLst/>
          </a:prstGeom>
          <a:noFill/>
        </p:spPr>
        <p:txBody>
          <a:bodyPr wrap="square">
            <a:spAutoFit/>
          </a:bodyPr>
          <a:lstStyle/>
          <a:p>
            <a:pPr algn="l"/>
            <a:r>
              <a:rPr sz="1100" b="1" i="0">
                <a:solidFill>
                  <a:srgbClr val="FFFFFF"/>
                </a:solidFill>
                <a:latin typeface="Calibri" panose="020F0502020204030204" pitchFamily="34" charset="0"/>
                <a:cs typeface="Calibri" panose="020F0502020204030204" pitchFamily="34" charset="0"/>
              </a:rPr>
              <a:t>Mid-Month Alerts</a:t>
            </a:r>
          </a:p>
        </p:txBody>
      </p:sp>
      <p:sp>
        <p:nvSpPr>
          <p:cNvPr id="31" name="TextBox 30"/>
          <p:cNvSpPr txBox="1"/>
          <p:nvPr/>
        </p:nvSpPr>
        <p:spPr>
          <a:xfrm>
            <a:off x="6300216" y="3456432"/>
            <a:ext cx="2450592" cy="430887"/>
          </a:xfrm>
          <a:prstGeom prst="rect">
            <a:avLst/>
          </a:prstGeom>
          <a:noFill/>
        </p:spPr>
        <p:txBody>
          <a:bodyPr wrap="square">
            <a:spAutoFit/>
          </a:bodyPr>
          <a:lstStyle/>
          <a:p>
            <a:pPr algn="l"/>
            <a:r>
              <a:rPr sz="1100" b="0" i="0">
                <a:solidFill>
                  <a:srgbClr val="94A3B8"/>
                </a:solidFill>
                <a:latin typeface="Calibri" panose="020F0502020204030204" pitchFamily="34" charset="0"/>
                <a:cs typeface="Calibri" panose="020F0502020204030204" pitchFamily="34" charset="0"/>
              </a:rPr>
              <a:t>Category pacing; email alerts at 90% and 100% of budget thresholds</a:t>
            </a:r>
          </a:p>
        </p:txBody>
      </p:sp>
      <p:sp>
        <p:nvSpPr>
          <p:cNvPr id="32" name="Rectangle 31"/>
          <p:cNvSpPr/>
          <p:nvPr/>
        </p:nvSpPr>
        <p:spPr>
          <a:xfrm>
            <a:off x="9015984" y="2779776"/>
            <a:ext cx="2724912" cy="109728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33" name="TextBox 32"/>
          <p:cNvSpPr txBox="1"/>
          <p:nvPr/>
        </p:nvSpPr>
        <p:spPr>
          <a:xfrm>
            <a:off x="9153144" y="2871216"/>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34" name="TextBox 33"/>
          <p:cNvSpPr txBox="1"/>
          <p:nvPr/>
        </p:nvSpPr>
        <p:spPr>
          <a:xfrm>
            <a:off x="9153144" y="3200400"/>
            <a:ext cx="2450592" cy="261610"/>
          </a:xfrm>
          <a:prstGeom prst="rect">
            <a:avLst/>
          </a:prstGeom>
          <a:noFill/>
        </p:spPr>
        <p:txBody>
          <a:bodyPr wrap="square">
            <a:spAutoFit/>
          </a:bodyPr>
          <a:lstStyle/>
          <a:p>
            <a:pPr algn="l"/>
            <a:r>
              <a:rPr sz="1100" b="1" i="0">
                <a:solidFill>
                  <a:srgbClr val="FFFFFF"/>
                </a:solidFill>
                <a:latin typeface="Calibri" panose="020F0502020204030204" pitchFamily="34" charset="0"/>
                <a:cs typeface="Calibri" panose="020F0502020204030204" pitchFamily="34" charset="0"/>
              </a:rPr>
              <a:t>Freemium Model</a:t>
            </a:r>
          </a:p>
        </p:txBody>
      </p:sp>
      <p:sp>
        <p:nvSpPr>
          <p:cNvPr id="35" name="TextBox 34"/>
          <p:cNvSpPr txBox="1"/>
          <p:nvPr/>
        </p:nvSpPr>
        <p:spPr>
          <a:xfrm>
            <a:off x="9153144" y="3456432"/>
            <a:ext cx="2450592" cy="430887"/>
          </a:xfrm>
          <a:prstGeom prst="rect">
            <a:avLst/>
          </a:prstGeom>
          <a:noFill/>
        </p:spPr>
        <p:txBody>
          <a:bodyPr wrap="square">
            <a:spAutoFit/>
          </a:bodyPr>
          <a:lstStyle/>
          <a:p>
            <a:pPr algn="l"/>
            <a:r>
              <a:rPr sz="1100" b="0" i="0">
                <a:solidFill>
                  <a:srgbClr val="94A3B8"/>
                </a:solidFill>
                <a:latin typeface="Calibri" panose="020F0502020204030204" pitchFamily="34" charset="0"/>
                <a:cs typeface="Calibri" panose="020F0502020204030204" pitchFamily="34" charset="0"/>
              </a:rPr>
              <a:t>6-month history free; premium for full history + export; no ads</a:t>
            </a:r>
          </a:p>
        </p:txBody>
      </p:sp>
      <p:sp>
        <p:nvSpPr>
          <p:cNvPr id="36" name="Rectangle 35"/>
          <p:cNvSpPr/>
          <p:nvPr/>
        </p:nvSpPr>
        <p:spPr>
          <a:xfrm>
            <a:off x="457200"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37" name="TextBox 36"/>
          <p:cNvSpPr txBox="1"/>
          <p:nvPr/>
        </p:nvSpPr>
        <p:spPr>
          <a:xfrm>
            <a:off x="457200" y="5687568"/>
            <a:ext cx="1792224" cy="261610"/>
          </a:xfrm>
          <a:prstGeom prst="rect">
            <a:avLst/>
          </a:prstGeom>
          <a:noFill/>
        </p:spPr>
        <p:txBody>
          <a:bodyPr wrap="square">
            <a:spAutoFit/>
          </a:bodyPr>
          <a:lstStyle>
            <a:defPPr>
              <a:defRPr lang="en-US"/>
            </a:defPPr>
            <a:lvl1pPr algn="ctr">
              <a:defRPr b="1" i="0">
                <a:solidFill>
                  <a:srgbClr val="4F8EF7"/>
                </a:solidFill>
                <a:latin typeface="Calibri"/>
              </a:defRPr>
            </a:lvl1pPr>
          </a:lstStyle>
          <a:p>
            <a:r>
              <a:t>&lt;30m</a:t>
            </a:r>
          </a:p>
        </p:txBody>
      </p:sp>
      <p:sp>
        <p:nvSpPr>
          <p:cNvPr id="38" name="TextBox 37"/>
          <p:cNvSpPr txBox="1"/>
          <p:nvPr/>
        </p:nvSpPr>
        <p:spPr>
          <a:xfrm>
            <a:off x="457200" y="6053328"/>
            <a:ext cx="1792224" cy="256032"/>
          </a:xfrm>
          <a:prstGeom prst="rect">
            <a:avLst/>
          </a:prstGeom>
          <a:noFill/>
        </p:spPr>
        <p:txBody>
          <a:bodyPr wrap="square">
            <a:spAutoFit/>
          </a:bodyPr>
          <a:lstStyle/>
          <a:p>
            <a:pPr algn="ctr"/>
            <a:r>
              <a:rPr sz="900" b="0" i="0">
                <a:solidFill>
                  <a:srgbClr val="94A3B8"/>
                </a:solidFill>
                <a:latin typeface="Calibri"/>
              </a:rPr>
              <a:t>First dashboard</a:t>
            </a:r>
          </a:p>
        </p:txBody>
      </p:sp>
      <p:sp>
        <p:nvSpPr>
          <p:cNvPr id="39" name="Rectangle 38"/>
          <p:cNvSpPr/>
          <p:nvPr/>
        </p:nvSpPr>
        <p:spPr>
          <a:xfrm>
            <a:off x="2304288"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40" name="TextBox 39"/>
          <p:cNvSpPr txBox="1"/>
          <p:nvPr/>
        </p:nvSpPr>
        <p:spPr>
          <a:xfrm>
            <a:off x="2304288" y="5687568"/>
            <a:ext cx="1792224" cy="384048"/>
          </a:xfrm>
          <a:prstGeom prst="rect">
            <a:avLst/>
          </a:prstGeom>
          <a:noFill/>
        </p:spPr>
        <p:txBody>
          <a:bodyPr wrap="square">
            <a:spAutoFit/>
          </a:bodyPr>
          <a:lstStyle/>
          <a:p>
            <a:pPr algn="ctr"/>
            <a:r>
              <a:rPr b="1" i="0">
                <a:solidFill>
                  <a:srgbClr val="4F8EF7"/>
                </a:solidFill>
                <a:latin typeface="Calibri"/>
              </a:rPr>
              <a:t>60%</a:t>
            </a:r>
          </a:p>
        </p:txBody>
      </p:sp>
      <p:sp>
        <p:nvSpPr>
          <p:cNvPr id="41" name="TextBox 40"/>
          <p:cNvSpPr txBox="1"/>
          <p:nvPr/>
        </p:nvSpPr>
        <p:spPr>
          <a:xfrm>
            <a:off x="2304288" y="6053328"/>
            <a:ext cx="1792224" cy="261610"/>
          </a:xfrm>
          <a:prstGeom prst="rect">
            <a:avLst/>
          </a:prstGeom>
          <a:noFill/>
        </p:spPr>
        <p:txBody>
          <a:bodyPr wrap="square">
            <a:spAutoFit/>
          </a:bodyPr>
          <a:lstStyle/>
          <a:p>
            <a:pPr algn="ctr"/>
            <a:r>
              <a:rPr sz="1100" b="0" i="0">
                <a:solidFill>
                  <a:srgbClr val="94A3B8"/>
                </a:solidFill>
                <a:latin typeface="Calibri" panose="020F0502020204030204" pitchFamily="34" charset="0"/>
                <a:cs typeface="Calibri" panose="020F0502020204030204" pitchFamily="34" charset="0"/>
              </a:rPr>
              <a:t>Week-1 activation</a:t>
            </a:r>
          </a:p>
        </p:txBody>
      </p:sp>
      <p:sp>
        <p:nvSpPr>
          <p:cNvPr id="42" name="Rectangle 41"/>
          <p:cNvSpPr/>
          <p:nvPr/>
        </p:nvSpPr>
        <p:spPr>
          <a:xfrm>
            <a:off x="4151376"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43" name="TextBox 42"/>
          <p:cNvSpPr txBox="1"/>
          <p:nvPr/>
        </p:nvSpPr>
        <p:spPr>
          <a:xfrm>
            <a:off x="4151376" y="5687568"/>
            <a:ext cx="1792224" cy="384048"/>
          </a:xfrm>
          <a:prstGeom prst="rect">
            <a:avLst/>
          </a:prstGeom>
          <a:noFill/>
        </p:spPr>
        <p:txBody>
          <a:bodyPr wrap="square">
            <a:spAutoFit/>
          </a:bodyPr>
          <a:lstStyle/>
          <a:p>
            <a:pPr algn="ctr"/>
            <a:r>
              <a:rPr b="1" i="0" dirty="0">
                <a:solidFill>
                  <a:srgbClr val="4F8EF7"/>
                </a:solidFill>
                <a:latin typeface="Calibri"/>
              </a:rPr>
              <a:t>80%</a:t>
            </a:r>
          </a:p>
        </p:txBody>
      </p:sp>
      <p:sp>
        <p:nvSpPr>
          <p:cNvPr id="44" name="TextBox 43"/>
          <p:cNvSpPr txBox="1"/>
          <p:nvPr/>
        </p:nvSpPr>
        <p:spPr>
          <a:xfrm>
            <a:off x="4151376" y="6053328"/>
            <a:ext cx="1792224" cy="261610"/>
          </a:xfrm>
          <a:prstGeom prst="rect">
            <a:avLst/>
          </a:prstGeom>
          <a:noFill/>
        </p:spPr>
        <p:txBody>
          <a:bodyPr wrap="square">
            <a:spAutoFit/>
          </a:bodyPr>
          <a:lstStyle/>
          <a:p>
            <a:pPr algn="ctr"/>
            <a:r>
              <a:rPr sz="1100" b="0" i="0">
                <a:solidFill>
                  <a:srgbClr val="94A3B8"/>
                </a:solidFill>
                <a:latin typeface="Calibri" panose="020F0502020204030204" pitchFamily="34" charset="0"/>
                <a:cs typeface="Calibri" panose="020F0502020204030204" pitchFamily="34" charset="0"/>
              </a:rPr>
              <a:t>Auto-categorization</a:t>
            </a:r>
          </a:p>
        </p:txBody>
      </p:sp>
      <p:sp>
        <p:nvSpPr>
          <p:cNvPr id="45" name="Rectangle 44"/>
          <p:cNvSpPr/>
          <p:nvPr/>
        </p:nvSpPr>
        <p:spPr>
          <a:xfrm>
            <a:off x="5998464"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46" name="TextBox 45"/>
          <p:cNvSpPr txBox="1"/>
          <p:nvPr/>
        </p:nvSpPr>
        <p:spPr>
          <a:xfrm>
            <a:off x="5998464" y="5687568"/>
            <a:ext cx="1792224" cy="261610"/>
          </a:xfrm>
          <a:prstGeom prst="rect">
            <a:avLst/>
          </a:prstGeom>
          <a:noFill/>
        </p:spPr>
        <p:txBody>
          <a:bodyPr wrap="square">
            <a:spAutoFit/>
          </a:bodyPr>
          <a:lstStyle>
            <a:defPPr>
              <a:defRPr lang="en-US"/>
            </a:defPPr>
            <a:lvl1pPr algn="ctr">
              <a:defRPr b="1" i="0">
                <a:solidFill>
                  <a:srgbClr val="4F8EF7"/>
                </a:solidFill>
                <a:latin typeface="Calibri"/>
              </a:defRPr>
            </a:lvl1pPr>
          </a:lstStyle>
          <a:p>
            <a:r>
              <a:rPr dirty="0"/>
              <a:t>40%</a:t>
            </a:r>
          </a:p>
        </p:txBody>
      </p:sp>
      <p:sp>
        <p:nvSpPr>
          <p:cNvPr id="47" name="TextBox 46"/>
          <p:cNvSpPr txBox="1"/>
          <p:nvPr/>
        </p:nvSpPr>
        <p:spPr>
          <a:xfrm>
            <a:off x="5998464" y="6053328"/>
            <a:ext cx="1792224" cy="256032"/>
          </a:xfrm>
          <a:prstGeom prst="rect">
            <a:avLst/>
          </a:prstGeom>
          <a:noFill/>
        </p:spPr>
        <p:txBody>
          <a:bodyPr wrap="square">
            <a:spAutoFit/>
          </a:bodyPr>
          <a:lstStyle/>
          <a:p>
            <a:pPr algn="ctr"/>
            <a:r>
              <a:rPr sz="900" b="0" i="0">
                <a:solidFill>
                  <a:srgbClr val="94A3B8"/>
                </a:solidFill>
                <a:latin typeface="Calibri"/>
              </a:rPr>
              <a:t>90-day retention</a:t>
            </a:r>
          </a:p>
        </p:txBody>
      </p:sp>
      <p:sp>
        <p:nvSpPr>
          <p:cNvPr id="48" name="Rectangle 47"/>
          <p:cNvSpPr/>
          <p:nvPr/>
        </p:nvSpPr>
        <p:spPr>
          <a:xfrm>
            <a:off x="7845552"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49" name="TextBox 48"/>
          <p:cNvSpPr txBox="1"/>
          <p:nvPr/>
        </p:nvSpPr>
        <p:spPr>
          <a:xfrm>
            <a:off x="7845552" y="5687568"/>
            <a:ext cx="1792224" cy="384048"/>
          </a:xfrm>
          <a:prstGeom prst="rect">
            <a:avLst/>
          </a:prstGeom>
          <a:noFill/>
        </p:spPr>
        <p:txBody>
          <a:bodyPr wrap="square">
            <a:spAutoFit/>
          </a:bodyPr>
          <a:lstStyle/>
          <a:p>
            <a:pPr algn="ctr"/>
            <a:r>
              <a:rPr b="1" i="0">
                <a:solidFill>
                  <a:srgbClr val="4F8EF7"/>
                </a:solidFill>
                <a:latin typeface="Calibri"/>
              </a:rPr>
              <a:t>5%</a:t>
            </a:r>
          </a:p>
        </p:txBody>
      </p:sp>
      <p:sp>
        <p:nvSpPr>
          <p:cNvPr id="50" name="TextBox 49"/>
          <p:cNvSpPr txBox="1"/>
          <p:nvPr/>
        </p:nvSpPr>
        <p:spPr>
          <a:xfrm>
            <a:off x="7845552" y="6053328"/>
            <a:ext cx="1792224" cy="261610"/>
          </a:xfrm>
          <a:prstGeom prst="rect">
            <a:avLst/>
          </a:prstGeom>
          <a:noFill/>
        </p:spPr>
        <p:txBody>
          <a:bodyPr wrap="square">
            <a:spAutoFit/>
          </a:bodyPr>
          <a:lstStyle/>
          <a:p>
            <a:pPr algn="ctr"/>
            <a:r>
              <a:rPr sz="1100" b="0" i="0">
                <a:solidFill>
                  <a:srgbClr val="94A3B8"/>
                </a:solidFill>
                <a:latin typeface="Calibri" panose="020F0502020204030204" pitchFamily="34" charset="0"/>
                <a:cs typeface="Calibri" panose="020F0502020204030204" pitchFamily="34" charset="0"/>
              </a:rPr>
              <a:t>Free → Premium</a:t>
            </a:r>
          </a:p>
        </p:txBody>
      </p:sp>
      <p:sp>
        <p:nvSpPr>
          <p:cNvPr id="51" name="Rectangle 50"/>
          <p:cNvSpPr/>
          <p:nvPr/>
        </p:nvSpPr>
        <p:spPr>
          <a:xfrm>
            <a:off x="9692640"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Calibri" panose="020F0502020204030204" pitchFamily="34" charset="0"/>
              <a:cs typeface="Calibri" panose="020F0502020204030204" pitchFamily="34" charset="0"/>
            </a:endParaRPr>
          </a:p>
        </p:txBody>
      </p:sp>
      <p:sp>
        <p:nvSpPr>
          <p:cNvPr id="52" name="TextBox 51"/>
          <p:cNvSpPr txBox="1"/>
          <p:nvPr/>
        </p:nvSpPr>
        <p:spPr>
          <a:xfrm>
            <a:off x="9692640" y="5687568"/>
            <a:ext cx="1792224" cy="384048"/>
          </a:xfrm>
          <a:prstGeom prst="rect">
            <a:avLst/>
          </a:prstGeom>
          <a:noFill/>
        </p:spPr>
        <p:txBody>
          <a:bodyPr wrap="square">
            <a:spAutoFit/>
          </a:bodyPr>
          <a:lstStyle/>
          <a:p>
            <a:pPr algn="ctr"/>
            <a:r>
              <a:rPr b="1" i="0">
                <a:solidFill>
                  <a:srgbClr val="4F8EF7"/>
                </a:solidFill>
                <a:latin typeface="Calibri"/>
              </a:rPr>
              <a:t>3+</a:t>
            </a:r>
          </a:p>
        </p:txBody>
      </p:sp>
      <p:sp>
        <p:nvSpPr>
          <p:cNvPr id="53" name="TextBox 52"/>
          <p:cNvSpPr txBox="1"/>
          <p:nvPr/>
        </p:nvSpPr>
        <p:spPr>
          <a:xfrm>
            <a:off x="9692640" y="6053328"/>
            <a:ext cx="1792224" cy="261610"/>
          </a:xfrm>
          <a:prstGeom prst="rect">
            <a:avLst/>
          </a:prstGeom>
          <a:noFill/>
        </p:spPr>
        <p:txBody>
          <a:bodyPr wrap="square">
            <a:spAutoFit/>
          </a:bodyPr>
          <a:lstStyle/>
          <a:p>
            <a:pPr algn="ctr"/>
            <a:r>
              <a:rPr sz="1100" b="0" i="0">
                <a:solidFill>
                  <a:srgbClr val="94A3B8"/>
                </a:solidFill>
                <a:latin typeface="Calibri" panose="020F0502020204030204" pitchFamily="34" charset="0"/>
                <a:cs typeface="Calibri" panose="020F0502020204030204" pitchFamily="34" charset="0"/>
              </a:rPr>
              <a:t>AI queries/user/mo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COMPETITIVE LANDSCAPE</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We own the white space no one else occupies</a:t>
            </a:r>
          </a:p>
        </p:txBody>
      </p:sp>
      <p:graphicFrame>
        <p:nvGraphicFramePr>
          <p:cNvPr id="4" name="Table 3"/>
          <p:cNvGraphicFramePr>
            <a:graphicFrameLocks noGrp="1"/>
          </p:cNvGraphicFramePr>
          <p:nvPr>
            <p:extLst>
              <p:ext uri="{D42A27DB-BD31-4B8C-83A1-F6EECF244321}">
                <p14:modId xmlns:p14="http://schemas.microsoft.com/office/powerpoint/2010/main" val="701169025"/>
              </p:ext>
            </p:extLst>
          </p:nvPr>
        </p:nvGraphicFramePr>
        <p:xfrm>
          <a:off x="365760" y="1508760"/>
          <a:ext cx="10241280" cy="50063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tblGrid>
              <a:tr h="625792">
                <a:tc>
                  <a:txBody>
                    <a:bodyPr/>
                    <a:lstStyle/>
                    <a:p>
                      <a:pPr algn="l"/>
                      <a:r>
                        <a:rPr sz="900" b="1">
                          <a:solidFill>
                            <a:srgbClr val="94A3B8"/>
                          </a:solidFill>
                          <a:latin typeface="Calibri"/>
                        </a:rPr>
                        <a:t>Product</a:t>
                      </a:r>
                    </a:p>
                  </a:txBody>
                  <a:tcPr>
                    <a:solidFill>
                      <a:srgbClr val="111827"/>
                    </a:solidFill>
                  </a:tcPr>
                </a:tc>
                <a:tc>
                  <a:txBody>
                    <a:bodyPr/>
                    <a:lstStyle/>
                    <a:p>
                      <a:pPr algn="l"/>
                      <a:r>
                        <a:rPr sz="900" b="1">
                          <a:solidFill>
                            <a:srgbClr val="94A3B8"/>
                          </a:solidFill>
                          <a:latin typeface="Calibri"/>
                        </a:rPr>
                        <a:t>Price</a:t>
                      </a:r>
                    </a:p>
                  </a:txBody>
                  <a:tcPr>
                    <a:solidFill>
                      <a:srgbClr val="111827"/>
                    </a:solidFill>
                  </a:tcPr>
                </a:tc>
                <a:tc>
                  <a:txBody>
                    <a:bodyPr/>
                    <a:lstStyle/>
                    <a:p>
                      <a:pPr algn="l"/>
                      <a:r>
                        <a:rPr sz="900" b="1">
                          <a:solidFill>
                            <a:srgbClr val="94A3B8"/>
                          </a:solidFill>
                          <a:latin typeface="Calibri"/>
                        </a:rPr>
                        <a:t>Household Sharing</a:t>
                      </a:r>
                    </a:p>
                  </a:txBody>
                  <a:tcPr>
                    <a:solidFill>
                      <a:srgbClr val="111827"/>
                    </a:solidFill>
                  </a:tcPr>
                </a:tc>
                <a:tc>
                  <a:txBody>
                    <a:bodyPr/>
                    <a:lstStyle/>
                    <a:p>
                      <a:pPr algn="l"/>
                      <a:r>
                        <a:rPr sz="900" b="1">
                          <a:solidFill>
                            <a:srgbClr val="94A3B8"/>
                          </a:solidFill>
                          <a:latin typeface="Calibri"/>
                        </a:rPr>
                        <a:t>AI Q&amp;A</a:t>
                      </a:r>
                    </a:p>
                  </a:txBody>
                  <a:tcPr>
                    <a:solidFill>
                      <a:srgbClr val="111827"/>
                    </a:solidFill>
                  </a:tcPr>
                </a:tc>
                <a:tc>
                  <a:txBody>
                    <a:bodyPr/>
                    <a:lstStyle/>
                    <a:p>
                      <a:pPr algn="l"/>
                      <a:r>
                        <a:rPr sz="900" b="1">
                          <a:solidFill>
                            <a:srgbClr val="94A3B8"/>
                          </a:solidFill>
                          <a:latin typeface="Calibri"/>
                        </a:rPr>
                        <a:t>File Import</a:t>
                      </a:r>
                    </a:p>
                  </a:txBody>
                  <a:tcPr>
                    <a:solidFill>
                      <a:srgbClr val="111827"/>
                    </a:solidFill>
                  </a:tcPr>
                </a:tc>
                <a:tc>
                  <a:txBody>
                    <a:bodyPr/>
                    <a:lstStyle/>
                    <a:p>
                      <a:pPr algn="l"/>
                      <a:r>
                        <a:rPr sz="900" b="1">
                          <a:solidFill>
                            <a:srgbClr val="94A3B8"/>
                          </a:solidFill>
                          <a:latin typeface="Calibri"/>
                        </a:rPr>
                        <a:t>Privacy</a:t>
                      </a:r>
                    </a:p>
                  </a:txBody>
                  <a:tcPr>
                    <a:solidFill>
                      <a:srgbClr val="111827"/>
                    </a:solidFill>
                  </a:tcPr>
                </a:tc>
                <a:tc>
                  <a:txBody>
                    <a:bodyPr/>
                    <a:lstStyle/>
                    <a:p>
                      <a:pPr algn="l"/>
                      <a:r>
                        <a:rPr sz="900" b="1">
                          <a:solidFill>
                            <a:srgbClr val="94A3B8"/>
                          </a:solidFill>
                          <a:latin typeface="Calibri"/>
                        </a:rPr>
                        <a:t>Best For</a:t>
                      </a:r>
                    </a:p>
                  </a:txBody>
                  <a:tcPr>
                    <a:solidFill>
                      <a:srgbClr val="111827"/>
                    </a:solidFill>
                  </a:tcPr>
                </a:tc>
                <a:extLst>
                  <a:ext uri="{0D108BD9-81ED-4DB2-BD59-A6C34878D82A}">
                    <a16:rowId xmlns:a16="http://schemas.microsoft.com/office/drawing/2014/main" val="10000"/>
                  </a:ext>
                </a:extLst>
              </a:tr>
              <a:tr h="625792">
                <a:tc>
                  <a:txBody>
                    <a:bodyPr/>
                    <a:lstStyle/>
                    <a:p>
                      <a:pPr algn="l"/>
                      <a:r>
                        <a:rPr sz="900" b="1">
                          <a:solidFill>
                            <a:srgbClr val="4F8EF7"/>
                          </a:solidFill>
                          <a:latin typeface="Calibri"/>
                        </a:rPr>
                        <a:t>⭐ Family Budget Assistant</a:t>
                      </a:r>
                    </a:p>
                  </a:txBody>
                  <a:tcPr>
                    <a:solidFill>
                      <a:srgbClr val="0D1A38"/>
                    </a:solidFill>
                  </a:tcPr>
                </a:tc>
                <a:tc>
                  <a:txBody>
                    <a:bodyPr/>
                    <a:lstStyle/>
                    <a:p>
                      <a:pPr algn="l"/>
                      <a:r>
                        <a:rPr sz="900" b="0">
                          <a:solidFill>
                            <a:srgbClr val="E2E8F0"/>
                          </a:solidFill>
                          <a:latin typeface="Calibri"/>
                        </a:rPr>
                        <a:t>Freemium</a:t>
                      </a:r>
                    </a:p>
                  </a:txBody>
                  <a:tcPr>
                    <a:solidFill>
                      <a:srgbClr val="0D1A38"/>
                    </a:solidFill>
                  </a:tcPr>
                </a:tc>
                <a:tc>
                  <a:txBody>
                    <a:bodyPr/>
                    <a:lstStyle/>
                    <a:p>
                      <a:pPr algn="l"/>
                      <a:r>
                        <a:rPr sz="900" b="0">
                          <a:solidFill>
                            <a:srgbClr val="22C55E"/>
                          </a:solidFill>
                          <a:latin typeface="Calibri"/>
                        </a:rPr>
                        <a:t>✓ Native</a:t>
                      </a:r>
                    </a:p>
                  </a:txBody>
                  <a:tcPr>
                    <a:solidFill>
                      <a:srgbClr val="0D1A38"/>
                    </a:solidFill>
                  </a:tcPr>
                </a:tc>
                <a:tc>
                  <a:txBody>
                    <a:bodyPr/>
                    <a:lstStyle/>
                    <a:p>
                      <a:pPr algn="l"/>
                      <a:r>
                        <a:rPr sz="900" b="0">
                          <a:solidFill>
                            <a:srgbClr val="22C55E"/>
                          </a:solidFill>
                          <a:latin typeface="Calibri"/>
                        </a:rPr>
                        <a:t>✓ Grounded NL</a:t>
                      </a:r>
                    </a:p>
                  </a:txBody>
                  <a:tcPr>
                    <a:solidFill>
                      <a:srgbClr val="0D1A38"/>
                    </a:solidFill>
                  </a:tcPr>
                </a:tc>
                <a:tc>
                  <a:txBody>
                    <a:bodyPr/>
                    <a:lstStyle/>
                    <a:p>
                      <a:pPr algn="l"/>
                      <a:r>
                        <a:rPr sz="900" b="0">
                          <a:solidFill>
                            <a:srgbClr val="22C55E"/>
                          </a:solidFill>
                          <a:latin typeface="Calibri"/>
                        </a:rPr>
                        <a:t>✓ Primary</a:t>
                      </a:r>
                    </a:p>
                  </a:txBody>
                  <a:tcPr>
                    <a:solidFill>
                      <a:srgbClr val="0D1A38"/>
                    </a:solidFill>
                  </a:tcPr>
                </a:tc>
                <a:tc>
                  <a:txBody>
                    <a:bodyPr/>
                    <a:lstStyle/>
                    <a:p>
                      <a:pPr algn="l"/>
                      <a:r>
                        <a:rPr sz="900" b="0">
                          <a:solidFill>
                            <a:srgbClr val="22C55E"/>
                          </a:solidFill>
                          <a:latin typeface="Calibri"/>
                        </a:rPr>
                        <a:t>✓ MVP</a:t>
                      </a:r>
                    </a:p>
                  </a:txBody>
                  <a:tcPr>
                    <a:solidFill>
                      <a:srgbClr val="0D1A38"/>
                    </a:solidFill>
                  </a:tcPr>
                </a:tc>
                <a:tc>
                  <a:txBody>
                    <a:bodyPr/>
                    <a:lstStyle/>
                    <a:p>
                      <a:pPr algn="l"/>
                      <a:r>
                        <a:rPr sz="900" b="0">
                          <a:solidFill>
                            <a:srgbClr val="E2E8F0"/>
                          </a:solidFill>
                          <a:latin typeface="Calibri"/>
                        </a:rPr>
                        <a:t>Privacy families</a:t>
                      </a:r>
                    </a:p>
                  </a:txBody>
                  <a:tcPr>
                    <a:solidFill>
                      <a:srgbClr val="0D1A38"/>
                    </a:solidFill>
                  </a:tcPr>
                </a:tc>
                <a:extLst>
                  <a:ext uri="{0D108BD9-81ED-4DB2-BD59-A6C34878D82A}">
                    <a16:rowId xmlns:a16="http://schemas.microsoft.com/office/drawing/2014/main" val="10001"/>
                  </a:ext>
                </a:extLst>
              </a:tr>
              <a:tr h="625792">
                <a:tc>
                  <a:txBody>
                    <a:bodyPr/>
                    <a:lstStyle/>
                    <a:p>
                      <a:pPr algn="l"/>
                      <a:r>
                        <a:rPr sz="900" b="0">
                          <a:solidFill>
                            <a:srgbClr val="E2E8F0"/>
                          </a:solidFill>
                          <a:latin typeface="Calibri"/>
                        </a:rPr>
                        <a:t>Monarch Money</a:t>
                      </a:r>
                    </a:p>
                  </a:txBody>
                  <a:tcPr>
                    <a:solidFill>
                      <a:srgbClr val="1A2235"/>
                    </a:solidFill>
                  </a:tcPr>
                </a:tc>
                <a:tc>
                  <a:txBody>
                    <a:bodyPr/>
                    <a:lstStyle/>
                    <a:p>
                      <a:pPr algn="l"/>
                      <a:r>
                        <a:rPr sz="900" b="0">
                          <a:solidFill>
                            <a:srgbClr val="E2E8F0"/>
                          </a:solidFill>
                          <a:latin typeface="Calibri"/>
                        </a:rPr>
                        <a:t>$99/yr</a:t>
                      </a:r>
                    </a:p>
                  </a:txBody>
                  <a:tcPr>
                    <a:solidFill>
                      <a:srgbClr val="1A2235"/>
                    </a:solidFill>
                  </a:tcPr>
                </a:tc>
                <a:tc>
                  <a:txBody>
                    <a:bodyPr/>
                    <a:lstStyle/>
                    <a:p>
                      <a:pPr algn="l"/>
                      <a:r>
                        <a:rPr sz="900" b="0">
                          <a:solidFill>
                            <a:srgbClr val="22C55E"/>
                          </a:solidFill>
                          <a:latin typeface="Calibri"/>
                        </a:rPr>
                        <a:t>✓ Couples</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2E8F0"/>
                          </a:solidFill>
                          <a:latin typeface="Calibri"/>
                        </a:rPr>
                        <a:t>Mint replacement</a:t>
                      </a:r>
                    </a:p>
                  </a:txBody>
                  <a:tcPr>
                    <a:solidFill>
                      <a:srgbClr val="1A2235"/>
                    </a:solidFill>
                  </a:tcPr>
                </a:tc>
                <a:extLst>
                  <a:ext uri="{0D108BD9-81ED-4DB2-BD59-A6C34878D82A}">
                    <a16:rowId xmlns:a16="http://schemas.microsoft.com/office/drawing/2014/main" val="10002"/>
                  </a:ext>
                </a:extLst>
              </a:tr>
              <a:tr h="625792">
                <a:tc>
                  <a:txBody>
                    <a:bodyPr/>
                    <a:lstStyle/>
                    <a:p>
                      <a:pPr algn="l"/>
                      <a:r>
                        <a:rPr sz="900" b="0">
                          <a:solidFill>
                            <a:srgbClr val="E2E8F0"/>
                          </a:solidFill>
                          <a:latin typeface="Calibri"/>
                        </a:rPr>
                        <a:t>YNAB</a:t>
                      </a:r>
                    </a:p>
                  </a:txBody>
                  <a:tcPr>
                    <a:solidFill>
                      <a:srgbClr val="1A2235"/>
                    </a:solidFill>
                  </a:tcPr>
                </a:tc>
                <a:tc>
                  <a:txBody>
                    <a:bodyPr/>
                    <a:lstStyle/>
                    <a:p>
                      <a:pPr algn="l"/>
                      <a:r>
                        <a:rPr sz="900" b="0">
                          <a:solidFill>
                            <a:srgbClr val="E2E8F0"/>
                          </a:solidFill>
                          <a:latin typeface="Calibri"/>
                        </a:rPr>
                        <a:t>$109/yr</a:t>
                      </a:r>
                    </a:p>
                  </a:txBody>
                  <a:tcPr>
                    <a:solidFill>
                      <a:srgbClr val="1A2235"/>
                    </a:solidFill>
                  </a:tcPr>
                </a:tc>
                <a:tc>
                  <a:txBody>
                    <a:bodyPr/>
                    <a:lstStyle/>
                    <a:p>
                      <a:pPr algn="l"/>
                      <a:r>
                        <a:rPr sz="900" b="0">
                          <a:solidFill>
                            <a:srgbClr val="F59E0B"/>
                          </a:solidFill>
                          <a:latin typeface="Calibri"/>
                        </a:rPr>
                        <a:t>~ Shared</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dirty="0">
                          <a:solidFill>
                            <a:srgbClr val="E2E8F0"/>
                          </a:solidFill>
                          <a:latin typeface="Calibri"/>
                        </a:rPr>
                        <a:t>ZBB purists</a:t>
                      </a:r>
                    </a:p>
                  </a:txBody>
                  <a:tcPr>
                    <a:solidFill>
                      <a:srgbClr val="1A2235"/>
                    </a:solidFill>
                  </a:tcPr>
                </a:tc>
                <a:extLst>
                  <a:ext uri="{0D108BD9-81ED-4DB2-BD59-A6C34878D82A}">
                    <a16:rowId xmlns:a16="http://schemas.microsoft.com/office/drawing/2014/main" val="10003"/>
                  </a:ext>
                </a:extLst>
              </a:tr>
              <a:tr h="625792">
                <a:tc>
                  <a:txBody>
                    <a:bodyPr/>
                    <a:lstStyle/>
                    <a:p>
                      <a:pPr algn="l"/>
                      <a:r>
                        <a:rPr sz="900" b="0">
                          <a:solidFill>
                            <a:srgbClr val="E2E8F0"/>
                          </a:solidFill>
                          <a:latin typeface="Calibri"/>
                        </a:rPr>
                        <a:t>Copilot</a:t>
                      </a:r>
                    </a:p>
                  </a:txBody>
                  <a:tcPr>
                    <a:solidFill>
                      <a:srgbClr val="1A2235"/>
                    </a:solidFill>
                  </a:tcPr>
                </a:tc>
                <a:tc>
                  <a:txBody>
                    <a:bodyPr/>
                    <a:lstStyle/>
                    <a:p>
                      <a:pPr algn="l"/>
                      <a:r>
                        <a:rPr sz="900" b="0">
                          <a:solidFill>
                            <a:srgbClr val="F59E0B"/>
                          </a:solidFill>
                          <a:latin typeface="Calibri"/>
                        </a:rPr>
                        <a:t>~$95/yr</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F59E0B"/>
                          </a:solidFill>
                          <a:latin typeface="Calibri"/>
                        </a:rPr>
                        <a:t>~ Cat AI</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2E8F0"/>
                          </a:solidFill>
                          <a:latin typeface="Calibri"/>
                        </a:rPr>
                        <a:t>Apple/design</a:t>
                      </a:r>
                    </a:p>
                  </a:txBody>
                  <a:tcPr>
                    <a:solidFill>
                      <a:srgbClr val="1A2235"/>
                    </a:solidFill>
                  </a:tcPr>
                </a:tc>
                <a:extLst>
                  <a:ext uri="{0D108BD9-81ED-4DB2-BD59-A6C34878D82A}">
                    <a16:rowId xmlns:a16="http://schemas.microsoft.com/office/drawing/2014/main" val="10004"/>
                  </a:ext>
                </a:extLst>
              </a:tr>
              <a:tr h="625792">
                <a:tc>
                  <a:txBody>
                    <a:bodyPr/>
                    <a:lstStyle/>
                    <a:p>
                      <a:pPr algn="l"/>
                      <a:r>
                        <a:rPr sz="900" b="0">
                          <a:solidFill>
                            <a:srgbClr val="E2E8F0"/>
                          </a:solidFill>
                          <a:latin typeface="Calibri"/>
                        </a:rPr>
                        <a:t>Empower</a:t>
                      </a:r>
                    </a:p>
                  </a:txBody>
                  <a:tcPr>
                    <a:solidFill>
                      <a:srgbClr val="1A2235"/>
                    </a:solidFill>
                  </a:tcPr>
                </a:tc>
                <a:tc>
                  <a:txBody>
                    <a:bodyPr/>
                    <a:lstStyle/>
                    <a:p>
                      <a:pPr algn="l"/>
                      <a:r>
                        <a:rPr sz="900" b="0">
                          <a:solidFill>
                            <a:srgbClr val="E2E8F0"/>
                          </a:solidFill>
                          <a:latin typeface="Calibri"/>
                        </a:rPr>
                        <a:t>Free</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2E8F0"/>
                          </a:solidFill>
                          <a:latin typeface="Calibri"/>
                        </a:rPr>
                        <a:t>Net worth</a:t>
                      </a:r>
                    </a:p>
                  </a:txBody>
                  <a:tcPr>
                    <a:solidFill>
                      <a:srgbClr val="1A2235"/>
                    </a:solidFill>
                  </a:tcPr>
                </a:tc>
                <a:extLst>
                  <a:ext uri="{0D108BD9-81ED-4DB2-BD59-A6C34878D82A}">
                    <a16:rowId xmlns:a16="http://schemas.microsoft.com/office/drawing/2014/main" val="10005"/>
                  </a:ext>
                </a:extLst>
              </a:tr>
              <a:tr h="625792">
                <a:tc>
                  <a:txBody>
                    <a:bodyPr/>
                    <a:lstStyle/>
                    <a:p>
                      <a:pPr algn="l"/>
                      <a:r>
                        <a:rPr sz="900" b="0">
                          <a:solidFill>
                            <a:srgbClr val="E2E8F0"/>
                          </a:solidFill>
                          <a:latin typeface="Calibri"/>
                        </a:rPr>
                        <a:t>Goodbudget</a:t>
                      </a:r>
                    </a:p>
                  </a:txBody>
                  <a:tcPr>
                    <a:solidFill>
                      <a:srgbClr val="1A2235"/>
                    </a:solidFill>
                  </a:tcPr>
                </a:tc>
                <a:tc>
                  <a:txBody>
                    <a:bodyPr/>
                    <a:lstStyle/>
                    <a:p>
                      <a:pPr algn="l"/>
                      <a:r>
                        <a:rPr sz="900" b="0">
                          <a:solidFill>
                            <a:srgbClr val="E2E8F0"/>
                          </a:solidFill>
                          <a:latin typeface="Calibri"/>
                        </a:rPr>
                        <a:t>Free/$8</a:t>
                      </a:r>
                    </a:p>
                  </a:txBody>
                  <a:tcPr>
                    <a:solidFill>
                      <a:srgbClr val="1A2235"/>
                    </a:solidFill>
                  </a:tcPr>
                </a:tc>
                <a:tc>
                  <a:txBody>
                    <a:bodyPr/>
                    <a:lstStyle/>
                    <a:p>
                      <a:pPr algn="l"/>
                      <a:r>
                        <a:rPr sz="900" b="0">
                          <a:solidFill>
                            <a:srgbClr val="F59E0B"/>
                          </a:solidFill>
                          <a:latin typeface="Calibri"/>
                        </a:rPr>
                        <a:t>~ Limited</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F59E0B"/>
                          </a:solidFill>
                          <a:latin typeface="Calibri"/>
                        </a:rPr>
                        <a:t>~ Manual</a:t>
                      </a:r>
                    </a:p>
                  </a:txBody>
                  <a:tcPr>
                    <a:solidFill>
                      <a:srgbClr val="1A2235"/>
                    </a:solidFill>
                  </a:tcPr>
                </a:tc>
                <a:tc>
                  <a:txBody>
                    <a:bodyPr/>
                    <a:lstStyle/>
                    <a:p>
                      <a:pPr algn="l"/>
                      <a:r>
                        <a:rPr sz="900" b="0">
                          <a:solidFill>
                            <a:srgbClr val="22C55E"/>
                          </a:solidFill>
                          <a:latin typeface="Calibri"/>
                        </a:rPr>
                        <a:t>✓</a:t>
                      </a:r>
                    </a:p>
                  </a:txBody>
                  <a:tcPr>
                    <a:solidFill>
                      <a:srgbClr val="1A2235"/>
                    </a:solidFill>
                  </a:tcPr>
                </a:tc>
                <a:tc>
                  <a:txBody>
                    <a:bodyPr/>
                    <a:lstStyle/>
                    <a:p>
                      <a:pPr algn="l"/>
                      <a:r>
                        <a:rPr sz="900" b="0">
                          <a:solidFill>
                            <a:srgbClr val="E2E8F0"/>
                          </a:solidFill>
                          <a:latin typeface="Calibri"/>
                        </a:rPr>
                        <a:t>Envelope</a:t>
                      </a:r>
                    </a:p>
                  </a:txBody>
                  <a:tcPr>
                    <a:solidFill>
                      <a:srgbClr val="1A2235"/>
                    </a:solidFill>
                  </a:tcPr>
                </a:tc>
                <a:extLst>
                  <a:ext uri="{0D108BD9-81ED-4DB2-BD59-A6C34878D82A}">
                    <a16:rowId xmlns:a16="http://schemas.microsoft.com/office/drawing/2014/main" val="10006"/>
                  </a:ext>
                </a:extLst>
              </a:tr>
              <a:tr h="625796">
                <a:tc>
                  <a:txBody>
                    <a:bodyPr/>
                    <a:lstStyle/>
                    <a:p>
                      <a:pPr algn="l"/>
                      <a:r>
                        <a:rPr sz="900" b="0">
                          <a:solidFill>
                            <a:srgbClr val="E2E8F0"/>
                          </a:solidFill>
                          <a:latin typeface="Calibri"/>
                        </a:rPr>
                        <a:t>Spreadsheets</a:t>
                      </a:r>
                    </a:p>
                  </a:txBody>
                  <a:tcPr>
                    <a:solidFill>
                      <a:srgbClr val="1A2235"/>
                    </a:solidFill>
                  </a:tcPr>
                </a:tc>
                <a:tc>
                  <a:txBody>
                    <a:bodyPr/>
                    <a:lstStyle/>
                    <a:p>
                      <a:pPr algn="l"/>
                      <a:r>
                        <a:rPr sz="900" b="0">
                          <a:solidFill>
                            <a:srgbClr val="E2E8F0"/>
                          </a:solidFill>
                          <a:latin typeface="Calibri"/>
                        </a:rPr>
                        <a:t>Free</a:t>
                      </a:r>
                    </a:p>
                  </a:txBody>
                  <a:tcPr>
                    <a:solidFill>
                      <a:srgbClr val="1A2235"/>
                    </a:solidFill>
                  </a:tcPr>
                </a:tc>
                <a:tc>
                  <a:txBody>
                    <a:bodyPr/>
                    <a:lstStyle/>
                    <a:p>
                      <a:pPr algn="l"/>
                      <a:r>
                        <a:rPr sz="900" b="0">
                          <a:solidFill>
                            <a:srgbClr val="F59E0B"/>
                          </a:solidFill>
                          <a:latin typeface="Calibri"/>
                        </a:rPr>
                        <a:t>~ DIY</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22C55E"/>
                          </a:solidFill>
                          <a:latin typeface="Calibri"/>
                        </a:rPr>
                        <a:t>✓</a:t>
                      </a:r>
                    </a:p>
                  </a:txBody>
                  <a:tcPr>
                    <a:solidFill>
                      <a:srgbClr val="1A2235"/>
                    </a:solidFill>
                  </a:tcPr>
                </a:tc>
                <a:tc>
                  <a:txBody>
                    <a:bodyPr/>
                    <a:lstStyle/>
                    <a:p>
                      <a:pPr algn="l"/>
                      <a:r>
                        <a:rPr sz="900" b="0">
                          <a:solidFill>
                            <a:srgbClr val="22C55E"/>
                          </a:solidFill>
                          <a:latin typeface="Calibri"/>
                        </a:rPr>
                        <a:t>✓</a:t>
                      </a:r>
                    </a:p>
                  </a:txBody>
                  <a:tcPr>
                    <a:solidFill>
                      <a:srgbClr val="1A2235"/>
                    </a:solidFill>
                  </a:tcPr>
                </a:tc>
                <a:tc>
                  <a:txBody>
                    <a:bodyPr/>
                    <a:lstStyle/>
                    <a:p>
                      <a:pPr algn="l"/>
                      <a:r>
                        <a:rPr sz="900" b="0" dirty="0">
                          <a:solidFill>
                            <a:srgbClr val="E2E8F0"/>
                          </a:solidFill>
                          <a:latin typeface="Calibri"/>
                        </a:rPr>
                        <a:t>Power users</a:t>
                      </a:r>
                    </a:p>
                  </a:txBody>
                  <a:tcPr>
                    <a:solidFill>
                      <a:srgbClr val="1A2235"/>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365760" y="6263640"/>
            <a:ext cx="10970056" cy="365760"/>
          </a:xfrm>
          <a:prstGeom prst="rect">
            <a:avLst/>
          </a:prstGeom>
          <a:noFill/>
        </p:spPr>
        <p:txBody>
          <a:bodyPr wrap="square">
            <a:spAutoFit/>
          </a:bodyPr>
          <a:lstStyle/>
          <a:p>
            <a:pPr algn="l"/>
            <a:r>
              <a:rPr sz="1000" b="0" i="1">
                <a:solidFill>
                  <a:srgbClr val="4F8EF7"/>
                </a:solidFill>
                <a:latin typeface="Calibri"/>
              </a:rPr>
              <a:t>★ White space: household-native + high automation + privacy-safe import. No incumbent has all three.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COMPETITIVE POSITIONING</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Upper-right quadrant — ours to own</a:t>
            </a:r>
          </a:p>
        </p:txBody>
      </p:sp>
      <p:sp>
        <p:nvSpPr>
          <p:cNvPr id="4" name="Rectangle 3"/>
          <p:cNvSpPr/>
          <p:nvPr/>
        </p:nvSpPr>
        <p:spPr>
          <a:xfrm>
            <a:off x="457200" y="1508760"/>
            <a:ext cx="11247120" cy="49377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3959352"/>
            <a:ext cx="11247120" cy="27432"/>
          </a:xfrm>
          <a:prstGeom prst="rect">
            <a:avLst/>
          </a:prstGeom>
          <a:solidFill>
            <a:srgbClr val="2A3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67044" y="1508760"/>
            <a:ext cx="27432" cy="4937760"/>
          </a:xfrm>
          <a:prstGeom prst="rect">
            <a:avLst/>
          </a:prstGeom>
          <a:solidFill>
            <a:srgbClr val="2A3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81912"/>
            <a:ext cx="11247120" cy="256032"/>
          </a:xfrm>
          <a:prstGeom prst="rect">
            <a:avLst/>
          </a:prstGeom>
          <a:noFill/>
        </p:spPr>
        <p:txBody>
          <a:bodyPr wrap="square">
            <a:spAutoFit/>
          </a:bodyPr>
          <a:lstStyle/>
          <a:p>
            <a:pPr algn="ctr"/>
            <a:r>
              <a:rPr sz="900" b="0" i="0">
                <a:solidFill>
                  <a:srgbClr val="94A3B8"/>
                </a:solidFill>
                <a:latin typeface="Calibri"/>
              </a:rPr>
              <a:t>↑ HIGH AUTOMATION + AI</a:t>
            </a:r>
          </a:p>
        </p:txBody>
      </p:sp>
      <p:sp>
        <p:nvSpPr>
          <p:cNvPr id="8" name="TextBox 7"/>
          <p:cNvSpPr txBox="1"/>
          <p:nvPr/>
        </p:nvSpPr>
        <p:spPr>
          <a:xfrm>
            <a:off x="457200" y="6172200"/>
            <a:ext cx="11247120" cy="256032"/>
          </a:xfrm>
          <a:prstGeom prst="rect">
            <a:avLst/>
          </a:prstGeom>
          <a:noFill/>
        </p:spPr>
        <p:txBody>
          <a:bodyPr wrap="square">
            <a:spAutoFit/>
          </a:bodyPr>
          <a:lstStyle/>
          <a:p>
            <a:pPr algn="ctr"/>
            <a:r>
              <a:rPr sz="900" b="0" i="0">
                <a:solidFill>
                  <a:srgbClr val="94A3B8"/>
                </a:solidFill>
                <a:latin typeface="Calibri"/>
              </a:rPr>
              <a:t>↓ LOW AUTOMATION / MANUAL</a:t>
            </a:r>
          </a:p>
        </p:txBody>
      </p:sp>
      <p:sp>
        <p:nvSpPr>
          <p:cNvPr id="9" name="TextBox 8"/>
          <p:cNvSpPr txBox="1"/>
          <p:nvPr/>
        </p:nvSpPr>
        <p:spPr>
          <a:xfrm>
            <a:off x="548640" y="3566160"/>
            <a:ext cx="2286000" cy="256032"/>
          </a:xfrm>
          <a:prstGeom prst="rect">
            <a:avLst/>
          </a:prstGeom>
          <a:noFill/>
        </p:spPr>
        <p:txBody>
          <a:bodyPr wrap="square">
            <a:spAutoFit/>
          </a:bodyPr>
          <a:lstStyle/>
          <a:p>
            <a:pPr algn="l"/>
            <a:r>
              <a:rPr sz="900" b="0" i="0">
                <a:solidFill>
                  <a:srgbClr val="94A3B8"/>
                </a:solidFill>
                <a:latin typeface="Calibri"/>
              </a:rPr>
              <a:t>← INDIVIDUAL</a:t>
            </a:r>
          </a:p>
        </p:txBody>
      </p:sp>
      <p:sp>
        <p:nvSpPr>
          <p:cNvPr id="10" name="TextBox 9"/>
          <p:cNvSpPr txBox="1"/>
          <p:nvPr/>
        </p:nvSpPr>
        <p:spPr>
          <a:xfrm>
            <a:off x="9418320" y="3566160"/>
            <a:ext cx="2286000" cy="256032"/>
          </a:xfrm>
          <a:prstGeom prst="rect">
            <a:avLst/>
          </a:prstGeom>
          <a:noFill/>
        </p:spPr>
        <p:txBody>
          <a:bodyPr wrap="square">
            <a:spAutoFit/>
          </a:bodyPr>
          <a:lstStyle/>
          <a:p>
            <a:pPr algn="r"/>
            <a:r>
              <a:rPr sz="900" b="0" i="0">
                <a:solidFill>
                  <a:srgbClr val="94A3B8"/>
                </a:solidFill>
                <a:latin typeface="Calibri"/>
              </a:rPr>
              <a:t>HOUSEHOLD-NATIVE →</a:t>
            </a:r>
          </a:p>
        </p:txBody>
      </p:sp>
      <p:sp>
        <p:nvSpPr>
          <p:cNvPr id="11" name="Rectangle 10"/>
          <p:cNvSpPr/>
          <p:nvPr/>
        </p:nvSpPr>
        <p:spPr>
          <a:xfrm>
            <a:off x="7465161" y="2232964"/>
            <a:ext cx="2286000" cy="329184"/>
          </a:xfrm>
          <a:prstGeom prst="rect">
            <a:avLst/>
          </a:prstGeom>
          <a:solidFill>
            <a:srgbClr val="4F8EF7"/>
          </a:solidFill>
          <a:ln w="1270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56601" y="2269540"/>
            <a:ext cx="2103120" cy="256032"/>
          </a:xfrm>
          <a:prstGeom prst="rect">
            <a:avLst/>
          </a:prstGeom>
          <a:noFill/>
        </p:spPr>
        <p:txBody>
          <a:bodyPr wrap="square">
            <a:spAutoFit/>
          </a:bodyPr>
          <a:lstStyle/>
          <a:p>
            <a:pPr algn="l"/>
            <a:r>
              <a:rPr sz="1000" b="1" i="0">
                <a:solidFill>
                  <a:srgbClr val="FFFFFF"/>
                </a:solidFill>
                <a:latin typeface="Calibri"/>
              </a:rPr>
              <a:t>⭐ Family Budget Assistant</a:t>
            </a:r>
          </a:p>
        </p:txBody>
      </p:sp>
      <p:sp>
        <p:nvSpPr>
          <p:cNvPr id="13" name="Rectangle 12"/>
          <p:cNvSpPr/>
          <p:nvPr/>
        </p:nvSpPr>
        <p:spPr>
          <a:xfrm>
            <a:off x="2291486" y="2430475"/>
            <a:ext cx="1463040" cy="329184"/>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2926" y="2467051"/>
            <a:ext cx="2103120" cy="256032"/>
          </a:xfrm>
          <a:prstGeom prst="rect">
            <a:avLst/>
          </a:prstGeom>
          <a:noFill/>
        </p:spPr>
        <p:txBody>
          <a:bodyPr wrap="square">
            <a:spAutoFit/>
          </a:bodyPr>
          <a:lstStyle/>
          <a:p>
            <a:pPr algn="l"/>
            <a:r>
              <a:rPr sz="900" b="0" i="0">
                <a:solidFill>
                  <a:srgbClr val="94A3B8"/>
                </a:solidFill>
                <a:latin typeface="Calibri"/>
              </a:rPr>
              <a:t>Copilot</a:t>
            </a:r>
          </a:p>
        </p:txBody>
      </p:sp>
      <p:sp>
        <p:nvSpPr>
          <p:cNvPr id="15" name="Rectangle 14"/>
          <p:cNvSpPr/>
          <p:nvPr/>
        </p:nvSpPr>
        <p:spPr>
          <a:xfrm>
            <a:off x="2066544" y="4405579"/>
            <a:ext cx="1463040" cy="329184"/>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57984" y="4442155"/>
            <a:ext cx="2103120" cy="256032"/>
          </a:xfrm>
          <a:prstGeom prst="rect">
            <a:avLst/>
          </a:prstGeom>
          <a:noFill/>
        </p:spPr>
        <p:txBody>
          <a:bodyPr wrap="square">
            <a:spAutoFit/>
          </a:bodyPr>
          <a:lstStyle/>
          <a:p>
            <a:pPr algn="l"/>
            <a:r>
              <a:rPr sz="900" b="0" i="0">
                <a:solidFill>
                  <a:srgbClr val="94A3B8"/>
                </a:solidFill>
                <a:latin typeface="Calibri"/>
              </a:rPr>
              <a:t>YNAB</a:t>
            </a:r>
          </a:p>
        </p:txBody>
      </p:sp>
      <p:sp>
        <p:nvSpPr>
          <p:cNvPr id="17" name="Rectangle 16"/>
          <p:cNvSpPr/>
          <p:nvPr/>
        </p:nvSpPr>
        <p:spPr>
          <a:xfrm>
            <a:off x="6565392" y="4306824"/>
            <a:ext cx="1463040" cy="329184"/>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56832" y="4343400"/>
            <a:ext cx="2103120" cy="256032"/>
          </a:xfrm>
          <a:prstGeom prst="rect">
            <a:avLst/>
          </a:prstGeom>
          <a:noFill/>
        </p:spPr>
        <p:txBody>
          <a:bodyPr wrap="square">
            <a:spAutoFit/>
          </a:bodyPr>
          <a:lstStyle/>
          <a:p>
            <a:pPr algn="l"/>
            <a:r>
              <a:rPr sz="900" b="0" i="0">
                <a:solidFill>
                  <a:srgbClr val="94A3B8"/>
                </a:solidFill>
                <a:latin typeface="Calibri"/>
              </a:rPr>
              <a:t>Monarch</a:t>
            </a:r>
          </a:p>
        </p:txBody>
      </p:sp>
      <p:sp>
        <p:nvSpPr>
          <p:cNvPr id="19" name="Rectangle 18"/>
          <p:cNvSpPr/>
          <p:nvPr/>
        </p:nvSpPr>
        <p:spPr>
          <a:xfrm>
            <a:off x="5215737" y="5047488"/>
            <a:ext cx="1463040" cy="329184"/>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7177" y="5084064"/>
            <a:ext cx="2103120" cy="256032"/>
          </a:xfrm>
          <a:prstGeom prst="rect">
            <a:avLst/>
          </a:prstGeom>
          <a:noFill/>
        </p:spPr>
        <p:txBody>
          <a:bodyPr wrap="square">
            <a:spAutoFit/>
          </a:bodyPr>
          <a:lstStyle/>
          <a:p>
            <a:pPr algn="l"/>
            <a:r>
              <a:rPr sz="900" b="0" i="0">
                <a:solidFill>
                  <a:srgbClr val="94A3B8"/>
                </a:solidFill>
                <a:latin typeface="Calibri"/>
              </a:rPr>
              <a:t>Goodbudget</a:t>
            </a:r>
          </a:p>
        </p:txBody>
      </p:sp>
      <p:sp>
        <p:nvSpPr>
          <p:cNvPr id="21" name="Rectangle 20"/>
          <p:cNvSpPr/>
          <p:nvPr/>
        </p:nvSpPr>
        <p:spPr>
          <a:xfrm>
            <a:off x="7690103" y="5195620"/>
            <a:ext cx="1463040" cy="329184"/>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81543" y="5232196"/>
            <a:ext cx="2103120" cy="256032"/>
          </a:xfrm>
          <a:prstGeom prst="rect">
            <a:avLst/>
          </a:prstGeom>
          <a:noFill/>
        </p:spPr>
        <p:txBody>
          <a:bodyPr wrap="square">
            <a:spAutoFit/>
          </a:bodyPr>
          <a:lstStyle/>
          <a:p>
            <a:pPr algn="l"/>
            <a:r>
              <a:rPr sz="900" b="0" i="0">
                <a:solidFill>
                  <a:srgbClr val="94A3B8"/>
                </a:solidFill>
                <a:latin typeface="Calibri"/>
              </a:rPr>
              <a:t>Spreadsheets</a:t>
            </a:r>
          </a:p>
        </p:txBody>
      </p:sp>
      <p:sp>
        <p:nvSpPr>
          <p:cNvPr id="23" name="Rectangle 22"/>
          <p:cNvSpPr/>
          <p:nvPr/>
        </p:nvSpPr>
        <p:spPr>
          <a:xfrm>
            <a:off x="2291486" y="5195620"/>
            <a:ext cx="1463040" cy="329184"/>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382926" y="5232196"/>
            <a:ext cx="2103120" cy="256032"/>
          </a:xfrm>
          <a:prstGeom prst="rect">
            <a:avLst/>
          </a:prstGeom>
          <a:noFill/>
        </p:spPr>
        <p:txBody>
          <a:bodyPr wrap="square">
            <a:spAutoFit/>
          </a:bodyPr>
          <a:lstStyle/>
          <a:p>
            <a:pPr algn="l"/>
            <a:r>
              <a:rPr sz="900" b="0" i="0">
                <a:solidFill>
                  <a:srgbClr val="94A3B8"/>
                </a:solidFill>
                <a:latin typeface="Calibri"/>
              </a:rPr>
              <a:t>Empower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61610"/>
          </a:xfrm>
          <a:prstGeom prst="rect">
            <a:avLst/>
          </a:prstGeom>
          <a:noFill/>
        </p:spPr>
        <p:txBody>
          <a:bodyPr wrap="square">
            <a:spAutoFit/>
          </a:bodyPr>
          <a:lstStyle/>
          <a:p>
            <a:pPr algn="l"/>
            <a:r>
              <a:rPr sz="1100" b="1" i="0">
                <a:solidFill>
                  <a:srgbClr val="4F8EF7"/>
                </a:solidFill>
                <a:latin typeface="+mj-lt"/>
              </a:rPr>
              <a:t>AI &amp; DATA STRATEGY</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Don't train from scratch — leverage what exists</a:t>
            </a:r>
          </a:p>
        </p:txBody>
      </p:sp>
      <p:sp>
        <p:nvSpPr>
          <p:cNvPr id="4" name="Rectangle 3"/>
          <p:cNvSpPr/>
          <p:nvPr/>
        </p:nvSpPr>
        <p:spPr>
          <a:xfrm>
            <a:off x="457200" y="1600200"/>
            <a:ext cx="11335725" cy="111556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5" name="Rectangle 4"/>
          <p:cNvSpPr/>
          <p:nvPr/>
        </p:nvSpPr>
        <p:spPr>
          <a:xfrm>
            <a:off x="457200" y="1600200"/>
            <a:ext cx="64008" cy="1115568"/>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6" name="TextBox 5"/>
          <p:cNvSpPr txBox="1"/>
          <p:nvPr/>
        </p:nvSpPr>
        <p:spPr>
          <a:xfrm>
            <a:off x="685800" y="1673352"/>
            <a:ext cx="6094476" cy="261610"/>
          </a:xfrm>
          <a:prstGeom prst="rect">
            <a:avLst/>
          </a:prstGeom>
          <a:noFill/>
        </p:spPr>
        <p:txBody>
          <a:bodyPr wrap="square">
            <a:spAutoFit/>
          </a:bodyPr>
          <a:lstStyle/>
          <a:p>
            <a:pPr algn="l"/>
            <a:r>
              <a:rPr sz="1100" b="1" i="0">
                <a:solidFill>
                  <a:srgbClr val="4F8EF7"/>
                </a:solidFill>
                <a:latin typeface="+mj-lt"/>
              </a:rPr>
              <a:t>Layer 1 · Transaction Categorization</a:t>
            </a:r>
          </a:p>
        </p:txBody>
      </p:sp>
      <p:sp>
        <p:nvSpPr>
          <p:cNvPr id="7" name="TextBox 6"/>
          <p:cNvSpPr txBox="1"/>
          <p:nvPr/>
        </p:nvSpPr>
        <p:spPr>
          <a:xfrm>
            <a:off x="685800" y="1947672"/>
            <a:ext cx="6094476" cy="430887"/>
          </a:xfrm>
          <a:prstGeom prst="rect">
            <a:avLst/>
          </a:prstGeom>
          <a:noFill/>
        </p:spPr>
        <p:txBody>
          <a:bodyPr wrap="square">
            <a:spAutoFit/>
          </a:bodyPr>
          <a:lstStyle/>
          <a:p>
            <a:pPr algn="l"/>
            <a:r>
              <a:rPr sz="1100" b="0" i="0">
                <a:solidFill>
                  <a:srgbClr val="E2E8F0"/>
                </a:solidFill>
                <a:latin typeface="+mj-lt"/>
              </a:rPr>
              <a:t>Pre-trained DistilBERT fine-tuned on 68K US bank strings (HuggingFace: us-bank-transaction-categories-v2, 99.9% val accuracy).</a:t>
            </a:r>
          </a:p>
        </p:txBody>
      </p:sp>
      <p:sp>
        <p:nvSpPr>
          <p:cNvPr id="8" name="TextBox 7"/>
          <p:cNvSpPr txBox="1"/>
          <p:nvPr/>
        </p:nvSpPr>
        <p:spPr>
          <a:xfrm>
            <a:off x="685800" y="2368296"/>
            <a:ext cx="6094476" cy="430887"/>
          </a:xfrm>
          <a:prstGeom prst="rect">
            <a:avLst/>
          </a:prstGeom>
          <a:noFill/>
        </p:spPr>
        <p:txBody>
          <a:bodyPr wrap="square">
            <a:spAutoFit/>
          </a:bodyPr>
          <a:lstStyle/>
          <a:p>
            <a:pPr algn="l"/>
            <a:r>
              <a:rPr sz="1100" b="0" i="0">
                <a:solidFill>
                  <a:srgbClr val="22C55E"/>
                </a:solidFill>
                <a:latin typeface="+mj-lt"/>
              </a:rPr>
              <a:t>Rules engine first → fine-tuned classifier → review queue for &lt;0.85 confidence. No GPU required for MVP.</a:t>
            </a:r>
          </a:p>
        </p:txBody>
      </p:sp>
      <p:sp>
        <p:nvSpPr>
          <p:cNvPr id="9" name="Rectangle 8"/>
          <p:cNvSpPr/>
          <p:nvPr/>
        </p:nvSpPr>
        <p:spPr>
          <a:xfrm>
            <a:off x="457200" y="2862072"/>
            <a:ext cx="11335725" cy="111556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0" name="Rectangle 9"/>
          <p:cNvSpPr/>
          <p:nvPr/>
        </p:nvSpPr>
        <p:spPr>
          <a:xfrm>
            <a:off x="457200" y="2862072"/>
            <a:ext cx="64008" cy="11155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1" name="TextBox 10"/>
          <p:cNvSpPr txBox="1"/>
          <p:nvPr/>
        </p:nvSpPr>
        <p:spPr>
          <a:xfrm>
            <a:off x="685800" y="2935224"/>
            <a:ext cx="6094476" cy="261610"/>
          </a:xfrm>
          <a:prstGeom prst="rect">
            <a:avLst/>
          </a:prstGeom>
          <a:noFill/>
        </p:spPr>
        <p:txBody>
          <a:bodyPr wrap="square">
            <a:spAutoFit/>
          </a:bodyPr>
          <a:lstStyle/>
          <a:p>
            <a:pPr algn="l"/>
            <a:r>
              <a:rPr sz="1100" b="1" i="0">
                <a:solidFill>
                  <a:srgbClr val="7C3AED"/>
                </a:solidFill>
                <a:latin typeface="+mj-lt"/>
              </a:rPr>
              <a:t>Layer 2 · AI Budget Q&amp;A</a:t>
            </a:r>
          </a:p>
        </p:txBody>
      </p:sp>
      <p:sp>
        <p:nvSpPr>
          <p:cNvPr id="12" name="TextBox 11"/>
          <p:cNvSpPr txBox="1"/>
          <p:nvPr/>
        </p:nvSpPr>
        <p:spPr>
          <a:xfrm>
            <a:off x="685800" y="3209544"/>
            <a:ext cx="6094476" cy="430887"/>
          </a:xfrm>
          <a:prstGeom prst="rect">
            <a:avLst/>
          </a:prstGeom>
          <a:noFill/>
        </p:spPr>
        <p:txBody>
          <a:bodyPr wrap="square">
            <a:spAutoFit/>
          </a:bodyPr>
          <a:lstStyle/>
          <a:p>
            <a:pPr algn="l"/>
            <a:r>
              <a:rPr sz="1100" b="0" i="0">
                <a:solidFill>
                  <a:srgbClr val="E2E8F0"/>
                </a:solidFill>
                <a:latin typeface="+mj-lt"/>
              </a:rPr>
              <a:t>GPT-4o / Gemini with structured function calls: get_budget_status, get_transactions, get_spending_summary.</a:t>
            </a:r>
          </a:p>
        </p:txBody>
      </p:sp>
      <p:sp>
        <p:nvSpPr>
          <p:cNvPr id="13" name="TextBox 12"/>
          <p:cNvSpPr txBox="1"/>
          <p:nvPr/>
        </p:nvSpPr>
        <p:spPr>
          <a:xfrm>
            <a:off x="685800" y="3630168"/>
            <a:ext cx="6094476" cy="261610"/>
          </a:xfrm>
          <a:prstGeom prst="rect">
            <a:avLst/>
          </a:prstGeom>
          <a:noFill/>
        </p:spPr>
        <p:txBody>
          <a:bodyPr wrap="square">
            <a:spAutoFit/>
          </a:bodyPr>
          <a:lstStyle/>
          <a:p>
            <a:pPr algn="l"/>
            <a:r>
              <a:rPr sz="1100" b="0" i="0">
                <a:solidFill>
                  <a:srgbClr val="22C55E"/>
                </a:solidFill>
                <a:latin typeface="+mj-lt"/>
              </a:rPr>
              <a:t>Function calling = our IP, not the base model. ~$0.01–0.05/query. No fine-tuning needed for MVP.</a:t>
            </a:r>
          </a:p>
        </p:txBody>
      </p:sp>
      <p:sp>
        <p:nvSpPr>
          <p:cNvPr id="14" name="Rectangle 13"/>
          <p:cNvSpPr/>
          <p:nvPr/>
        </p:nvSpPr>
        <p:spPr>
          <a:xfrm>
            <a:off x="457200" y="4123944"/>
            <a:ext cx="11335725" cy="111556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5" name="Rectangle 14"/>
          <p:cNvSpPr/>
          <p:nvPr/>
        </p:nvSpPr>
        <p:spPr>
          <a:xfrm>
            <a:off x="457200" y="4123944"/>
            <a:ext cx="64008" cy="111556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6" name="TextBox 15"/>
          <p:cNvSpPr txBox="1"/>
          <p:nvPr/>
        </p:nvSpPr>
        <p:spPr>
          <a:xfrm>
            <a:off x="685800" y="4197096"/>
            <a:ext cx="6094476" cy="261610"/>
          </a:xfrm>
          <a:prstGeom prst="rect">
            <a:avLst/>
          </a:prstGeom>
          <a:noFill/>
        </p:spPr>
        <p:txBody>
          <a:bodyPr wrap="square">
            <a:spAutoFit/>
          </a:bodyPr>
          <a:lstStyle/>
          <a:p>
            <a:pPr algn="l"/>
            <a:r>
              <a:rPr sz="1100" b="1" i="0">
                <a:solidFill>
                  <a:srgbClr val="22C55E"/>
                </a:solidFill>
                <a:latin typeface="+mj-lt"/>
              </a:rPr>
              <a:t>Layer 3 · Budget Recommendations</a:t>
            </a:r>
          </a:p>
        </p:txBody>
      </p:sp>
      <p:sp>
        <p:nvSpPr>
          <p:cNvPr id="17" name="TextBox 16"/>
          <p:cNvSpPr txBox="1"/>
          <p:nvPr/>
        </p:nvSpPr>
        <p:spPr>
          <a:xfrm>
            <a:off x="685800" y="4471416"/>
            <a:ext cx="6094476" cy="261610"/>
          </a:xfrm>
          <a:prstGeom prst="rect">
            <a:avLst/>
          </a:prstGeom>
          <a:noFill/>
        </p:spPr>
        <p:txBody>
          <a:bodyPr wrap="square">
            <a:spAutoFit/>
          </a:bodyPr>
          <a:lstStyle/>
          <a:p>
            <a:pPr algn="l"/>
            <a:r>
              <a:rPr sz="1100" b="0" i="0">
                <a:solidFill>
                  <a:srgbClr val="E2E8F0"/>
                </a:solidFill>
                <a:latin typeface="+mj-lt"/>
              </a:rPr>
              <a:t>Median/trimmed-mean per category from user's own 3–6 month history + 50/30/20 framing.</a:t>
            </a:r>
          </a:p>
        </p:txBody>
      </p:sp>
      <p:sp>
        <p:nvSpPr>
          <p:cNvPr id="18" name="TextBox 17"/>
          <p:cNvSpPr txBox="1"/>
          <p:nvPr/>
        </p:nvSpPr>
        <p:spPr>
          <a:xfrm>
            <a:off x="685800" y="4892040"/>
            <a:ext cx="6094476" cy="261610"/>
          </a:xfrm>
          <a:prstGeom prst="rect">
            <a:avLst/>
          </a:prstGeom>
          <a:noFill/>
        </p:spPr>
        <p:txBody>
          <a:bodyPr wrap="square">
            <a:spAutoFit/>
          </a:bodyPr>
          <a:lstStyle/>
          <a:p>
            <a:pPr algn="l"/>
            <a:r>
              <a:rPr sz="1100" b="0" i="0">
                <a:solidFill>
                  <a:srgbClr val="22C55E"/>
                </a:solidFill>
                <a:latin typeface="+mj-lt"/>
              </a:rPr>
              <a:t>No external model needed. Outlier detection (IQR) flags one-time spikes in Phase 2. Zero cost.</a:t>
            </a:r>
          </a:p>
        </p:txBody>
      </p:sp>
      <p:sp>
        <p:nvSpPr>
          <p:cNvPr id="19" name="Rectangle 18"/>
          <p:cNvSpPr/>
          <p:nvPr/>
        </p:nvSpPr>
        <p:spPr>
          <a:xfrm>
            <a:off x="457200" y="5440680"/>
            <a:ext cx="3611880"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0" name="Rectangle 19"/>
          <p:cNvSpPr/>
          <p:nvPr/>
        </p:nvSpPr>
        <p:spPr>
          <a:xfrm>
            <a:off x="457200" y="5440680"/>
            <a:ext cx="3611880" cy="237744"/>
          </a:xfrm>
          <a:prstGeom prst="rect">
            <a:avLst/>
          </a:prstGeom>
          <a:solidFill>
            <a:srgbClr val="213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1" name="TextBox 20"/>
          <p:cNvSpPr txBox="1"/>
          <p:nvPr/>
        </p:nvSpPr>
        <p:spPr>
          <a:xfrm>
            <a:off x="566928" y="5486400"/>
            <a:ext cx="3383280" cy="261610"/>
          </a:xfrm>
          <a:prstGeom prst="rect">
            <a:avLst/>
          </a:prstGeom>
          <a:noFill/>
        </p:spPr>
        <p:txBody>
          <a:bodyPr wrap="square">
            <a:spAutoFit/>
          </a:bodyPr>
          <a:lstStyle/>
          <a:p>
            <a:pPr algn="l"/>
            <a:r>
              <a:rPr sz="1100" b="1" i="0">
                <a:solidFill>
                  <a:srgbClr val="4F8EF7"/>
                </a:solidFill>
                <a:latin typeface="+mj-lt"/>
              </a:rPr>
              <a:t>MVP — No Training from Scratch</a:t>
            </a:r>
          </a:p>
        </p:txBody>
      </p:sp>
      <p:sp>
        <p:nvSpPr>
          <p:cNvPr id="22" name="TextBox 21"/>
          <p:cNvSpPr txBox="1"/>
          <p:nvPr/>
        </p:nvSpPr>
        <p:spPr>
          <a:xfrm>
            <a:off x="566928" y="5705856"/>
            <a:ext cx="3383280" cy="769441"/>
          </a:xfrm>
          <a:prstGeom prst="rect">
            <a:avLst/>
          </a:prstGeom>
          <a:noFill/>
        </p:spPr>
        <p:txBody>
          <a:bodyPr wrap="square">
            <a:spAutoFit/>
          </a:bodyPr>
          <a:lstStyle/>
          <a:p>
            <a:pPr algn="l"/>
            <a:r>
              <a:rPr sz="1100" b="0" i="0">
                <a:solidFill>
                  <a:srgbClr val="94A3B8"/>
                </a:solidFill>
                <a:latin typeface="+mj-lt"/>
              </a:rPr>
              <a:t>• Rules engine + pre-trained DistilBERT
• GPT-4o/Gemini + function calling
• Statistical budget wizard
• Open-source OFX/CSV parsers</a:t>
            </a:r>
          </a:p>
        </p:txBody>
      </p:sp>
      <p:sp>
        <p:nvSpPr>
          <p:cNvPr id="23" name="Rectangle 22"/>
          <p:cNvSpPr/>
          <p:nvPr/>
        </p:nvSpPr>
        <p:spPr>
          <a:xfrm>
            <a:off x="4261104" y="5440680"/>
            <a:ext cx="3611880"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4" name="Rectangle 23"/>
          <p:cNvSpPr/>
          <p:nvPr/>
        </p:nvSpPr>
        <p:spPr>
          <a:xfrm>
            <a:off x="4261104" y="5440680"/>
            <a:ext cx="3611880" cy="237744"/>
          </a:xfrm>
          <a:prstGeom prst="rect">
            <a:avLst/>
          </a:prstGeom>
          <a:solidFill>
            <a:srgbClr val="1B3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5" name="TextBox 24"/>
          <p:cNvSpPr txBox="1"/>
          <p:nvPr/>
        </p:nvSpPr>
        <p:spPr>
          <a:xfrm>
            <a:off x="4370832" y="5486400"/>
            <a:ext cx="3383280" cy="261610"/>
          </a:xfrm>
          <a:prstGeom prst="rect">
            <a:avLst/>
          </a:prstGeom>
          <a:noFill/>
        </p:spPr>
        <p:txBody>
          <a:bodyPr wrap="square">
            <a:spAutoFit/>
          </a:bodyPr>
          <a:lstStyle/>
          <a:p>
            <a:pPr algn="l"/>
            <a:r>
              <a:rPr sz="1100" b="1" i="0">
                <a:solidFill>
                  <a:srgbClr val="22C55E"/>
                </a:solidFill>
                <a:latin typeface="+mj-lt"/>
              </a:rPr>
              <a:t>Phase 2 — Targeted Fine-Tuning</a:t>
            </a:r>
          </a:p>
        </p:txBody>
      </p:sp>
      <p:sp>
        <p:nvSpPr>
          <p:cNvPr id="26" name="TextBox 25"/>
          <p:cNvSpPr txBox="1"/>
          <p:nvPr/>
        </p:nvSpPr>
        <p:spPr>
          <a:xfrm>
            <a:off x="4370832" y="5705856"/>
            <a:ext cx="3383280" cy="769441"/>
          </a:xfrm>
          <a:prstGeom prst="rect">
            <a:avLst/>
          </a:prstGeom>
          <a:noFill/>
        </p:spPr>
        <p:txBody>
          <a:bodyPr wrap="square">
            <a:spAutoFit/>
          </a:bodyPr>
          <a:lstStyle/>
          <a:p>
            <a:pPr algn="l"/>
            <a:r>
              <a:rPr sz="1100" b="0" i="0">
                <a:solidFill>
                  <a:srgbClr val="94A3B8"/>
                </a:solidFill>
                <a:latin typeface="+mj-lt"/>
              </a:rPr>
              <a:t>• Fine-tune on anonymized user corrections
• Merchant normalization (FSQ data)
• Recurring detection: heuristic → ML
• 4.5M+ transaction dataset augmentation</a:t>
            </a:r>
          </a:p>
        </p:txBody>
      </p:sp>
      <p:sp>
        <p:nvSpPr>
          <p:cNvPr id="27" name="Rectangle 26"/>
          <p:cNvSpPr/>
          <p:nvPr/>
        </p:nvSpPr>
        <p:spPr>
          <a:xfrm>
            <a:off x="8065008" y="5440680"/>
            <a:ext cx="3611880" cy="12344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8" name="Rectangle 27"/>
          <p:cNvSpPr/>
          <p:nvPr/>
        </p:nvSpPr>
        <p:spPr>
          <a:xfrm>
            <a:off x="8065008" y="5440680"/>
            <a:ext cx="3611880" cy="237744"/>
          </a:xfrm>
          <a:prstGeom prst="rect">
            <a:avLst/>
          </a:prstGeom>
          <a:solidFill>
            <a:srgbClr val="282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9" name="TextBox 28"/>
          <p:cNvSpPr txBox="1"/>
          <p:nvPr/>
        </p:nvSpPr>
        <p:spPr>
          <a:xfrm>
            <a:off x="8174736" y="5486400"/>
            <a:ext cx="3383280" cy="261610"/>
          </a:xfrm>
          <a:prstGeom prst="rect">
            <a:avLst/>
          </a:prstGeom>
          <a:noFill/>
        </p:spPr>
        <p:txBody>
          <a:bodyPr wrap="square">
            <a:spAutoFit/>
          </a:bodyPr>
          <a:lstStyle/>
          <a:p>
            <a:pPr algn="l"/>
            <a:r>
              <a:rPr sz="1100" b="1" i="0">
                <a:solidFill>
                  <a:srgbClr val="7C3AED"/>
                </a:solidFill>
                <a:latin typeface="+mj-lt"/>
              </a:rPr>
              <a:t>Phase 3+ — Optional</a:t>
            </a:r>
          </a:p>
        </p:txBody>
      </p:sp>
      <p:sp>
        <p:nvSpPr>
          <p:cNvPr id="30" name="TextBox 29"/>
          <p:cNvSpPr txBox="1"/>
          <p:nvPr/>
        </p:nvSpPr>
        <p:spPr>
          <a:xfrm>
            <a:off x="8174736" y="5705856"/>
            <a:ext cx="3383280" cy="769441"/>
          </a:xfrm>
          <a:prstGeom prst="rect">
            <a:avLst/>
          </a:prstGeom>
          <a:noFill/>
        </p:spPr>
        <p:txBody>
          <a:bodyPr wrap="square">
            <a:spAutoFit/>
          </a:bodyPr>
          <a:lstStyle/>
          <a:p>
            <a:pPr algn="l"/>
            <a:r>
              <a:rPr sz="1100" b="0" i="0">
                <a:solidFill>
                  <a:srgbClr val="94A3B8"/>
                </a:solidFill>
                <a:latin typeface="+mj-lt"/>
              </a:rPr>
              <a:t>• Household embedding cache
• Local/offline small LLM (privacy+)
• Optional Plaid bank link
• Tax summary 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PRODUCT ROADMAP</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18-month path to product-market fit</a:t>
            </a:r>
          </a:p>
        </p:txBody>
      </p:sp>
      <p:sp>
        <p:nvSpPr>
          <p:cNvPr id="4" name="Rectangle 3"/>
          <p:cNvSpPr/>
          <p:nvPr/>
        </p:nvSpPr>
        <p:spPr>
          <a:xfrm>
            <a:off x="731520" y="1572768"/>
            <a:ext cx="45720" cy="5623559"/>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12648" y="1645920"/>
            <a:ext cx="274320" cy="274320"/>
          </a:xfrm>
          <a:prstGeom prst="ellipse">
            <a:avLst/>
          </a:prstGeom>
          <a:solidFill>
            <a:srgbClr val="4F8EF7"/>
          </a:solidFill>
          <a:ln w="1905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51560" y="1554480"/>
            <a:ext cx="2194560" cy="256032"/>
          </a:xfrm>
          <a:prstGeom prst="rect">
            <a:avLst/>
          </a:prstGeom>
          <a:solidFill>
            <a:srgbClr val="213252"/>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572768"/>
            <a:ext cx="2103120" cy="219456"/>
          </a:xfrm>
          <a:prstGeom prst="rect">
            <a:avLst/>
          </a:prstGeom>
          <a:noFill/>
        </p:spPr>
        <p:txBody>
          <a:bodyPr wrap="square">
            <a:spAutoFit/>
          </a:bodyPr>
          <a:lstStyle/>
          <a:p>
            <a:pPr algn="l"/>
            <a:r>
              <a:rPr sz="800" b="1" i="0">
                <a:solidFill>
                  <a:srgbClr val="4F8EF7"/>
                </a:solidFill>
                <a:latin typeface="Calibri"/>
              </a:rPr>
              <a:t>MVP · Now → Q3 2026</a:t>
            </a:r>
          </a:p>
        </p:txBody>
      </p:sp>
      <p:sp>
        <p:nvSpPr>
          <p:cNvPr id="8" name="TextBox 7"/>
          <p:cNvSpPr txBox="1"/>
          <p:nvPr/>
        </p:nvSpPr>
        <p:spPr>
          <a:xfrm>
            <a:off x="3383280" y="1572768"/>
            <a:ext cx="2743200" cy="256032"/>
          </a:xfrm>
          <a:prstGeom prst="rect">
            <a:avLst/>
          </a:prstGeom>
          <a:noFill/>
        </p:spPr>
        <p:txBody>
          <a:bodyPr wrap="square">
            <a:spAutoFit/>
          </a:bodyPr>
          <a:lstStyle/>
          <a:p>
            <a:pPr algn="l"/>
            <a:r>
              <a:rPr sz="1100" b="1" i="0">
                <a:solidFill>
                  <a:srgbClr val="FFFFFF"/>
                </a:solidFill>
                <a:latin typeface="Calibri"/>
              </a:rPr>
              <a:t>Core Platform Launch</a:t>
            </a:r>
          </a:p>
        </p:txBody>
      </p:sp>
      <p:sp>
        <p:nvSpPr>
          <p:cNvPr id="9" name="Rectangle 8"/>
          <p:cNvSpPr/>
          <p:nvPr/>
        </p:nvSpPr>
        <p:spPr>
          <a:xfrm>
            <a:off x="1051560" y="1920240"/>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61288" y="1993392"/>
            <a:ext cx="2395728" cy="274320"/>
          </a:xfrm>
          <a:prstGeom prst="rect">
            <a:avLst/>
          </a:prstGeom>
          <a:noFill/>
        </p:spPr>
        <p:txBody>
          <a:bodyPr wrap="square">
            <a:spAutoFit/>
          </a:bodyPr>
          <a:lstStyle/>
          <a:p>
            <a:pPr algn="l"/>
            <a:r>
              <a:rPr sz="1000" b="1" i="0">
                <a:solidFill>
                  <a:srgbClr val="4F8EF7"/>
                </a:solidFill>
                <a:latin typeface="Calibri"/>
              </a:rPr>
              <a:t>Auth &amp; Households</a:t>
            </a:r>
          </a:p>
        </p:txBody>
      </p:sp>
      <p:sp>
        <p:nvSpPr>
          <p:cNvPr id="11" name="TextBox 10"/>
          <p:cNvSpPr txBox="1"/>
          <p:nvPr/>
        </p:nvSpPr>
        <p:spPr>
          <a:xfrm>
            <a:off x="1161288" y="2267712"/>
            <a:ext cx="2395728" cy="621792"/>
          </a:xfrm>
          <a:prstGeom prst="rect">
            <a:avLst/>
          </a:prstGeom>
          <a:noFill/>
        </p:spPr>
        <p:txBody>
          <a:bodyPr wrap="square">
            <a:spAutoFit/>
          </a:bodyPr>
          <a:lstStyle/>
          <a:p>
            <a:pPr algn="l"/>
            <a:r>
              <a:rPr sz="900" b="0" i="0">
                <a:solidFill>
                  <a:srgbClr val="94A3B8"/>
                </a:solidFill>
                <a:latin typeface="Calibri"/>
              </a:rPr>
              <a:t>Email + Google SSO; invite system; Owner/Editor/Viewer roles</a:t>
            </a:r>
          </a:p>
        </p:txBody>
      </p:sp>
      <p:sp>
        <p:nvSpPr>
          <p:cNvPr id="12" name="Rectangle 11"/>
          <p:cNvSpPr/>
          <p:nvPr/>
        </p:nvSpPr>
        <p:spPr>
          <a:xfrm>
            <a:off x="3739896" y="1920240"/>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9624" y="1993392"/>
            <a:ext cx="2395728" cy="274320"/>
          </a:xfrm>
          <a:prstGeom prst="rect">
            <a:avLst/>
          </a:prstGeom>
          <a:noFill/>
        </p:spPr>
        <p:txBody>
          <a:bodyPr wrap="square">
            <a:spAutoFit/>
          </a:bodyPr>
          <a:lstStyle/>
          <a:p>
            <a:pPr algn="l"/>
            <a:r>
              <a:rPr sz="1000" b="1" i="0">
                <a:solidFill>
                  <a:srgbClr val="4F8EF7"/>
                </a:solidFill>
                <a:latin typeface="Calibri"/>
              </a:rPr>
              <a:t>File Import Engine</a:t>
            </a:r>
          </a:p>
        </p:txBody>
      </p:sp>
      <p:sp>
        <p:nvSpPr>
          <p:cNvPr id="14" name="TextBox 13"/>
          <p:cNvSpPr txBox="1"/>
          <p:nvPr/>
        </p:nvSpPr>
        <p:spPr>
          <a:xfrm>
            <a:off x="3849624" y="2267712"/>
            <a:ext cx="2395728" cy="621792"/>
          </a:xfrm>
          <a:prstGeom prst="rect">
            <a:avLst/>
          </a:prstGeom>
          <a:noFill/>
        </p:spPr>
        <p:txBody>
          <a:bodyPr wrap="square">
            <a:spAutoFit/>
          </a:bodyPr>
          <a:lstStyle/>
          <a:p>
            <a:pPr algn="l"/>
            <a:r>
              <a:rPr sz="900" b="0" i="0">
                <a:solidFill>
                  <a:srgbClr val="94A3B8"/>
                </a:solidFill>
                <a:latin typeface="Calibri"/>
              </a:rPr>
              <a:t>CSV, OFX, QFX; column mapper; dedup; top 10 US bank templates</a:t>
            </a:r>
          </a:p>
        </p:txBody>
      </p:sp>
      <p:sp>
        <p:nvSpPr>
          <p:cNvPr id="15" name="Rectangle 14"/>
          <p:cNvSpPr/>
          <p:nvPr/>
        </p:nvSpPr>
        <p:spPr>
          <a:xfrm>
            <a:off x="6428232" y="1920240"/>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60" y="1993392"/>
            <a:ext cx="2395728" cy="274320"/>
          </a:xfrm>
          <a:prstGeom prst="rect">
            <a:avLst/>
          </a:prstGeom>
          <a:noFill/>
        </p:spPr>
        <p:txBody>
          <a:bodyPr wrap="square">
            <a:spAutoFit/>
          </a:bodyPr>
          <a:lstStyle/>
          <a:p>
            <a:pPr algn="l"/>
            <a:r>
              <a:rPr sz="1000" b="1" i="0">
                <a:solidFill>
                  <a:srgbClr val="4F8EF7"/>
                </a:solidFill>
                <a:latin typeface="Calibri"/>
              </a:rPr>
              <a:t>Smart Categorization</a:t>
            </a:r>
          </a:p>
        </p:txBody>
      </p:sp>
      <p:sp>
        <p:nvSpPr>
          <p:cNvPr id="17" name="TextBox 16"/>
          <p:cNvSpPr txBox="1"/>
          <p:nvPr/>
        </p:nvSpPr>
        <p:spPr>
          <a:xfrm>
            <a:off x="6537960" y="2267712"/>
            <a:ext cx="2395728" cy="621792"/>
          </a:xfrm>
          <a:prstGeom prst="rect">
            <a:avLst/>
          </a:prstGeom>
          <a:noFill/>
        </p:spPr>
        <p:txBody>
          <a:bodyPr wrap="square">
            <a:spAutoFit/>
          </a:bodyPr>
          <a:lstStyle/>
          <a:p>
            <a:pPr algn="l"/>
            <a:r>
              <a:rPr sz="900" b="0" i="0">
                <a:solidFill>
                  <a:srgbClr val="94A3B8"/>
                </a:solidFill>
                <a:latin typeface="Calibri"/>
              </a:rPr>
              <a:t>Rules + DistilBERT; review queue; family category tree</a:t>
            </a:r>
          </a:p>
        </p:txBody>
      </p:sp>
      <p:sp>
        <p:nvSpPr>
          <p:cNvPr id="18" name="Rectangle 17"/>
          <p:cNvSpPr/>
          <p:nvPr/>
        </p:nvSpPr>
        <p:spPr>
          <a:xfrm>
            <a:off x="9116568" y="1920240"/>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26296" y="1993392"/>
            <a:ext cx="2395728" cy="274320"/>
          </a:xfrm>
          <a:prstGeom prst="rect">
            <a:avLst/>
          </a:prstGeom>
          <a:noFill/>
        </p:spPr>
        <p:txBody>
          <a:bodyPr wrap="square">
            <a:spAutoFit/>
          </a:bodyPr>
          <a:lstStyle/>
          <a:p>
            <a:pPr algn="l"/>
            <a:r>
              <a:rPr sz="1000" b="1" i="0">
                <a:solidFill>
                  <a:srgbClr val="4F8EF7"/>
                </a:solidFill>
                <a:latin typeface="Calibri"/>
              </a:rPr>
              <a:t>AI Q&amp;A Assistant</a:t>
            </a:r>
          </a:p>
        </p:txBody>
      </p:sp>
      <p:sp>
        <p:nvSpPr>
          <p:cNvPr id="20" name="TextBox 19"/>
          <p:cNvSpPr txBox="1"/>
          <p:nvPr/>
        </p:nvSpPr>
        <p:spPr>
          <a:xfrm>
            <a:off x="9226296" y="2267712"/>
            <a:ext cx="2395728" cy="621792"/>
          </a:xfrm>
          <a:prstGeom prst="rect">
            <a:avLst/>
          </a:prstGeom>
          <a:noFill/>
        </p:spPr>
        <p:txBody>
          <a:bodyPr wrap="square">
            <a:spAutoFit/>
          </a:bodyPr>
          <a:lstStyle/>
          <a:p>
            <a:pPr algn="l"/>
            <a:r>
              <a:rPr sz="900" b="0" i="0">
                <a:solidFill>
                  <a:srgbClr val="94A3B8"/>
                </a:solidFill>
                <a:latin typeface="Calibri"/>
              </a:rPr>
              <a:t>GPT-4o / Gemini function calling; grounded NL budget answers</a:t>
            </a:r>
          </a:p>
        </p:txBody>
      </p:sp>
      <p:sp>
        <p:nvSpPr>
          <p:cNvPr id="21" name="Oval 20"/>
          <p:cNvSpPr/>
          <p:nvPr/>
        </p:nvSpPr>
        <p:spPr>
          <a:xfrm>
            <a:off x="612648" y="3218688"/>
            <a:ext cx="274320" cy="274320"/>
          </a:xfrm>
          <a:prstGeom prst="ellipse">
            <a:avLst/>
          </a:prstGeom>
          <a:solidFill>
            <a:srgbClr val="0A0E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51560" y="3127248"/>
            <a:ext cx="2194560" cy="256032"/>
          </a:xfrm>
          <a:prstGeom prst="rect">
            <a:avLst/>
          </a:prstGeom>
          <a:solidFill>
            <a:srgbClr val="1B3A3B"/>
          </a:solidFill>
          <a:ln w="508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3145536"/>
            <a:ext cx="2103120" cy="219456"/>
          </a:xfrm>
          <a:prstGeom prst="rect">
            <a:avLst/>
          </a:prstGeom>
          <a:noFill/>
        </p:spPr>
        <p:txBody>
          <a:bodyPr wrap="square">
            <a:spAutoFit/>
          </a:bodyPr>
          <a:lstStyle/>
          <a:p>
            <a:pPr algn="l"/>
            <a:r>
              <a:rPr sz="800" b="1" i="0">
                <a:solidFill>
                  <a:srgbClr val="22C55E"/>
                </a:solidFill>
                <a:latin typeface="Calibri"/>
              </a:rPr>
              <a:t>Phase 2 · Q4 2026 → Q1 2027</a:t>
            </a:r>
          </a:p>
        </p:txBody>
      </p:sp>
      <p:sp>
        <p:nvSpPr>
          <p:cNvPr id="24" name="TextBox 23"/>
          <p:cNvSpPr txBox="1"/>
          <p:nvPr/>
        </p:nvSpPr>
        <p:spPr>
          <a:xfrm>
            <a:off x="3383280" y="3145536"/>
            <a:ext cx="2743200" cy="256032"/>
          </a:xfrm>
          <a:prstGeom prst="rect">
            <a:avLst/>
          </a:prstGeom>
          <a:noFill/>
        </p:spPr>
        <p:txBody>
          <a:bodyPr wrap="square">
            <a:spAutoFit/>
          </a:bodyPr>
          <a:lstStyle/>
          <a:p>
            <a:pPr algn="l"/>
            <a:r>
              <a:rPr sz="1100" b="1" i="0">
                <a:solidFill>
                  <a:srgbClr val="FFFFFF"/>
                </a:solidFill>
                <a:latin typeface="Calibri"/>
              </a:rPr>
              <a:t>Intelligence &amp; Retention</a:t>
            </a:r>
          </a:p>
        </p:txBody>
      </p:sp>
      <p:sp>
        <p:nvSpPr>
          <p:cNvPr id="25" name="Rectangle 24"/>
          <p:cNvSpPr/>
          <p:nvPr/>
        </p:nvSpPr>
        <p:spPr>
          <a:xfrm>
            <a:off x="1051560" y="3493008"/>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61288" y="3566160"/>
            <a:ext cx="2395728" cy="274320"/>
          </a:xfrm>
          <a:prstGeom prst="rect">
            <a:avLst/>
          </a:prstGeom>
          <a:noFill/>
        </p:spPr>
        <p:txBody>
          <a:bodyPr wrap="square">
            <a:spAutoFit/>
          </a:bodyPr>
          <a:lstStyle/>
          <a:p>
            <a:pPr algn="l"/>
            <a:r>
              <a:rPr sz="1000" b="1" i="0">
                <a:solidFill>
                  <a:srgbClr val="22C55E"/>
                </a:solidFill>
                <a:latin typeface="Calibri"/>
              </a:rPr>
              <a:t>Recurring Detection</a:t>
            </a:r>
          </a:p>
        </p:txBody>
      </p:sp>
      <p:sp>
        <p:nvSpPr>
          <p:cNvPr id="27" name="TextBox 26"/>
          <p:cNvSpPr txBox="1"/>
          <p:nvPr/>
        </p:nvSpPr>
        <p:spPr>
          <a:xfrm>
            <a:off x="1161288" y="3840480"/>
            <a:ext cx="2395728" cy="621792"/>
          </a:xfrm>
          <a:prstGeom prst="rect">
            <a:avLst/>
          </a:prstGeom>
          <a:noFill/>
        </p:spPr>
        <p:txBody>
          <a:bodyPr wrap="square">
            <a:spAutoFit/>
          </a:bodyPr>
          <a:lstStyle/>
          <a:p>
            <a:pPr algn="l"/>
            <a:r>
              <a:rPr sz="900" b="0" i="0">
                <a:solidFill>
                  <a:srgbClr val="94A3B8"/>
                </a:solidFill>
                <a:latin typeface="Calibri"/>
              </a:rPr>
              <a:t>Subscriptions, bills, payroll auto-recognition</a:t>
            </a:r>
          </a:p>
        </p:txBody>
      </p:sp>
      <p:sp>
        <p:nvSpPr>
          <p:cNvPr id="28" name="Rectangle 27"/>
          <p:cNvSpPr/>
          <p:nvPr/>
        </p:nvSpPr>
        <p:spPr>
          <a:xfrm>
            <a:off x="3739896" y="3493008"/>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9624" y="3566160"/>
            <a:ext cx="2395728" cy="274320"/>
          </a:xfrm>
          <a:prstGeom prst="rect">
            <a:avLst/>
          </a:prstGeom>
          <a:noFill/>
        </p:spPr>
        <p:txBody>
          <a:bodyPr wrap="square">
            <a:spAutoFit/>
          </a:bodyPr>
          <a:lstStyle/>
          <a:p>
            <a:pPr algn="l"/>
            <a:r>
              <a:rPr sz="1000" b="1" i="0">
                <a:solidFill>
                  <a:srgbClr val="22C55E"/>
                </a:solidFill>
                <a:latin typeface="Calibri"/>
              </a:rPr>
              <a:t>Split Transactions</a:t>
            </a:r>
          </a:p>
        </p:txBody>
      </p:sp>
      <p:sp>
        <p:nvSpPr>
          <p:cNvPr id="30" name="TextBox 29"/>
          <p:cNvSpPr txBox="1"/>
          <p:nvPr/>
        </p:nvSpPr>
        <p:spPr>
          <a:xfrm>
            <a:off x="3849624" y="3840480"/>
            <a:ext cx="2395728" cy="621792"/>
          </a:xfrm>
          <a:prstGeom prst="rect">
            <a:avLst/>
          </a:prstGeom>
          <a:noFill/>
        </p:spPr>
        <p:txBody>
          <a:bodyPr wrap="square">
            <a:spAutoFit/>
          </a:bodyPr>
          <a:lstStyle/>
          <a:p>
            <a:pPr algn="l"/>
            <a:r>
              <a:rPr sz="900" b="0" i="0">
                <a:solidFill>
                  <a:srgbClr val="94A3B8"/>
                </a:solidFill>
                <a:latin typeface="Calibri"/>
              </a:rPr>
              <a:t>Split single transactions across categories or members</a:t>
            </a:r>
          </a:p>
        </p:txBody>
      </p:sp>
      <p:sp>
        <p:nvSpPr>
          <p:cNvPr id="31" name="Rectangle 30"/>
          <p:cNvSpPr/>
          <p:nvPr/>
        </p:nvSpPr>
        <p:spPr>
          <a:xfrm>
            <a:off x="6428232" y="3493008"/>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3566160"/>
            <a:ext cx="2395728" cy="274320"/>
          </a:xfrm>
          <a:prstGeom prst="rect">
            <a:avLst/>
          </a:prstGeom>
          <a:noFill/>
        </p:spPr>
        <p:txBody>
          <a:bodyPr wrap="square">
            <a:spAutoFit/>
          </a:bodyPr>
          <a:lstStyle/>
          <a:p>
            <a:pPr algn="l"/>
            <a:r>
              <a:rPr sz="1000" b="1" i="0">
                <a:solidFill>
                  <a:srgbClr val="22C55E"/>
                </a:solidFill>
                <a:latin typeface="Calibri"/>
              </a:rPr>
              <a:t>Sinking Funds</a:t>
            </a:r>
          </a:p>
        </p:txBody>
      </p:sp>
      <p:sp>
        <p:nvSpPr>
          <p:cNvPr id="33" name="TextBox 32"/>
          <p:cNvSpPr txBox="1"/>
          <p:nvPr/>
        </p:nvSpPr>
        <p:spPr>
          <a:xfrm>
            <a:off x="6537960" y="3840480"/>
            <a:ext cx="2395728" cy="621792"/>
          </a:xfrm>
          <a:prstGeom prst="rect">
            <a:avLst/>
          </a:prstGeom>
          <a:noFill/>
        </p:spPr>
        <p:txBody>
          <a:bodyPr wrap="square">
            <a:spAutoFit/>
          </a:bodyPr>
          <a:lstStyle/>
          <a:p>
            <a:pPr algn="l"/>
            <a:r>
              <a:rPr sz="900" b="0" i="0">
                <a:solidFill>
                  <a:srgbClr val="94A3B8"/>
                </a:solidFill>
                <a:latin typeface="Calibri"/>
              </a:rPr>
              <a:t>Envelope-style goal saving with visual progress tracking</a:t>
            </a:r>
          </a:p>
        </p:txBody>
      </p:sp>
      <p:sp>
        <p:nvSpPr>
          <p:cNvPr id="34" name="Rectangle 33"/>
          <p:cNvSpPr/>
          <p:nvPr/>
        </p:nvSpPr>
        <p:spPr>
          <a:xfrm>
            <a:off x="9116568" y="3493008"/>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26296" y="3566160"/>
            <a:ext cx="2395728" cy="274320"/>
          </a:xfrm>
          <a:prstGeom prst="rect">
            <a:avLst/>
          </a:prstGeom>
          <a:noFill/>
        </p:spPr>
        <p:txBody>
          <a:bodyPr wrap="square">
            <a:spAutoFit/>
          </a:bodyPr>
          <a:lstStyle/>
          <a:p>
            <a:pPr algn="l"/>
            <a:r>
              <a:rPr sz="1000" b="1" i="0">
                <a:solidFill>
                  <a:srgbClr val="22C55E"/>
                </a:solidFill>
                <a:latin typeface="Calibri"/>
              </a:rPr>
              <a:t>ML Categorization</a:t>
            </a:r>
          </a:p>
        </p:txBody>
      </p:sp>
      <p:sp>
        <p:nvSpPr>
          <p:cNvPr id="36" name="TextBox 35"/>
          <p:cNvSpPr txBox="1"/>
          <p:nvPr/>
        </p:nvSpPr>
        <p:spPr>
          <a:xfrm>
            <a:off x="9226296" y="3840480"/>
            <a:ext cx="2395728" cy="621792"/>
          </a:xfrm>
          <a:prstGeom prst="rect">
            <a:avLst/>
          </a:prstGeom>
          <a:noFill/>
        </p:spPr>
        <p:txBody>
          <a:bodyPr wrap="square">
            <a:spAutoFit/>
          </a:bodyPr>
          <a:lstStyle/>
          <a:p>
            <a:pPr algn="l"/>
            <a:r>
              <a:rPr sz="900" b="0" i="0">
                <a:solidFill>
                  <a:srgbClr val="94A3B8"/>
                </a:solidFill>
                <a:latin typeface="Calibri"/>
              </a:rPr>
              <a:t>Fine-tune on user corrections; merchant normalization</a:t>
            </a:r>
          </a:p>
        </p:txBody>
      </p:sp>
      <p:sp>
        <p:nvSpPr>
          <p:cNvPr id="37" name="Oval 36"/>
          <p:cNvSpPr/>
          <p:nvPr/>
        </p:nvSpPr>
        <p:spPr>
          <a:xfrm>
            <a:off x="612648" y="4791456"/>
            <a:ext cx="274320" cy="274320"/>
          </a:xfrm>
          <a:prstGeom prst="ellipse">
            <a:avLst/>
          </a:prstGeom>
          <a:solidFill>
            <a:srgbClr val="0A0E1A"/>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51560" y="4700016"/>
            <a:ext cx="2194560" cy="256032"/>
          </a:xfrm>
          <a:prstGeom prst="rect">
            <a:avLst/>
          </a:prstGeom>
          <a:solidFill>
            <a:srgbClr val="282550"/>
          </a:solidFill>
          <a:ln w="508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97280" y="4718304"/>
            <a:ext cx="2103120" cy="219456"/>
          </a:xfrm>
          <a:prstGeom prst="rect">
            <a:avLst/>
          </a:prstGeom>
          <a:noFill/>
        </p:spPr>
        <p:txBody>
          <a:bodyPr wrap="square">
            <a:spAutoFit/>
          </a:bodyPr>
          <a:lstStyle/>
          <a:p>
            <a:pPr algn="l"/>
            <a:r>
              <a:rPr sz="800" b="1" i="0">
                <a:solidFill>
                  <a:srgbClr val="7C3AED"/>
                </a:solidFill>
                <a:latin typeface="Calibri"/>
              </a:rPr>
              <a:t>Phase 3 · Q2 2027+</a:t>
            </a:r>
          </a:p>
        </p:txBody>
      </p:sp>
      <p:sp>
        <p:nvSpPr>
          <p:cNvPr id="40" name="TextBox 39"/>
          <p:cNvSpPr txBox="1"/>
          <p:nvPr/>
        </p:nvSpPr>
        <p:spPr>
          <a:xfrm>
            <a:off x="3383280" y="4718304"/>
            <a:ext cx="2743200" cy="256032"/>
          </a:xfrm>
          <a:prstGeom prst="rect">
            <a:avLst/>
          </a:prstGeom>
          <a:noFill/>
        </p:spPr>
        <p:txBody>
          <a:bodyPr wrap="square">
            <a:spAutoFit/>
          </a:bodyPr>
          <a:lstStyle/>
          <a:p>
            <a:pPr algn="l"/>
            <a:r>
              <a:rPr sz="1100" b="1" i="0">
                <a:solidFill>
                  <a:srgbClr val="FFFFFF"/>
                </a:solidFill>
                <a:latin typeface="Calibri"/>
              </a:rPr>
              <a:t>Scale &amp; Expansion</a:t>
            </a:r>
          </a:p>
        </p:txBody>
      </p:sp>
      <p:sp>
        <p:nvSpPr>
          <p:cNvPr id="41" name="Rectangle 40"/>
          <p:cNvSpPr/>
          <p:nvPr/>
        </p:nvSpPr>
        <p:spPr>
          <a:xfrm>
            <a:off x="1051560" y="5065776"/>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61288" y="5138928"/>
            <a:ext cx="2395728" cy="274320"/>
          </a:xfrm>
          <a:prstGeom prst="rect">
            <a:avLst/>
          </a:prstGeom>
          <a:noFill/>
        </p:spPr>
        <p:txBody>
          <a:bodyPr wrap="square">
            <a:spAutoFit/>
          </a:bodyPr>
          <a:lstStyle/>
          <a:p>
            <a:pPr algn="l"/>
            <a:r>
              <a:rPr sz="1000" b="1" i="0">
                <a:solidFill>
                  <a:srgbClr val="7C3AED"/>
                </a:solidFill>
                <a:latin typeface="Calibri"/>
              </a:rPr>
              <a:t>Optional Plaid</a:t>
            </a:r>
          </a:p>
        </p:txBody>
      </p:sp>
      <p:sp>
        <p:nvSpPr>
          <p:cNvPr id="43" name="TextBox 42"/>
          <p:cNvSpPr txBox="1"/>
          <p:nvPr/>
        </p:nvSpPr>
        <p:spPr>
          <a:xfrm>
            <a:off x="1161288" y="5413248"/>
            <a:ext cx="2395728" cy="621792"/>
          </a:xfrm>
          <a:prstGeom prst="rect">
            <a:avLst/>
          </a:prstGeom>
          <a:noFill/>
        </p:spPr>
        <p:txBody>
          <a:bodyPr wrap="square">
            <a:spAutoFit/>
          </a:bodyPr>
          <a:lstStyle/>
          <a:p>
            <a:pPr algn="l"/>
            <a:r>
              <a:rPr sz="900" b="0" i="0">
                <a:solidFill>
                  <a:srgbClr val="94A3B8"/>
                </a:solidFill>
                <a:latin typeface="Calibri"/>
              </a:rPr>
              <a:t>Opt-in bank sync; expands TAM without abandoning privacy</a:t>
            </a:r>
          </a:p>
        </p:txBody>
      </p:sp>
      <p:sp>
        <p:nvSpPr>
          <p:cNvPr id="44" name="Rectangle 43"/>
          <p:cNvSpPr/>
          <p:nvPr/>
        </p:nvSpPr>
        <p:spPr>
          <a:xfrm>
            <a:off x="3739896" y="5065776"/>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9624" y="5138928"/>
            <a:ext cx="2395728" cy="274320"/>
          </a:xfrm>
          <a:prstGeom prst="rect">
            <a:avLst/>
          </a:prstGeom>
          <a:noFill/>
        </p:spPr>
        <p:txBody>
          <a:bodyPr wrap="square">
            <a:spAutoFit/>
          </a:bodyPr>
          <a:lstStyle/>
          <a:p>
            <a:pPr algn="l"/>
            <a:r>
              <a:rPr sz="1000" b="1" i="0">
                <a:solidFill>
                  <a:srgbClr val="7C3AED"/>
                </a:solidFill>
                <a:latin typeface="Calibri"/>
              </a:rPr>
              <a:t>Teen Allowances</a:t>
            </a:r>
          </a:p>
        </p:txBody>
      </p:sp>
      <p:sp>
        <p:nvSpPr>
          <p:cNvPr id="46" name="TextBox 45"/>
          <p:cNvSpPr txBox="1"/>
          <p:nvPr/>
        </p:nvSpPr>
        <p:spPr>
          <a:xfrm>
            <a:off x="3849624" y="5413248"/>
            <a:ext cx="2395728" cy="621792"/>
          </a:xfrm>
          <a:prstGeom prst="rect">
            <a:avLst/>
          </a:prstGeom>
          <a:noFill/>
        </p:spPr>
        <p:txBody>
          <a:bodyPr wrap="square">
            <a:spAutoFit/>
          </a:bodyPr>
          <a:lstStyle/>
          <a:p>
            <a:pPr algn="l"/>
            <a:r>
              <a:rPr sz="900" b="0" i="0">
                <a:solidFill>
                  <a:srgbClr val="94A3B8"/>
                </a:solidFill>
                <a:latin typeface="Calibri"/>
              </a:rPr>
              <a:t>Sub-accounts; spending limits; financial literacy features</a:t>
            </a:r>
          </a:p>
        </p:txBody>
      </p:sp>
      <p:sp>
        <p:nvSpPr>
          <p:cNvPr id="47" name="Rectangle 46"/>
          <p:cNvSpPr/>
          <p:nvPr/>
        </p:nvSpPr>
        <p:spPr>
          <a:xfrm>
            <a:off x="6428232" y="5065776"/>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537960" y="5138928"/>
            <a:ext cx="2395728" cy="274320"/>
          </a:xfrm>
          <a:prstGeom prst="rect">
            <a:avLst/>
          </a:prstGeom>
          <a:noFill/>
        </p:spPr>
        <p:txBody>
          <a:bodyPr wrap="square">
            <a:spAutoFit/>
          </a:bodyPr>
          <a:lstStyle/>
          <a:p>
            <a:pPr algn="l"/>
            <a:r>
              <a:rPr sz="1000" b="1" i="0">
                <a:solidFill>
                  <a:srgbClr val="7C3AED"/>
                </a:solidFill>
                <a:latin typeface="Calibri"/>
              </a:rPr>
              <a:t>Tax Summaries</a:t>
            </a:r>
          </a:p>
        </p:txBody>
      </p:sp>
      <p:sp>
        <p:nvSpPr>
          <p:cNvPr id="49" name="TextBox 48"/>
          <p:cNvSpPr txBox="1"/>
          <p:nvPr/>
        </p:nvSpPr>
        <p:spPr>
          <a:xfrm>
            <a:off x="6537960" y="5413248"/>
            <a:ext cx="2395728" cy="621792"/>
          </a:xfrm>
          <a:prstGeom prst="rect">
            <a:avLst/>
          </a:prstGeom>
          <a:noFill/>
        </p:spPr>
        <p:txBody>
          <a:bodyPr wrap="square">
            <a:spAutoFit/>
          </a:bodyPr>
          <a:lstStyle/>
          <a:p>
            <a:pPr algn="l"/>
            <a:r>
              <a:rPr sz="900" b="0" i="0">
                <a:solidFill>
                  <a:srgbClr val="94A3B8"/>
                </a:solidFill>
                <a:latin typeface="Calibri"/>
              </a:rPr>
              <a:t>Deduction categories; year-end export for accountants</a:t>
            </a:r>
          </a:p>
        </p:txBody>
      </p:sp>
      <p:sp>
        <p:nvSpPr>
          <p:cNvPr id="50" name="Rectangle 49"/>
          <p:cNvSpPr/>
          <p:nvPr/>
        </p:nvSpPr>
        <p:spPr>
          <a:xfrm>
            <a:off x="9116568" y="5065776"/>
            <a:ext cx="2578608" cy="10698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226296" y="5138928"/>
            <a:ext cx="2395728" cy="274320"/>
          </a:xfrm>
          <a:prstGeom prst="rect">
            <a:avLst/>
          </a:prstGeom>
          <a:noFill/>
        </p:spPr>
        <p:txBody>
          <a:bodyPr wrap="square">
            <a:spAutoFit/>
          </a:bodyPr>
          <a:lstStyle/>
          <a:p>
            <a:pPr algn="l"/>
            <a:r>
              <a:rPr sz="1000" b="1" i="0">
                <a:solidFill>
                  <a:srgbClr val="7C3AED"/>
                </a:solidFill>
                <a:latin typeface="Calibri"/>
              </a:rPr>
              <a:t>Multi-Currency</a:t>
            </a:r>
          </a:p>
        </p:txBody>
      </p:sp>
      <p:sp>
        <p:nvSpPr>
          <p:cNvPr id="52" name="TextBox 51"/>
          <p:cNvSpPr txBox="1"/>
          <p:nvPr/>
        </p:nvSpPr>
        <p:spPr>
          <a:xfrm>
            <a:off x="9226296" y="5413248"/>
            <a:ext cx="2395728" cy="621792"/>
          </a:xfrm>
          <a:prstGeom prst="rect">
            <a:avLst/>
          </a:prstGeom>
          <a:noFill/>
        </p:spPr>
        <p:txBody>
          <a:bodyPr wrap="square">
            <a:spAutoFit/>
          </a:bodyPr>
          <a:lstStyle/>
          <a:p>
            <a:pPr algn="l"/>
            <a:r>
              <a:rPr sz="900" b="0" i="0">
                <a:solidFill>
                  <a:srgbClr val="94A3B8"/>
                </a:solidFill>
                <a:latin typeface="Calibri"/>
              </a:rPr>
              <a:t>International households; travel mode; FX normalization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61610"/>
          </a:xfrm>
          <a:prstGeom prst="rect">
            <a:avLst/>
          </a:prstGeom>
          <a:noFill/>
        </p:spPr>
        <p:txBody>
          <a:bodyPr wrap="square">
            <a:spAutoFit/>
          </a:bodyPr>
          <a:lstStyle/>
          <a:p>
            <a:pPr algn="l"/>
            <a:r>
              <a:rPr sz="1100" b="1" i="0">
                <a:solidFill>
                  <a:srgbClr val="4F8EF7"/>
                </a:solidFill>
                <a:latin typeface="+mj-lt"/>
              </a:rPr>
              <a:t>PRIVACY &amp; DATA PROTECTION</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PII protected before it leaves your browser</a:t>
            </a:r>
          </a:p>
        </p:txBody>
      </p:sp>
      <p:sp>
        <p:nvSpPr>
          <p:cNvPr id="4" name="Rectangle 3"/>
          <p:cNvSpPr/>
          <p:nvPr/>
        </p:nvSpPr>
        <p:spPr>
          <a:xfrm>
            <a:off x="457200" y="1572768"/>
            <a:ext cx="2377440" cy="960120"/>
          </a:xfrm>
          <a:prstGeom prst="rect">
            <a:avLst/>
          </a:prstGeom>
          <a:solidFill>
            <a:srgbClr val="1A2235"/>
          </a:solidFill>
          <a:ln w="9525">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5" name="TextBox 4"/>
          <p:cNvSpPr txBox="1"/>
          <p:nvPr/>
        </p:nvSpPr>
        <p:spPr>
          <a:xfrm>
            <a:off x="457200" y="1645920"/>
            <a:ext cx="2377440" cy="347472"/>
          </a:xfrm>
          <a:prstGeom prst="rect">
            <a:avLst/>
          </a:prstGeom>
          <a:noFill/>
        </p:spPr>
        <p:txBody>
          <a:bodyPr wrap="square">
            <a:spAutoFit/>
          </a:bodyPr>
          <a:lstStyle/>
          <a:p>
            <a:pPr algn="ctr"/>
            <a:r>
              <a:rPr sz="2000" b="0" i="0">
                <a:solidFill>
                  <a:srgbClr val="E2E8F0"/>
                </a:solidFill>
                <a:latin typeface="Calibri"/>
              </a:rPr>
              <a:t>📱</a:t>
            </a:r>
          </a:p>
        </p:txBody>
      </p:sp>
      <p:sp>
        <p:nvSpPr>
          <p:cNvPr id="6" name="TextBox 5"/>
          <p:cNvSpPr txBox="1"/>
          <p:nvPr/>
        </p:nvSpPr>
        <p:spPr>
          <a:xfrm>
            <a:off x="457200" y="1975104"/>
            <a:ext cx="2377440" cy="261610"/>
          </a:xfrm>
          <a:prstGeom prst="rect">
            <a:avLst/>
          </a:prstGeom>
          <a:noFill/>
        </p:spPr>
        <p:txBody>
          <a:bodyPr wrap="square">
            <a:spAutoFit/>
          </a:bodyPr>
          <a:lstStyle/>
          <a:p>
            <a:pPr algn="ctr"/>
            <a:r>
              <a:rPr sz="1100" b="1" i="0">
                <a:solidFill>
                  <a:srgbClr val="FFFFFF"/>
                </a:solidFill>
                <a:latin typeface="+mj-lt"/>
              </a:rPr>
              <a:t>User Data</a:t>
            </a:r>
          </a:p>
        </p:txBody>
      </p:sp>
      <p:sp>
        <p:nvSpPr>
          <p:cNvPr id="7" name="TextBox 6"/>
          <p:cNvSpPr txBox="1"/>
          <p:nvPr/>
        </p:nvSpPr>
        <p:spPr>
          <a:xfrm>
            <a:off x="457200" y="2231136"/>
            <a:ext cx="2377440" cy="261610"/>
          </a:xfrm>
          <a:prstGeom prst="rect">
            <a:avLst/>
          </a:prstGeom>
          <a:noFill/>
        </p:spPr>
        <p:txBody>
          <a:bodyPr wrap="square">
            <a:spAutoFit/>
          </a:bodyPr>
          <a:lstStyle/>
          <a:p>
            <a:pPr algn="ctr"/>
            <a:r>
              <a:rPr sz="1100" b="0" i="0">
                <a:solidFill>
                  <a:srgbClr val="4F8EF7"/>
                </a:solidFill>
                <a:latin typeface="+mj-lt"/>
              </a:rPr>
              <a:t>In browser only</a:t>
            </a:r>
          </a:p>
        </p:txBody>
      </p:sp>
      <p:sp>
        <p:nvSpPr>
          <p:cNvPr id="8" name="TextBox 7"/>
          <p:cNvSpPr txBox="1"/>
          <p:nvPr/>
        </p:nvSpPr>
        <p:spPr>
          <a:xfrm>
            <a:off x="2834640" y="1828800"/>
            <a:ext cx="658368" cy="261610"/>
          </a:xfrm>
          <a:prstGeom prst="rect">
            <a:avLst/>
          </a:prstGeom>
          <a:noFill/>
        </p:spPr>
        <p:txBody>
          <a:bodyPr wrap="square">
            <a:spAutoFit/>
          </a:bodyPr>
          <a:lstStyle/>
          <a:p>
            <a:pPr algn="ctr"/>
            <a:r>
              <a:rPr sz="1100" b="0" i="0">
                <a:solidFill>
                  <a:srgbClr val="94A3B8"/>
                </a:solidFill>
                <a:latin typeface="+mj-lt"/>
              </a:rPr>
              <a:t>→</a:t>
            </a:r>
          </a:p>
        </p:txBody>
      </p:sp>
      <p:sp>
        <p:nvSpPr>
          <p:cNvPr id="9" name="Rectangle 8"/>
          <p:cNvSpPr/>
          <p:nvPr/>
        </p:nvSpPr>
        <p:spPr>
          <a:xfrm>
            <a:off x="3493008" y="1572768"/>
            <a:ext cx="2377440" cy="960120"/>
          </a:xfrm>
          <a:prstGeom prst="rect">
            <a:avLst/>
          </a:prstGeom>
          <a:solidFill>
            <a:srgbClr val="1A2235"/>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0" name="TextBox 9"/>
          <p:cNvSpPr txBox="1"/>
          <p:nvPr/>
        </p:nvSpPr>
        <p:spPr>
          <a:xfrm>
            <a:off x="3493008" y="1645920"/>
            <a:ext cx="2377440" cy="347472"/>
          </a:xfrm>
          <a:prstGeom prst="rect">
            <a:avLst/>
          </a:prstGeom>
          <a:noFill/>
        </p:spPr>
        <p:txBody>
          <a:bodyPr wrap="square">
            <a:spAutoFit/>
          </a:bodyPr>
          <a:lstStyle/>
          <a:p>
            <a:pPr algn="ctr"/>
            <a:r>
              <a:rPr sz="2000" b="0" i="0">
                <a:solidFill>
                  <a:srgbClr val="E2E8F0"/>
                </a:solidFill>
                <a:latin typeface="Calibri"/>
              </a:rPr>
              <a:t>🔒</a:t>
            </a:r>
          </a:p>
        </p:txBody>
      </p:sp>
      <p:sp>
        <p:nvSpPr>
          <p:cNvPr id="11" name="TextBox 10"/>
          <p:cNvSpPr txBox="1"/>
          <p:nvPr/>
        </p:nvSpPr>
        <p:spPr>
          <a:xfrm>
            <a:off x="3493008" y="1975104"/>
            <a:ext cx="2377440" cy="261610"/>
          </a:xfrm>
          <a:prstGeom prst="rect">
            <a:avLst/>
          </a:prstGeom>
          <a:noFill/>
        </p:spPr>
        <p:txBody>
          <a:bodyPr wrap="square">
            <a:spAutoFit/>
          </a:bodyPr>
          <a:lstStyle/>
          <a:p>
            <a:pPr algn="ctr"/>
            <a:r>
              <a:rPr sz="1100" b="1" i="0">
                <a:solidFill>
                  <a:srgbClr val="FFFFFF"/>
                </a:solidFill>
                <a:latin typeface="+mj-lt"/>
              </a:rPr>
              <a:t>PII Scrubber</a:t>
            </a:r>
          </a:p>
        </p:txBody>
      </p:sp>
      <p:sp>
        <p:nvSpPr>
          <p:cNvPr id="12" name="TextBox 11"/>
          <p:cNvSpPr txBox="1"/>
          <p:nvPr/>
        </p:nvSpPr>
        <p:spPr>
          <a:xfrm>
            <a:off x="3493008" y="2231136"/>
            <a:ext cx="2377440" cy="261610"/>
          </a:xfrm>
          <a:prstGeom prst="rect">
            <a:avLst/>
          </a:prstGeom>
          <a:noFill/>
        </p:spPr>
        <p:txBody>
          <a:bodyPr wrap="square">
            <a:spAutoFit/>
          </a:bodyPr>
          <a:lstStyle/>
          <a:p>
            <a:pPr algn="ctr"/>
            <a:r>
              <a:rPr sz="1100" b="0" i="0" dirty="0">
                <a:solidFill>
                  <a:srgbClr val="22C55E"/>
                </a:solidFill>
                <a:latin typeface="+mj-lt"/>
              </a:rPr>
              <a:t>Names stripped</a:t>
            </a:r>
            <a:r>
              <a:rPr lang="en-US" sz="1100" b="0" i="0" dirty="0">
                <a:solidFill>
                  <a:srgbClr val="22C55E"/>
                </a:solidFill>
                <a:latin typeface="+mj-lt"/>
              </a:rPr>
              <a:t>, </a:t>
            </a:r>
            <a:r>
              <a:rPr sz="1100" b="0" i="0" dirty="0">
                <a:solidFill>
                  <a:srgbClr val="22C55E"/>
                </a:solidFill>
                <a:latin typeface="+mj-lt"/>
              </a:rPr>
              <a:t>Notes removed</a:t>
            </a:r>
          </a:p>
        </p:txBody>
      </p:sp>
      <p:sp>
        <p:nvSpPr>
          <p:cNvPr id="13" name="TextBox 12"/>
          <p:cNvSpPr txBox="1"/>
          <p:nvPr/>
        </p:nvSpPr>
        <p:spPr>
          <a:xfrm>
            <a:off x="5870448" y="1828800"/>
            <a:ext cx="658368" cy="261610"/>
          </a:xfrm>
          <a:prstGeom prst="rect">
            <a:avLst/>
          </a:prstGeom>
          <a:noFill/>
        </p:spPr>
        <p:txBody>
          <a:bodyPr wrap="square">
            <a:spAutoFit/>
          </a:bodyPr>
          <a:lstStyle/>
          <a:p>
            <a:pPr algn="ctr"/>
            <a:r>
              <a:rPr sz="1100" b="0" i="0">
                <a:solidFill>
                  <a:srgbClr val="94A3B8"/>
                </a:solidFill>
                <a:latin typeface="+mj-lt"/>
              </a:rPr>
              <a:t>→</a:t>
            </a:r>
          </a:p>
        </p:txBody>
      </p:sp>
      <p:sp>
        <p:nvSpPr>
          <p:cNvPr id="14" name="Rectangle 13"/>
          <p:cNvSpPr/>
          <p:nvPr/>
        </p:nvSpPr>
        <p:spPr>
          <a:xfrm>
            <a:off x="6528816" y="1572768"/>
            <a:ext cx="2377440" cy="960120"/>
          </a:xfrm>
          <a:prstGeom prst="rect">
            <a:avLst/>
          </a:prstGeom>
          <a:solidFill>
            <a:srgbClr val="1A2235"/>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15" name="TextBox 14"/>
          <p:cNvSpPr txBox="1"/>
          <p:nvPr/>
        </p:nvSpPr>
        <p:spPr>
          <a:xfrm>
            <a:off x="6528816" y="1645920"/>
            <a:ext cx="2377440" cy="400110"/>
          </a:xfrm>
          <a:prstGeom prst="rect">
            <a:avLst/>
          </a:prstGeom>
          <a:noFill/>
        </p:spPr>
        <p:txBody>
          <a:bodyPr wrap="square">
            <a:spAutoFit/>
          </a:bodyPr>
          <a:lstStyle/>
          <a:p>
            <a:pPr algn="ctr"/>
            <a:r>
              <a:rPr sz="2000" b="0" i="0">
                <a:solidFill>
                  <a:srgbClr val="E2E8F0"/>
                </a:solidFill>
                <a:latin typeface="+mj-lt"/>
              </a:rPr>
              <a:t>🤖</a:t>
            </a:r>
          </a:p>
        </p:txBody>
      </p:sp>
      <p:sp>
        <p:nvSpPr>
          <p:cNvPr id="16" name="TextBox 15"/>
          <p:cNvSpPr txBox="1"/>
          <p:nvPr/>
        </p:nvSpPr>
        <p:spPr>
          <a:xfrm>
            <a:off x="6528816" y="1975104"/>
            <a:ext cx="2377440" cy="261610"/>
          </a:xfrm>
          <a:prstGeom prst="rect">
            <a:avLst/>
          </a:prstGeom>
          <a:noFill/>
        </p:spPr>
        <p:txBody>
          <a:bodyPr wrap="square">
            <a:spAutoFit/>
          </a:bodyPr>
          <a:lstStyle/>
          <a:p>
            <a:pPr algn="ctr"/>
            <a:r>
              <a:rPr sz="1100" b="1" i="0">
                <a:solidFill>
                  <a:srgbClr val="FFFFFF"/>
                </a:solidFill>
                <a:latin typeface="+mj-lt"/>
              </a:rPr>
              <a:t>Gemini API</a:t>
            </a:r>
          </a:p>
        </p:txBody>
      </p:sp>
      <p:sp>
        <p:nvSpPr>
          <p:cNvPr id="17" name="TextBox 16"/>
          <p:cNvSpPr txBox="1"/>
          <p:nvPr/>
        </p:nvSpPr>
        <p:spPr>
          <a:xfrm>
            <a:off x="6528816" y="2231136"/>
            <a:ext cx="2377440" cy="256032"/>
          </a:xfrm>
          <a:prstGeom prst="rect">
            <a:avLst/>
          </a:prstGeom>
          <a:noFill/>
        </p:spPr>
        <p:txBody>
          <a:bodyPr wrap="square">
            <a:spAutoFit/>
          </a:bodyPr>
          <a:lstStyle/>
          <a:p>
            <a:pPr algn="ctr"/>
            <a:r>
              <a:rPr sz="900" b="0" i="0">
                <a:solidFill>
                  <a:srgbClr val="F59E0B"/>
                </a:solidFill>
                <a:latin typeface="Calibri"/>
              </a:rPr>
              <a:t>Anonymized only</a:t>
            </a:r>
          </a:p>
        </p:txBody>
      </p:sp>
      <p:sp>
        <p:nvSpPr>
          <p:cNvPr id="18" name="TextBox 17"/>
          <p:cNvSpPr txBox="1"/>
          <p:nvPr/>
        </p:nvSpPr>
        <p:spPr>
          <a:xfrm>
            <a:off x="8906256" y="1828800"/>
            <a:ext cx="658368" cy="261610"/>
          </a:xfrm>
          <a:prstGeom prst="rect">
            <a:avLst/>
          </a:prstGeom>
          <a:noFill/>
        </p:spPr>
        <p:txBody>
          <a:bodyPr wrap="square">
            <a:spAutoFit/>
          </a:bodyPr>
          <a:lstStyle/>
          <a:p>
            <a:pPr algn="ctr"/>
            <a:r>
              <a:rPr sz="1100" b="0" i="0">
                <a:solidFill>
                  <a:srgbClr val="94A3B8"/>
                </a:solidFill>
                <a:latin typeface="+mj-lt"/>
              </a:rPr>
              <a:t>→</a:t>
            </a:r>
          </a:p>
        </p:txBody>
      </p:sp>
      <p:sp>
        <p:nvSpPr>
          <p:cNvPr id="19" name="Rectangle 18"/>
          <p:cNvSpPr/>
          <p:nvPr/>
        </p:nvSpPr>
        <p:spPr>
          <a:xfrm>
            <a:off x="9564624" y="1572768"/>
            <a:ext cx="2377440" cy="960120"/>
          </a:xfrm>
          <a:prstGeom prst="rect">
            <a:avLst/>
          </a:prstGeom>
          <a:solidFill>
            <a:srgbClr val="1A2235"/>
          </a:solidFill>
          <a:ln w="9525">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0" name="TextBox 19"/>
          <p:cNvSpPr txBox="1"/>
          <p:nvPr/>
        </p:nvSpPr>
        <p:spPr>
          <a:xfrm>
            <a:off x="9564624" y="1645920"/>
            <a:ext cx="2377440" cy="347472"/>
          </a:xfrm>
          <a:prstGeom prst="rect">
            <a:avLst/>
          </a:prstGeom>
          <a:noFill/>
        </p:spPr>
        <p:txBody>
          <a:bodyPr wrap="square">
            <a:spAutoFit/>
          </a:bodyPr>
          <a:lstStyle/>
          <a:p>
            <a:pPr algn="ctr"/>
            <a:r>
              <a:rPr sz="2000" b="0" i="0">
                <a:solidFill>
                  <a:srgbClr val="E2E8F0"/>
                </a:solidFill>
                <a:latin typeface="Calibri"/>
              </a:rPr>
              <a:t>💬</a:t>
            </a:r>
          </a:p>
        </p:txBody>
      </p:sp>
      <p:sp>
        <p:nvSpPr>
          <p:cNvPr id="21" name="TextBox 20"/>
          <p:cNvSpPr txBox="1"/>
          <p:nvPr/>
        </p:nvSpPr>
        <p:spPr>
          <a:xfrm>
            <a:off x="9564624" y="1975104"/>
            <a:ext cx="2377440" cy="261610"/>
          </a:xfrm>
          <a:prstGeom prst="rect">
            <a:avLst/>
          </a:prstGeom>
          <a:noFill/>
        </p:spPr>
        <p:txBody>
          <a:bodyPr wrap="square">
            <a:spAutoFit/>
          </a:bodyPr>
          <a:lstStyle/>
          <a:p>
            <a:pPr algn="ctr"/>
            <a:r>
              <a:rPr sz="1100" b="1" i="0">
                <a:solidFill>
                  <a:srgbClr val="FFFFFF"/>
                </a:solidFill>
                <a:latin typeface="+mj-lt"/>
              </a:rPr>
              <a:t>AI Answer</a:t>
            </a:r>
          </a:p>
        </p:txBody>
      </p:sp>
      <p:sp>
        <p:nvSpPr>
          <p:cNvPr id="22" name="TextBox 21"/>
          <p:cNvSpPr txBox="1"/>
          <p:nvPr/>
        </p:nvSpPr>
        <p:spPr>
          <a:xfrm>
            <a:off x="9564624" y="2231136"/>
            <a:ext cx="2377440" cy="430887"/>
          </a:xfrm>
          <a:prstGeom prst="rect">
            <a:avLst/>
          </a:prstGeom>
          <a:noFill/>
        </p:spPr>
        <p:txBody>
          <a:bodyPr wrap="square">
            <a:spAutoFit/>
          </a:bodyPr>
          <a:lstStyle/>
          <a:p>
            <a:pPr algn="ctr"/>
            <a:r>
              <a:rPr sz="1100" b="0" i="0">
                <a:solidFill>
                  <a:srgbClr val="4F8EF7"/>
                </a:solidFill>
                <a:latin typeface="+mj-lt"/>
              </a:rPr>
              <a:t>DOMPurify
sanitized</a:t>
            </a:r>
          </a:p>
        </p:txBody>
      </p:sp>
      <p:sp>
        <p:nvSpPr>
          <p:cNvPr id="23" name="Rectangle 22"/>
          <p:cNvSpPr/>
          <p:nvPr/>
        </p:nvSpPr>
        <p:spPr>
          <a:xfrm>
            <a:off x="457200" y="2697480"/>
            <a:ext cx="5394960" cy="3108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4" name="Rectangle 23"/>
          <p:cNvSpPr/>
          <p:nvPr/>
        </p:nvSpPr>
        <p:spPr>
          <a:xfrm>
            <a:off x="457200" y="2697480"/>
            <a:ext cx="5394960" cy="292608"/>
          </a:xfrm>
          <a:prstGeom prst="rect">
            <a:avLst/>
          </a:prstGeom>
          <a:solidFill>
            <a:srgbClr val="082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25" name="TextBox 24"/>
          <p:cNvSpPr txBox="1"/>
          <p:nvPr/>
        </p:nvSpPr>
        <p:spPr>
          <a:xfrm>
            <a:off x="502920" y="2715768"/>
            <a:ext cx="5303520" cy="261610"/>
          </a:xfrm>
          <a:prstGeom prst="rect">
            <a:avLst/>
          </a:prstGeom>
          <a:noFill/>
        </p:spPr>
        <p:txBody>
          <a:bodyPr wrap="square">
            <a:spAutoFit/>
          </a:bodyPr>
          <a:lstStyle/>
          <a:p>
            <a:pPr algn="l"/>
            <a:r>
              <a:rPr sz="1100" b="1" i="0">
                <a:solidFill>
                  <a:srgbClr val="22C55E"/>
                </a:solidFill>
                <a:latin typeface="+mj-lt"/>
              </a:rPr>
              <a:t>✓  WHAT IS SENT TO GEMINI (SAFE)</a:t>
            </a:r>
          </a:p>
        </p:txBody>
      </p:sp>
      <p:sp>
        <p:nvSpPr>
          <p:cNvPr id="26" name="TextBox 25"/>
          <p:cNvSpPr txBox="1"/>
          <p:nvPr/>
        </p:nvSpPr>
        <p:spPr>
          <a:xfrm>
            <a:off x="594360" y="3063240"/>
            <a:ext cx="5212080" cy="261610"/>
          </a:xfrm>
          <a:prstGeom prst="rect">
            <a:avLst/>
          </a:prstGeom>
          <a:noFill/>
        </p:spPr>
        <p:txBody>
          <a:bodyPr wrap="square">
            <a:spAutoFit/>
          </a:bodyPr>
          <a:lstStyle/>
          <a:p>
            <a:pPr algn="l"/>
            <a:r>
              <a:rPr sz="1100" b="0" i="0">
                <a:solidFill>
                  <a:srgbClr val="E2E8F0"/>
                </a:solidFill>
                <a:latin typeface="+mj-lt"/>
              </a:rPr>
              <a:t>✓  Aggregated category totals  (e.g. "Dining: $234")</a:t>
            </a:r>
          </a:p>
        </p:txBody>
      </p:sp>
      <p:sp>
        <p:nvSpPr>
          <p:cNvPr id="27" name="TextBox 26"/>
          <p:cNvSpPr txBox="1"/>
          <p:nvPr/>
        </p:nvSpPr>
        <p:spPr>
          <a:xfrm>
            <a:off x="594360" y="3502152"/>
            <a:ext cx="5212080" cy="261610"/>
          </a:xfrm>
          <a:prstGeom prst="rect">
            <a:avLst/>
          </a:prstGeom>
          <a:noFill/>
        </p:spPr>
        <p:txBody>
          <a:bodyPr wrap="square">
            <a:spAutoFit/>
          </a:bodyPr>
          <a:lstStyle/>
          <a:p>
            <a:pPr algn="l"/>
            <a:r>
              <a:rPr sz="1100" b="0" i="0">
                <a:solidFill>
                  <a:srgbClr val="E2E8F0"/>
                </a:solidFill>
                <a:latin typeface="+mj-lt"/>
              </a:rPr>
              <a:t>✓  Budget % status  (e.g. "75% of $400 limit")</a:t>
            </a:r>
          </a:p>
        </p:txBody>
      </p:sp>
      <p:sp>
        <p:nvSpPr>
          <p:cNvPr id="28" name="TextBox 27"/>
          <p:cNvSpPr txBox="1"/>
          <p:nvPr/>
        </p:nvSpPr>
        <p:spPr>
          <a:xfrm>
            <a:off x="594360" y="3941064"/>
            <a:ext cx="5212080" cy="261610"/>
          </a:xfrm>
          <a:prstGeom prst="rect">
            <a:avLst/>
          </a:prstGeom>
          <a:noFill/>
        </p:spPr>
        <p:txBody>
          <a:bodyPr wrap="square">
            <a:spAutoFit/>
          </a:bodyPr>
          <a:lstStyle/>
          <a:p>
            <a:pPr algn="l"/>
            <a:r>
              <a:rPr sz="1100" b="0" i="0">
                <a:solidFill>
                  <a:srgbClr val="E2E8F0"/>
                </a:solidFill>
                <a:latin typeface="+mj-lt"/>
              </a:rPr>
              <a:t>✓  Member count  (e.g. "3 members" — no names)</a:t>
            </a:r>
          </a:p>
        </p:txBody>
      </p:sp>
      <p:sp>
        <p:nvSpPr>
          <p:cNvPr id="29" name="TextBox 28"/>
          <p:cNvSpPr txBox="1"/>
          <p:nvPr/>
        </p:nvSpPr>
        <p:spPr>
          <a:xfrm>
            <a:off x="594360" y="4379976"/>
            <a:ext cx="5212080" cy="261610"/>
          </a:xfrm>
          <a:prstGeom prst="rect">
            <a:avLst/>
          </a:prstGeom>
          <a:noFill/>
        </p:spPr>
        <p:txBody>
          <a:bodyPr wrap="square">
            <a:spAutoFit/>
          </a:bodyPr>
          <a:lstStyle/>
          <a:p>
            <a:pPr algn="l"/>
            <a:r>
              <a:rPr sz="1100" b="0" i="0">
                <a:solidFill>
                  <a:srgbClr val="E2E8F0"/>
                </a:solidFill>
                <a:latin typeface="+mj-lt"/>
              </a:rPr>
              <a:t>✓  Monthly cash flow trends</a:t>
            </a:r>
          </a:p>
        </p:txBody>
      </p:sp>
      <p:sp>
        <p:nvSpPr>
          <p:cNvPr id="30" name="TextBox 29"/>
          <p:cNvSpPr txBox="1"/>
          <p:nvPr/>
        </p:nvSpPr>
        <p:spPr>
          <a:xfrm>
            <a:off x="594360" y="4818888"/>
            <a:ext cx="5212080" cy="261610"/>
          </a:xfrm>
          <a:prstGeom prst="rect">
            <a:avLst/>
          </a:prstGeom>
          <a:noFill/>
        </p:spPr>
        <p:txBody>
          <a:bodyPr wrap="square">
            <a:spAutoFit/>
          </a:bodyPr>
          <a:lstStyle/>
          <a:p>
            <a:pPr algn="l"/>
            <a:r>
              <a:rPr sz="1100" b="0" i="0">
                <a:solidFill>
                  <a:srgbClr val="E2E8F0"/>
                </a:solidFill>
                <a:latin typeface="+mj-lt"/>
              </a:rPr>
              <a:t>✓  Public merchant names  (Starbucks, Netflix, Amazon)</a:t>
            </a:r>
          </a:p>
        </p:txBody>
      </p:sp>
      <p:sp>
        <p:nvSpPr>
          <p:cNvPr id="31" name="TextBox 30"/>
          <p:cNvSpPr txBox="1"/>
          <p:nvPr/>
        </p:nvSpPr>
        <p:spPr>
          <a:xfrm>
            <a:off x="594360" y="5257800"/>
            <a:ext cx="5212080" cy="261610"/>
          </a:xfrm>
          <a:prstGeom prst="rect">
            <a:avLst/>
          </a:prstGeom>
          <a:noFill/>
        </p:spPr>
        <p:txBody>
          <a:bodyPr wrap="square">
            <a:spAutoFit/>
          </a:bodyPr>
          <a:lstStyle/>
          <a:p>
            <a:pPr algn="l"/>
            <a:r>
              <a:rPr sz="1100" b="0" i="0">
                <a:solidFill>
                  <a:srgbClr val="E2E8F0"/>
                </a:solidFill>
                <a:latin typeface="+mj-lt"/>
              </a:rPr>
              <a:t>✓  Savings goal progress  (% saved, months remaining)</a:t>
            </a:r>
          </a:p>
        </p:txBody>
      </p:sp>
      <p:sp>
        <p:nvSpPr>
          <p:cNvPr id="32" name="Rectangle 31"/>
          <p:cNvSpPr/>
          <p:nvPr/>
        </p:nvSpPr>
        <p:spPr>
          <a:xfrm>
            <a:off x="6035040" y="2697480"/>
            <a:ext cx="5394960" cy="3108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33" name="Rectangle 32"/>
          <p:cNvSpPr/>
          <p:nvPr/>
        </p:nvSpPr>
        <p:spPr>
          <a:xfrm>
            <a:off x="6035040" y="2697480"/>
            <a:ext cx="5394960" cy="292608"/>
          </a:xfrm>
          <a:prstGeom prst="rect">
            <a:avLst/>
          </a:prstGeom>
          <a:solidFill>
            <a:srgbClr val="2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mj-lt"/>
            </a:endParaRPr>
          </a:p>
        </p:txBody>
      </p:sp>
      <p:sp>
        <p:nvSpPr>
          <p:cNvPr id="34" name="TextBox 33"/>
          <p:cNvSpPr txBox="1"/>
          <p:nvPr/>
        </p:nvSpPr>
        <p:spPr>
          <a:xfrm>
            <a:off x="6080760" y="2715768"/>
            <a:ext cx="5303520" cy="261610"/>
          </a:xfrm>
          <a:prstGeom prst="rect">
            <a:avLst/>
          </a:prstGeom>
          <a:noFill/>
        </p:spPr>
        <p:txBody>
          <a:bodyPr wrap="square">
            <a:spAutoFit/>
          </a:bodyPr>
          <a:lstStyle/>
          <a:p>
            <a:pPr algn="l"/>
            <a:r>
              <a:rPr sz="1100" b="1" i="0" dirty="0">
                <a:solidFill>
                  <a:srgbClr val="EF4444"/>
                </a:solidFill>
                <a:latin typeface="+mj-lt"/>
              </a:rPr>
              <a:t>✗  WHAT IS NEVER SENT TO GEMINI</a:t>
            </a:r>
          </a:p>
        </p:txBody>
      </p:sp>
      <p:sp>
        <p:nvSpPr>
          <p:cNvPr id="35" name="TextBox 34"/>
          <p:cNvSpPr txBox="1"/>
          <p:nvPr/>
        </p:nvSpPr>
        <p:spPr>
          <a:xfrm>
            <a:off x="6172200" y="3063240"/>
            <a:ext cx="5212080" cy="261610"/>
          </a:xfrm>
          <a:prstGeom prst="rect">
            <a:avLst/>
          </a:prstGeom>
          <a:noFill/>
        </p:spPr>
        <p:txBody>
          <a:bodyPr wrap="square">
            <a:spAutoFit/>
          </a:bodyPr>
          <a:lstStyle/>
          <a:p>
            <a:pPr algn="l"/>
            <a:r>
              <a:rPr sz="1100" b="0" i="0">
                <a:solidFill>
                  <a:srgbClr val="E2E8F0"/>
                </a:solidFill>
                <a:latin typeface="+mj-lt"/>
              </a:rPr>
              <a:t>✗  Real member names  ("Elena" → "Member 1")</a:t>
            </a:r>
          </a:p>
        </p:txBody>
      </p:sp>
      <p:sp>
        <p:nvSpPr>
          <p:cNvPr id="36" name="TextBox 35"/>
          <p:cNvSpPr txBox="1"/>
          <p:nvPr/>
        </p:nvSpPr>
        <p:spPr>
          <a:xfrm>
            <a:off x="6172200" y="3502152"/>
            <a:ext cx="5212080" cy="261610"/>
          </a:xfrm>
          <a:prstGeom prst="rect">
            <a:avLst/>
          </a:prstGeom>
          <a:noFill/>
        </p:spPr>
        <p:txBody>
          <a:bodyPr wrap="square">
            <a:spAutoFit/>
          </a:bodyPr>
          <a:lstStyle/>
          <a:p>
            <a:pPr algn="l"/>
            <a:r>
              <a:rPr sz="1100" b="0" i="0">
                <a:solidFill>
                  <a:srgbClr val="E2E8F0"/>
                </a:solidFill>
                <a:latin typeface="+mj-lt"/>
              </a:rPr>
              <a:t>✗  Household / family name  (stripped from system prompt)</a:t>
            </a:r>
          </a:p>
        </p:txBody>
      </p:sp>
      <p:sp>
        <p:nvSpPr>
          <p:cNvPr id="37" name="TextBox 36"/>
          <p:cNvSpPr txBox="1"/>
          <p:nvPr/>
        </p:nvSpPr>
        <p:spPr>
          <a:xfrm>
            <a:off x="6172200" y="3941064"/>
            <a:ext cx="5212080" cy="261610"/>
          </a:xfrm>
          <a:prstGeom prst="rect">
            <a:avLst/>
          </a:prstGeom>
          <a:noFill/>
        </p:spPr>
        <p:txBody>
          <a:bodyPr wrap="square">
            <a:spAutoFit/>
          </a:bodyPr>
          <a:lstStyle/>
          <a:p>
            <a:pPr algn="l"/>
            <a:r>
              <a:rPr sz="1100" b="0" i="0">
                <a:solidFill>
                  <a:srgbClr val="E2E8F0"/>
                </a:solidFill>
                <a:latin typeface="+mj-lt"/>
              </a:rPr>
              <a:t>✗  Transaction notes  ("Sofia's piano lesson" omitted)</a:t>
            </a:r>
          </a:p>
        </p:txBody>
      </p:sp>
      <p:sp>
        <p:nvSpPr>
          <p:cNvPr id="38" name="TextBox 37"/>
          <p:cNvSpPr txBox="1"/>
          <p:nvPr/>
        </p:nvSpPr>
        <p:spPr>
          <a:xfrm>
            <a:off x="6172200" y="4379976"/>
            <a:ext cx="5212080" cy="261610"/>
          </a:xfrm>
          <a:prstGeom prst="rect">
            <a:avLst/>
          </a:prstGeom>
          <a:noFill/>
        </p:spPr>
        <p:txBody>
          <a:bodyPr wrap="square">
            <a:spAutoFit/>
          </a:bodyPr>
          <a:lstStyle/>
          <a:p>
            <a:pPr algn="l"/>
            <a:r>
              <a:rPr sz="1100" b="0" i="0" dirty="0">
                <a:solidFill>
                  <a:srgbClr val="E2E8F0"/>
                </a:solidFill>
                <a:latin typeface="+mj-lt"/>
              </a:rPr>
              <a:t>✗  Personal service providers  ("Mrs. Kim" → "[Person]")</a:t>
            </a:r>
          </a:p>
        </p:txBody>
      </p:sp>
      <p:sp>
        <p:nvSpPr>
          <p:cNvPr id="39" name="TextBox 38"/>
          <p:cNvSpPr txBox="1"/>
          <p:nvPr/>
        </p:nvSpPr>
        <p:spPr>
          <a:xfrm>
            <a:off x="6172200" y="4818888"/>
            <a:ext cx="5212080" cy="261610"/>
          </a:xfrm>
          <a:prstGeom prst="rect">
            <a:avLst/>
          </a:prstGeom>
          <a:noFill/>
        </p:spPr>
        <p:txBody>
          <a:bodyPr wrap="square">
            <a:spAutoFit/>
          </a:bodyPr>
          <a:lstStyle/>
          <a:p>
            <a:pPr algn="l"/>
            <a:r>
              <a:rPr sz="1100" b="0" i="0">
                <a:solidFill>
                  <a:srgbClr val="E2E8F0"/>
                </a:solidFill>
                <a:latin typeface="+mj-lt"/>
              </a:rPr>
              <a:t>✗  Gemini API key  (browser localStorage only)</a:t>
            </a:r>
          </a:p>
        </p:txBody>
      </p:sp>
      <p:sp>
        <p:nvSpPr>
          <p:cNvPr id="40" name="TextBox 39"/>
          <p:cNvSpPr txBox="1"/>
          <p:nvPr/>
        </p:nvSpPr>
        <p:spPr>
          <a:xfrm>
            <a:off x="6172200" y="5257800"/>
            <a:ext cx="5212080" cy="261610"/>
          </a:xfrm>
          <a:prstGeom prst="rect">
            <a:avLst/>
          </a:prstGeom>
          <a:noFill/>
        </p:spPr>
        <p:txBody>
          <a:bodyPr wrap="square">
            <a:spAutoFit/>
          </a:bodyPr>
          <a:lstStyle/>
          <a:p>
            <a:pPr algn="l"/>
            <a:r>
              <a:rPr sz="1100" b="0" i="0">
                <a:solidFill>
                  <a:srgbClr val="E2E8F0"/>
                </a:solidFill>
                <a:latin typeface="+mj-lt"/>
              </a:rPr>
              <a:t>✗  Raw bank file contents  (deleted after parse)</a:t>
            </a:r>
          </a:p>
        </p:txBody>
      </p:sp>
      <p:sp>
        <p:nvSpPr>
          <p:cNvPr id="41" name="TextBox 40"/>
          <p:cNvSpPr txBox="1"/>
          <p:nvPr/>
        </p:nvSpPr>
        <p:spPr>
          <a:xfrm>
            <a:off x="457200" y="5870448"/>
            <a:ext cx="11335725" cy="261610"/>
          </a:xfrm>
          <a:prstGeom prst="rect">
            <a:avLst/>
          </a:prstGeom>
          <a:noFill/>
        </p:spPr>
        <p:txBody>
          <a:bodyPr wrap="square">
            <a:spAutoFit/>
          </a:bodyPr>
          <a:lstStyle/>
          <a:p>
            <a:pPr algn="l"/>
            <a:r>
              <a:rPr sz="1100" b="0" i="1">
                <a:solidFill>
                  <a:srgbClr val="94A3B8"/>
                </a:solidFill>
                <a:latin typeface="+mj-lt"/>
              </a:rPr>
              <a:t>3 implementation layers:  ① System prompt: names → Member tokens  |  ② Payee scrubber: Mrs./Dr. titles → [Person]  |  ③ Notes field: omitted from all tool responses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10970056" cy="261610"/>
          </a:xfrm>
          <a:prstGeom prst="rect">
            <a:avLst/>
          </a:prstGeom>
          <a:noFill/>
        </p:spPr>
        <p:txBody>
          <a:bodyPr wrap="square">
            <a:spAutoFit/>
          </a:bodyPr>
          <a:lstStyle/>
          <a:p>
            <a:pPr algn="l"/>
            <a:r>
              <a:rPr sz="1100" b="1" i="0">
                <a:solidFill>
                  <a:srgbClr val="4F8EF7"/>
                </a:solidFill>
                <a:latin typeface="Calibri"/>
              </a:rPr>
              <a:t>INVESTMENT THESIS</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Why this wins — and why now</a:t>
            </a:r>
          </a:p>
        </p:txBody>
      </p:sp>
      <p:sp>
        <p:nvSpPr>
          <p:cNvPr id="4" name="Rectangle 3"/>
          <p:cNvSpPr/>
          <p:nvPr/>
        </p:nvSpPr>
        <p:spPr>
          <a:xfrm>
            <a:off x="457200" y="1572768"/>
            <a:ext cx="53949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 name="TextBox 4"/>
          <p:cNvSpPr txBox="1"/>
          <p:nvPr/>
        </p:nvSpPr>
        <p:spPr>
          <a:xfrm>
            <a:off x="566928" y="1664208"/>
            <a:ext cx="502920" cy="261610"/>
          </a:xfrm>
          <a:prstGeom prst="rect">
            <a:avLst/>
          </a:prstGeom>
          <a:noFill/>
        </p:spPr>
        <p:txBody>
          <a:bodyPr wrap="square">
            <a:spAutoFit/>
          </a:bodyPr>
          <a:lstStyle/>
          <a:p>
            <a:pPr algn="l"/>
            <a:r>
              <a:rPr sz="1100" b="1" i="0">
                <a:solidFill>
                  <a:srgbClr val="2A3450"/>
                </a:solidFill>
                <a:latin typeface="Calibri"/>
              </a:rPr>
              <a:t>1</a:t>
            </a:r>
          </a:p>
        </p:txBody>
      </p:sp>
      <p:sp>
        <p:nvSpPr>
          <p:cNvPr id="6" name="TextBox 5"/>
          <p:cNvSpPr txBox="1"/>
          <p:nvPr/>
        </p:nvSpPr>
        <p:spPr>
          <a:xfrm>
            <a:off x="1115568" y="1664208"/>
            <a:ext cx="4617720" cy="261610"/>
          </a:xfrm>
          <a:prstGeom prst="rect">
            <a:avLst/>
          </a:prstGeom>
          <a:noFill/>
        </p:spPr>
        <p:txBody>
          <a:bodyPr wrap="square">
            <a:spAutoFit/>
          </a:bodyPr>
          <a:lstStyle/>
          <a:p>
            <a:pPr algn="l"/>
            <a:r>
              <a:rPr sz="1100" b="1" i="0">
                <a:solidFill>
                  <a:srgbClr val="FFFFFF"/>
                </a:solidFill>
                <a:latin typeface="Calibri"/>
              </a:rPr>
              <a:t>Timing is Perfect</a:t>
            </a:r>
          </a:p>
        </p:txBody>
      </p:sp>
      <p:sp>
        <p:nvSpPr>
          <p:cNvPr id="7" name="TextBox 6"/>
          <p:cNvSpPr txBox="1"/>
          <p:nvPr/>
        </p:nvSpPr>
        <p:spPr>
          <a:xfrm>
            <a:off x="1115568" y="1956816"/>
            <a:ext cx="4617720" cy="430887"/>
          </a:xfrm>
          <a:prstGeom prst="rect">
            <a:avLst/>
          </a:prstGeom>
          <a:noFill/>
        </p:spPr>
        <p:txBody>
          <a:bodyPr wrap="square">
            <a:spAutoFit/>
          </a:bodyPr>
          <a:lstStyle/>
          <a:p>
            <a:pPr algn="l"/>
            <a:r>
              <a:rPr sz="1100" b="0" i="0">
                <a:solidFill>
                  <a:srgbClr val="94A3B8"/>
                </a:solidFill>
                <a:latin typeface="Calibri"/>
              </a:rPr>
              <a:t>Mint vacuum + LLM maturity + privacy backlash create a once-in-a-decade opening. 20M+ displaced users actively searching right now.</a:t>
            </a:r>
          </a:p>
        </p:txBody>
      </p:sp>
      <p:sp>
        <p:nvSpPr>
          <p:cNvPr id="8" name="Rectangle 7"/>
          <p:cNvSpPr/>
          <p:nvPr/>
        </p:nvSpPr>
        <p:spPr>
          <a:xfrm>
            <a:off x="6016752" y="1572768"/>
            <a:ext cx="53949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9" name="TextBox 8"/>
          <p:cNvSpPr txBox="1"/>
          <p:nvPr/>
        </p:nvSpPr>
        <p:spPr>
          <a:xfrm>
            <a:off x="6126480" y="1664208"/>
            <a:ext cx="502920" cy="261610"/>
          </a:xfrm>
          <a:prstGeom prst="rect">
            <a:avLst/>
          </a:prstGeom>
          <a:noFill/>
        </p:spPr>
        <p:txBody>
          <a:bodyPr wrap="square">
            <a:spAutoFit/>
          </a:bodyPr>
          <a:lstStyle/>
          <a:p>
            <a:pPr algn="l"/>
            <a:r>
              <a:rPr sz="1100" b="1" i="0">
                <a:solidFill>
                  <a:srgbClr val="2A3450"/>
                </a:solidFill>
                <a:latin typeface="Calibri"/>
              </a:rPr>
              <a:t>2</a:t>
            </a:r>
          </a:p>
        </p:txBody>
      </p:sp>
      <p:sp>
        <p:nvSpPr>
          <p:cNvPr id="10" name="TextBox 9"/>
          <p:cNvSpPr txBox="1"/>
          <p:nvPr/>
        </p:nvSpPr>
        <p:spPr>
          <a:xfrm>
            <a:off x="6675120" y="1664208"/>
            <a:ext cx="4617720" cy="261610"/>
          </a:xfrm>
          <a:prstGeom prst="rect">
            <a:avLst/>
          </a:prstGeom>
          <a:noFill/>
        </p:spPr>
        <p:txBody>
          <a:bodyPr wrap="square">
            <a:spAutoFit/>
          </a:bodyPr>
          <a:lstStyle/>
          <a:p>
            <a:pPr algn="l"/>
            <a:r>
              <a:rPr sz="1100" b="1" i="0">
                <a:solidFill>
                  <a:srgbClr val="FFFFFF"/>
                </a:solidFill>
                <a:latin typeface="Calibri"/>
              </a:rPr>
              <a:t>Clear Differentiation</a:t>
            </a:r>
          </a:p>
        </p:txBody>
      </p:sp>
      <p:sp>
        <p:nvSpPr>
          <p:cNvPr id="11" name="TextBox 10"/>
          <p:cNvSpPr txBox="1"/>
          <p:nvPr/>
        </p:nvSpPr>
        <p:spPr>
          <a:xfrm>
            <a:off x="6675120" y="1956816"/>
            <a:ext cx="4617720" cy="430887"/>
          </a:xfrm>
          <a:prstGeom prst="rect">
            <a:avLst/>
          </a:prstGeom>
          <a:noFill/>
        </p:spPr>
        <p:txBody>
          <a:bodyPr wrap="square">
            <a:spAutoFit/>
          </a:bodyPr>
          <a:lstStyle/>
          <a:p>
            <a:pPr algn="l"/>
            <a:r>
              <a:rPr sz="1100" b="0" i="0">
                <a:solidFill>
                  <a:srgbClr val="94A3B8"/>
                </a:solidFill>
                <a:latin typeface="Calibri"/>
              </a:rPr>
              <a:t>Only player combining family-native + file-import-first + grounded AI Q&amp;A. Competitors are Plaid-first and can't easily pivot.</a:t>
            </a:r>
          </a:p>
        </p:txBody>
      </p:sp>
      <p:sp>
        <p:nvSpPr>
          <p:cNvPr id="12" name="Rectangle 11"/>
          <p:cNvSpPr/>
          <p:nvPr/>
        </p:nvSpPr>
        <p:spPr>
          <a:xfrm>
            <a:off x="457200" y="2688336"/>
            <a:ext cx="53949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3" name="TextBox 12"/>
          <p:cNvSpPr txBox="1"/>
          <p:nvPr/>
        </p:nvSpPr>
        <p:spPr>
          <a:xfrm>
            <a:off x="566928" y="2779776"/>
            <a:ext cx="502920" cy="261610"/>
          </a:xfrm>
          <a:prstGeom prst="rect">
            <a:avLst/>
          </a:prstGeom>
          <a:noFill/>
        </p:spPr>
        <p:txBody>
          <a:bodyPr wrap="square">
            <a:spAutoFit/>
          </a:bodyPr>
          <a:lstStyle/>
          <a:p>
            <a:pPr algn="l"/>
            <a:r>
              <a:rPr sz="1100" b="1" i="0">
                <a:solidFill>
                  <a:srgbClr val="2A3450"/>
                </a:solidFill>
                <a:latin typeface="Calibri"/>
              </a:rPr>
              <a:t>3</a:t>
            </a:r>
          </a:p>
        </p:txBody>
      </p:sp>
      <p:sp>
        <p:nvSpPr>
          <p:cNvPr id="14" name="TextBox 13"/>
          <p:cNvSpPr txBox="1"/>
          <p:nvPr/>
        </p:nvSpPr>
        <p:spPr>
          <a:xfrm>
            <a:off x="1115568" y="2779776"/>
            <a:ext cx="4617720" cy="261610"/>
          </a:xfrm>
          <a:prstGeom prst="rect">
            <a:avLst/>
          </a:prstGeom>
          <a:noFill/>
        </p:spPr>
        <p:txBody>
          <a:bodyPr wrap="square">
            <a:spAutoFit/>
          </a:bodyPr>
          <a:lstStyle/>
          <a:p>
            <a:pPr algn="l"/>
            <a:r>
              <a:rPr sz="1100" b="1" i="0">
                <a:solidFill>
                  <a:srgbClr val="FFFFFF"/>
                </a:solidFill>
                <a:latin typeface="Calibri"/>
              </a:rPr>
              <a:t>Strong Unit Economics</a:t>
            </a:r>
          </a:p>
        </p:txBody>
      </p:sp>
      <p:sp>
        <p:nvSpPr>
          <p:cNvPr id="15" name="TextBox 14"/>
          <p:cNvSpPr txBox="1"/>
          <p:nvPr/>
        </p:nvSpPr>
        <p:spPr>
          <a:xfrm>
            <a:off x="1115568" y="3072384"/>
            <a:ext cx="4617720" cy="430887"/>
          </a:xfrm>
          <a:prstGeom prst="rect">
            <a:avLst/>
          </a:prstGeom>
          <a:noFill/>
        </p:spPr>
        <p:txBody>
          <a:bodyPr wrap="square">
            <a:spAutoFit/>
          </a:bodyPr>
          <a:lstStyle/>
          <a:p>
            <a:pPr algn="l"/>
            <a:r>
              <a:rPr sz="1100" b="0" i="0">
                <a:solidFill>
                  <a:srgbClr val="94A3B8"/>
                </a:solidFill>
                <a:latin typeface="Calibri"/>
              </a:rPr>
              <a:t>Freemium acquisition via SEO + referral (household invites = viral loop). Premium conversion on export/history is high-intent. CAC &lt; $30.</a:t>
            </a:r>
          </a:p>
        </p:txBody>
      </p:sp>
      <p:sp>
        <p:nvSpPr>
          <p:cNvPr id="16" name="Rectangle 15"/>
          <p:cNvSpPr/>
          <p:nvPr/>
        </p:nvSpPr>
        <p:spPr>
          <a:xfrm>
            <a:off x="6016752" y="2688336"/>
            <a:ext cx="53949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7" name="TextBox 16"/>
          <p:cNvSpPr txBox="1"/>
          <p:nvPr/>
        </p:nvSpPr>
        <p:spPr>
          <a:xfrm>
            <a:off x="6126480" y="2779776"/>
            <a:ext cx="502920" cy="261610"/>
          </a:xfrm>
          <a:prstGeom prst="rect">
            <a:avLst/>
          </a:prstGeom>
          <a:noFill/>
        </p:spPr>
        <p:txBody>
          <a:bodyPr wrap="square">
            <a:spAutoFit/>
          </a:bodyPr>
          <a:lstStyle/>
          <a:p>
            <a:pPr algn="l"/>
            <a:r>
              <a:rPr sz="1100" b="1" i="0">
                <a:solidFill>
                  <a:srgbClr val="2A3450"/>
                </a:solidFill>
                <a:latin typeface="Calibri"/>
              </a:rPr>
              <a:t>4</a:t>
            </a:r>
          </a:p>
        </p:txBody>
      </p:sp>
      <p:sp>
        <p:nvSpPr>
          <p:cNvPr id="18" name="TextBox 17"/>
          <p:cNvSpPr txBox="1"/>
          <p:nvPr/>
        </p:nvSpPr>
        <p:spPr>
          <a:xfrm>
            <a:off x="6675120" y="2779776"/>
            <a:ext cx="4617720" cy="261610"/>
          </a:xfrm>
          <a:prstGeom prst="rect">
            <a:avLst/>
          </a:prstGeom>
          <a:noFill/>
        </p:spPr>
        <p:txBody>
          <a:bodyPr wrap="square">
            <a:spAutoFit/>
          </a:bodyPr>
          <a:lstStyle/>
          <a:p>
            <a:pPr algn="l"/>
            <a:r>
              <a:rPr sz="1100" b="1" i="0">
                <a:solidFill>
                  <a:srgbClr val="FFFFFF"/>
                </a:solidFill>
                <a:latin typeface="Calibri"/>
              </a:rPr>
              <a:t>Defensible Moat</a:t>
            </a:r>
          </a:p>
        </p:txBody>
      </p:sp>
      <p:sp>
        <p:nvSpPr>
          <p:cNvPr id="19" name="TextBox 18"/>
          <p:cNvSpPr txBox="1"/>
          <p:nvPr/>
        </p:nvSpPr>
        <p:spPr>
          <a:xfrm>
            <a:off x="6675120" y="3072384"/>
            <a:ext cx="4617720" cy="430887"/>
          </a:xfrm>
          <a:prstGeom prst="rect">
            <a:avLst/>
          </a:prstGeom>
          <a:noFill/>
        </p:spPr>
        <p:txBody>
          <a:bodyPr wrap="square">
            <a:spAutoFit/>
          </a:bodyPr>
          <a:lstStyle/>
          <a:p>
            <a:pPr algn="l"/>
            <a:r>
              <a:rPr sz="1100" b="0" i="0">
                <a:solidFill>
                  <a:srgbClr val="94A3B8"/>
                </a:solidFill>
                <a:latin typeface="Calibri"/>
              </a:rPr>
              <a:t>Household data + correction history + institution templates = compounding switching costs. Smarter and stickier over time.</a:t>
            </a:r>
          </a:p>
        </p:txBody>
      </p:sp>
      <p:sp>
        <p:nvSpPr>
          <p:cNvPr id="20" name="Rectangle 19"/>
          <p:cNvSpPr/>
          <p:nvPr/>
        </p:nvSpPr>
        <p:spPr>
          <a:xfrm>
            <a:off x="457200" y="3803904"/>
            <a:ext cx="53949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1" name="TextBox 20"/>
          <p:cNvSpPr txBox="1"/>
          <p:nvPr/>
        </p:nvSpPr>
        <p:spPr>
          <a:xfrm>
            <a:off x="566928" y="3895344"/>
            <a:ext cx="502920" cy="261610"/>
          </a:xfrm>
          <a:prstGeom prst="rect">
            <a:avLst/>
          </a:prstGeom>
          <a:noFill/>
        </p:spPr>
        <p:txBody>
          <a:bodyPr wrap="square">
            <a:spAutoFit/>
          </a:bodyPr>
          <a:lstStyle/>
          <a:p>
            <a:pPr algn="l"/>
            <a:r>
              <a:rPr sz="1100" b="1" i="0">
                <a:solidFill>
                  <a:srgbClr val="2A3450"/>
                </a:solidFill>
                <a:latin typeface="Calibri"/>
              </a:rPr>
              <a:t>5</a:t>
            </a:r>
          </a:p>
        </p:txBody>
      </p:sp>
      <p:sp>
        <p:nvSpPr>
          <p:cNvPr id="22" name="TextBox 21"/>
          <p:cNvSpPr txBox="1"/>
          <p:nvPr/>
        </p:nvSpPr>
        <p:spPr>
          <a:xfrm>
            <a:off x="1115568" y="3895344"/>
            <a:ext cx="4617720" cy="261610"/>
          </a:xfrm>
          <a:prstGeom prst="rect">
            <a:avLst/>
          </a:prstGeom>
          <a:noFill/>
        </p:spPr>
        <p:txBody>
          <a:bodyPr wrap="square">
            <a:spAutoFit/>
          </a:bodyPr>
          <a:lstStyle/>
          <a:p>
            <a:pPr algn="l"/>
            <a:r>
              <a:rPr sz="1100" b="1" i="0">
                <a:solidFill>
                  <a:srgbClr val="FFFFFF"/>
                </a:solidFill>
                <a:latin typeface="Calibri"/>
              </a:rPr>
              <a:t>Capital Efficient</a:t>
            </a:r>
          </a:p>
        </p:txBody>
      </p:sp>
      <p:sp>
        <p:nvSpPr>
          <p:cNvPr id="23" name="TextBox 22"/>
          <p:cNvSpPr txBox="1"/>
          <p:nvPr/>
        </p:nvSpPr>
        <p:spPr>
          <a:xfrm>
            <a:off x="1115568" y="4187952"/>
            <a:ext cx="4617720" cy="430887"/>
          </a:xfrm>
          <a:prstGeom prst="rect">
            <a:avLst/>
          </a:prstGeom>
          <a:noFill/>
        </p:spPr>
        <p:txBody>
          <a:bodyPr wrap="square">
            <a:spAutoFit/>
          </a:bodyPr>
          <a:lstStyle/>
          <a:p>
            <a:pPr algn="l"/>
            <a:r>
              <a:rPr sz="1100" b="0" i="0">
                <a:solidFill>
                  <a:srgbClr val="94A3B8"/>
                </a:solidFill>
                <a:latin typeface="Calibri"/>
              </a:rPr>
              <a:t>MVP achievable without training from scratch. LLM costs ~$0.01–0.05/query. Pre-trained models accelerate categorization.</a:t>
            </a:r>
          </a:p>
        </p:txBody>
      </p:sp>
      <p:sp>
        <p:nvSpPr>
          <p:cNvPr id="24" name="Rectangle 23"/>
          <p:cNvSpPr/>
          <p:nvPr/>
        </p:nvSpPr>
        <p:spPr>
          <a:xfrm>
            <a:off x="6016752" y="3803904"/>
            <a:ext cx="5394960"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5" name="TextBox 24"/>
          <p:cNvSpPr txBox="1"/>
          <p:nvPr/>
        </p:nvSpPr>
        <p:spPr>
          <a:xfrm>
            <a:off x="6126480" y="3895344"/>
            <a:ext cx="502920" cy="261610"/>
          </a:xfrm>
          <a:prstGeom prst="rect">
            <a:avLst/>
          </a:prstGeom>
          <a:noFill/>
        </p:spPr>
        <p:txBody>
          <a:bodyPr wrap="square">
            <a:spAutoFit/>
          </a:bodyPr>
          <a:lstStyle/>
          <a:p>
            <a:pPr algn="l"/>
            <a:r>
              <a:rPr sz="1100" b="1" i="0">
                <a:solidFill>
                  <a:srgbClr val="2A3450"/>
                </a:solidFill>
                <a:latin typeface="Calibri"/>
              </a:rPr>
              <a:t>6</a:t>
            </a:r>
          </a:p>
        </p:txBody>
      </p:sp>
      <p:sp>
        <p:nvSpPr>
          <p:cNvPr id="26" name="TextBox 25"/>
          <p:cNvSpPr txBox="1"/>
          <p:nvPr/>
        </p:nvSpPr>
        <p:spPr>
          <a:xfrm>
            <a:off x="6675120" y="3895344"/>
            <a:ext cx="4617720" cy="261610"/>
          </a:xfrm>
          <a:prstGeom prst="rect">
            <a:avLst/>
          </a:prstGeom>
          <a:noFill/>
        </p:spPr>
        <p:txBody>
          <a:bodyPr wrap="square">
            <a:spAutoFit/>
          </a:bodyPr>
          <a:lstStyle/>
          <a:p>
            <a:pPr algn="l"/>
            <a:r>
              <a:rPr sz="1100" b="1" i="0">
                <a:solidFill>
                  <a:srgbClr val="FFFFFF"/>
                </a:solidFill>
                <a:latin typeface="Calibri"/>
              </a:rPr>
              <a:t>Proven Market Willingness</a:t>
            </a:r>
          </a:p>
        </p:txBody>
      </p:sp>
      <p:sp>
        <p:nvSpPr>
          <p:cNvPr id="27" name="TextBox 26"/>
          <p:cNvSpPr txBox="1"/>
          <p:nvPr/>
        </p:nvSpPr>
        <p:spPr>
          <a:xfrm>
            <a:off x="6675120" y="4187952"/>
            <a:ext cx="4617720" cy="430887"/>
          </a:xfrm>
          <a:prstGeom prst="rect">
            <a:avLst/>
          </a:prstGeom>
          <a:noFill/>
        </p:spPr>
        <p:txBody>
          <a:bodyPr wrap="square">
            <a:spAutoFit/>
          </a:bodyPr>
          <a:lstStyle/>
          <a:p>
            <a:pPr algn="l"/>
            <a:r>
              <a:rPr sz="1100" b="0" i="0">
                <a:solidFill>
                  <a:srgbClr val="94A3B8"/>
                </a:solidFill>
                <a:latin typeface="Calibri"/>
              </a:rPr>
              <a:t>Monarch $99/yr, YNAB $109/yr, Copilot $95/yr — families pay when data isn't sold. We enter at $8–15/mo with a stronger feature set.</a:t>
            </a:r>
          </a:p>
        </p:txBody>
      </p:sp>
      <p:sp>
        <p:nvSpPr>
          <p:cNvPr id="28" name="Rectangle 27"/>
          <p:cNvSpPr/>
          <p:nvPr/>
        </p:nvSpPr>
        <p:spPr>
          <a:xfrm>
            <a:off x="457200" y="5230367"/>
            <a:ext cx="11335725" cy="1519023"/>
          </a:xfrm>
          <a:prstGeom prst="rect">
            <a:avLst/>
          </a:prstGeom>
          <a:solidFill>
            <a:srgbClr val="0D1A38"/>
          </a:solidFill>
          <a:ln w="1270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9" name="TextBox 28"/>
          <p:cNvSpPr txBox="1"/>
          <p:nvPr/>
        </p:nvSpPr>
        <p:spPr>
          <a:xfrm>
            <a:off x="594360" y="5321808"/>
            <a:ext cx="5943600" cy="261610"/>
          </a:xfrm>
          <a:prstGeom prst="rect">
            <a:avLst/>
          </a:prstGeom>
          <a:noFill/>
        </p:spPr>
        <p:txBody>
          <a:bodyPr wrap="square">
            <a:spAutoFit/>
          </a:bodyPr>
          <a:lstStyle/>
          <a:p>
            <a:pPr algn="l"/>
            <a:r>
              <a:rPr sz="1100" b="1" i="0">
                <a:solidFill>
                  <a:srgbClr val="FFFFFF"/>
                </a:solidFill>
                <a:latin typeface="Calibri"/>
              </a:rPr>
              <a:t>Seed Round Ask</a:t>
            </a:r>
          </a:p>
        </p:txBody>
      </p:sp>
      <p:sp>
        <p:nvSpPr>
          <p:cNvPr id="30" name="TextBox 29"/>
          <p:cNvSpPr txBox="1"/>
          <p:nvPr/>
        </p:nvSpPr>
        <p:spPr>
          <a:xfrm>
            <a:off x="594360" y="5650992"/>
            <a:ext cx="5943600" cy="261610"/>
          </a:xfrm>
          <a:prstGeom prst="rect">
            <a:avLst/>
          </a:prstGeom>
          <a:noFill/>
        </p:spPr>
        <p:txBody>
          <a:bodyPr wrap="square">
            <a:spAutoFit/>
          </a:bodyPr>
          <a:lstStyle/>
          <a:p>
            <a:pPr algn="l"/>
            <a:r>
              <a:rPr sz="1100" b="0" i="0">
                <a:solidFill>
                  <a:srgbClr val="94A3B8"/>
                </a:solidFill>
                <a:latin typeface="Calibri"/>
              </a:rPr>
              <a:t>To reach PMF: 10K+ MAU · proven premium conversion · 40%+ 90-day retention</a:t>
            </a:r>
          </a:p>
        </p:txBody>
      </p:sp>
      <p:sp>
        <p:nvSpPr>
          <p:cNvPr id="31" name="TextBox 30"/>
          <p:cNvSpPr txBox="1"/>
          <p:nvPr/>
        </p:nvSpPr>
        <p:spPr>
          <a:xfrm>
            <a:off x="6858000" y="5303520"/>
            <a:ext cx="4937760" cy="261610"/>
          </a:xfrm>
          <a:prstGeom prst="rect">
            <a:avLst/>
          </a:prstGeom>
          <a:noFill/>
        </p:spPr>
        <p:txBody>
          <a:bodyPr wrap="square">
            <a:spAutoFit/>
          </a:bodyPr>
          <a:lstStyle/>
          <a:p>
            <a:pPr algn="ctr"/>
            <a:r>
              <a:rPr sz="1100" b="1" i="0">
                <a:solidFill>
                  <a:srgbClr val="4F8EF7"/>
                </a:solidFill>
                <a:latin typeface="Calibri"/>
              </a:rPr>
              <a:t>$1.5 – 2.5M</a:t>
            </a:r>
          </a:p>
        </p:txBody>
      </p:sp>
      <p:sp>
        <p:nvSpPr>
          <p:cNvPr id="32" name="TextBox 31"/>
          <p:cNvSpPr txBox="1"/>
          <p:nvPr/>
        </p:nvSpPr>
        <p:spPr>
          <a:xfrm>
            <a:off x="6858000" y="5943600"/>
            <a:ext cx="4937760" cy="261610"/>
          </a:xfrm>
          <a:prstGeom prst="rect">
            <a:avLst/>
          </a:prstGeom>
          <a:noFill/>
        </p:spPr>
        <p:txBody>
          <a:bodyPr wrap="square">
            <a:spAutoFit/>
          </a:bodyPr>
          <a:lstStyle/>
          <a:p>
            <a:pPr algn="ctr"/>
            <a:r>
              <a:rPr sz="1100" b="0" i="0">
                <a:solidFill>
                  <a:srgbClr val="94A3B8"/>
                </a:solidFill>
                <a:latin typeface="Calibri"/>
              </a:rPr>
              <a:t>Series A target: 40%+ retention · NPS ≥ 40</a:t>
            </a:r>
          </a:p>
        </p:txBody>
      </p:sp>
      <p:sp>
        <p:nvSpPr>
          <p:cNvPr id="33" name="Rectangle 32"/>
          <p:cNvSpPr/>
          <p:nvPr/>
        </p:nvSpPr>
        <p:spPr>
          <a:xfrm>
            <a:off x="594360" y="5989320"/>
            <a:ext cx="3118104" cy="292608"/>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4" name="Rectangle 33"/>
          <p:cNvSpPr/>
          <p:nvPr/>
        </p:nvSpPr>
        <p:spPr>
          <a:xfrm>
            <a:off x="3712464" y="5989320"/>
            <a:ext cx="850392"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5" name="Rectangle 34"/>
          <p:cNvSpPr/>
          <p:nvPr/>
        </p:nvSpPr>
        <p:spPr>
          <a:xfrm>
            <a:off x="4562856" y="5989320"/>
            <a:ext cx="1133856" cy="29260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6" name="Rectangle 35"/>
          <p:cNvSpPr/>
          <p:nvPr/>
        </p:nvSpPr>
        <p:spPr>
          <a:xfrm>
            <a:off x="5696712" y="5989320"/>
            <a:ext cx="566928" cy="2926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7" name="TextBox 36"/>
          <p:cNvSpPr txBox="1"/>
          <p:nvPr/>
        </p:nvSpPr>
        <p:spPr>
          <a:xfrm>
            <a:off x="594360" y="6318504"/>
            <a:ext cx="3118104" cy="261610"/>
          </a:xfrm>
          <a:prstGeom prst="rect">
            <a:avLst/>
          </a:prstGeom>
          <a:noFill/>
        </p:spPr>
        <p:txBody>
          <a:bodyPr wrap="square">
            <a:spAutoFit/>
          </a:bodyPr>
          <a:lstStyle/>
          <a:p>
            <a:pPr algn="ctr"/>
            <a:r>
              <a:rPr sz="1100" b="0" i="0">
                <a:solidFill>
                  <a:srgbClr val="4F8EF7"/>
                </a:solidFill>
                <a:latin typeface="Calibri"/>
              </a:rPr>
              <a:t>55% Engineering</a:t>
            </a:r>
          </a:p>
        </p:txBody>
      </p:sp>
      <p:sp>
        <p:nvSpPr>
          <p:cNvPr id="38" name="TextBox 37"/>
          <p:cNvSpPr txBox="1"/>
          <p:nvPr/>
        </p:nvSpPr>
        <p:spPr>
          <a:xfrm>
            <a:off x="3712464" y="6318504"/>
            <a:ext cx="850392" cy="261610"/>
          </a:xfrm>
          <a:prstGeom prst="rect">
            <a:avLst/>
          </a:prstGeom>
          <a:noFill/>
        </p:spPr>
        <p:txBody>
          <a:bodyPr wrap="square">
            <a:spAutoFit/>
          </a:bodyPr>
          <a:lstStyle/>
          <a:p>
            <a:pPr algn="ctr"/>
            <a:r>
              <a:rPr sz="1100" b="0" i="0">
                <a:solidFill>
                  <a:srgbClr val="7C3AED"/>
                </a:solidFill>
                <a:latin typeface="Calibri"/>
              </a:rPr>
              <a:t>15% Design</a:t>
            </a:r>
          </a:p>
        </p:txBody>
      </p:sp>
      <p:sp>
        <p:nvSpPr>
          <p:cNvPr id="39" name="TextBox 38"/>
          <p:cNvSpPr txBox="1"/>
          <p:nvPr/>
        </p:nvSpPr>
        <p:spPr>
          <a:xfrm>
            <a:off x="4562856" y="6318504"/>
            <a:ext cx="1133856" cy="261610"/>
          </a:xfrm>
          <a:prstGeom prst="rect">
            <a:avLst/>
          </a:prstGeom>
          <a:noFill/>
        </p:spPr>
        <p:txBody>
          <a:bodyPr wrap="square">
            <a:spAutoFit/>
          </a:bodyPr>
          <a:lstStyle/>
          <a:p>
            <a:pPr algn="ctr"/>
            <a:r>
              <a:rPr sz="1100" b="0" i="0">
                <a:solidFill>
                  <a:srgbClr val="22C55E"/>
                </a:solidFill>
                <a:latin typeface="Calibri"/>
              </a:rPr>
              <a:t>20% GTM</a:t>
            </a:r>
          </a:p>
        </p:txBody>
      </p:sp>
      <p:sp>
        <p:nvSpPr>
          <p:cNvPr id="40" name="TextBox 39"/>
          <p:cNvSpPr txBox="1"/>
          <p:nvPr/>
        </p:nvSpPr>
        <p:spPr>
          <a:xfrm>
            <a:off x="5696712" y="6318504"/>
            <a:ext cx="566928" cy="430887"/>
          </a:xfrm>
          <a:prstGeom prst="rect">
            <a:avLst/>
          </a:prstGeom>
          <a:noFill/>
        </p:spPr>
        <p:txBody>
          <a:bodyPr wrap="square">
            <a:spAutoFit/>
          </a:bodyPr>
          <a:lstStyle/>
          <a:p>
            <a:pPr algn="ctr"/>
            <a:r>
              <a:rPr sz="1100" b="0" i="0">
                <a:solidFill>
                  <a:srgbClr val="F59E0B"/>
                </a:solidFill>
                <a:latin typeface="Calibri"/>
              </a:rPr>
              <a:t>10% Legal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637276" y="1188720"/>
            <a:ext cx="914400" cy="914400"/>
          </a:xfrm>
          <a:prstGeom prst="ellipse">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37276" y="1188720"/>
            <a:ext cx="914400" cy="914400"/>
          </a:xfrm>
          <a:prstGeom prst="rect">
            <a:avLst/>
          </a:prstGeom>
          <a:noFill/>
        </p:spPr>
        <p:txBody>
          <a:bodyPr wrap="square">
            <a:spAutoFit/>
          </a:bodyPr>
          <a:lstStyle/>
          <a:p>
            <a:pPr algn="ctr"/>
            <a:r>
              <a:rPr sz="4000" b="0" i="0">
                <a:solidFill>
                  <a:srgbClr val="E2E8F0"/>
                </a:solidFill>
                <a:latin typeface="Calibri"/>
              </a:rPr>
              <a:t>💰</a:t>
            </a:r>
          </a:p>
        </p:txBody>
      </p:sp>
      <p:sp>
        <p:nvSpPr>
          <p:cNvPr id="6" name="TextBox 5"/>
          <p:cNvSpPr txBox="1"/>
          <p:nvPr/>
        </p:nvSpPr>
        <p:spPr>
          <a:xfrm>
            <a:off x="2436876" y="2331720"/>
            <a:ext cx="7315200" cy="502920"/>
          </a:xfrm>
          <a:prstGeom prst="rect">
            <a:avLst/>
          </a:prstGeom>
          <a:noFill/>
        </p:spPr>
        <p:txBody>
          <a:bodyPr wrap="square">
            <a:spAutoFit/>
          </a:bodyPr>
          <a:lstStyle/>
          <a:p>
            <a:pPr algn="ctr"/>
            <a:r>
              <a:rPr sz="3000" b="1" i="0">
                <a:solidFill>
                  <a:srgbClr val="FFFFFF"/>
                </a:solidFill>
                <a:latin typeface="Calibri"/>
              </a:rPr>
              <a:t>The household finance tool</a:t>
            </a:r>
          </a:p>
        </p:txBody>
      </p:sp>
      <p:sp>
        <p:nvSpPr>
          <p:cNvPr id="7" name="TextBox 6"/>
          <p:cNvSpPr txBox="1"/>
          <p:nvPr/>
        </p:nvSpPr>
        <p:spPr>
          <a:xfrm>
            <a:off x="2436876" y="2743200"/>
            <a:ext cx="7315200" cy="502920"/>
          </a:xfrm>
          <a:prstGeom prst="rect">
            <a:avLst/>
          </a:prstGeom>
          <a:noFill/>
        </p:spPr>
        <p:txBody>
          <a:bodyPr wrap="square">
            <a:spAutoFit/>
          </a:bodyPr>
          <a:lstStyle/>
          <a:p>
            <a:pPr algn="ctr"/>
            <a:r>
              <a:rPr sz="3000" b="1" i="0">
                <a:solidFill>
                  <a:srgbClr val="4F8EF7"/>
                </a:solidFill>
                <a:latin typeface="Calibri"/>
              </a:rPr>
              <a:t>families actually deserve</a:t>
            </a:r>
          </a:p>
        </p:txBody>
      </p:sp>
      <p:sp>
        <p:nvSpPr>
          <p:cNvPr id="8" name="TextBox 7"/>
          <p:cNvSpPr txBox="1"/>
          <p:nvPr/>
        </p:nvSpPr>
        <p:spPr>
          <a:xfrm>
            <a:off x="1979676" y="3310128"/>
            <a:ext cx="8229600" cy="347472"/>
          </a:xfrm>
          <a:prstGeom prst="rect">
            <a:avLst/>
          </a:prstGeom>
          <a:noFill/>
        </p:spPr>
        <p:txBody>
          <a:bodyPr wrap="square">
            <a:spAutoFit/>
          </a:bodyPr>
          <a:lstStyle/>
          <a:p>
            <a:pPr algn="ctr"/>
            <a:r>
              <a:rPr sz="1300" b="0" i="0">
                <a:solidFill>
                  <a:srgbClr val="94A3B8"/>
                </a:solidFill>
                <a:latin typeface="Calibri"/>
              </a:rPr>
              <a:t>Family-native  ·  Privacy-safe  ·  AI-powered  ·  No bank credentials ever</a:t>
            </a:r>
          </a:p>
        </p:txBody>
      </p:sp>
      <p:sp>
        <p:nvSpPr>
          <p:cNvPr id="9" name="Rectangle 8"/>
          <p:cNvSpPr/>
          <p:nvPr/>
        </p:nvSpPr>
        <p:spPr>
          <a:xfrm>
            <a:off x="1339596" y="3931920"/>
            <a:ext cx="2286000" cy="89611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39596" y="3968496"/>
            <a:ext cx="2286000" cy="438912"/>
          </a:xfrm>
          <a:prstGeom prst="rect">
            <a:avLst/>
          </a:prstGeom>
          <a:noFill/>
        </p:spPr>
        <p:txBody>
          <a:bodyPr wrap="square">
            <a:spAutoFit/>
          </a:bodyPr>
          <a:lstStyle/>
          <a:p>
            <a:pPr algn="ctr"/>
            <a:r>
              <a:rPr sz="2000" b="1" i="0" dirty="0">
                <a:solidFill>
                  <a:srgbClr val="FFFFFF"/>
                </a:solidFill>
                <a:latin typeface="Calibri"/>
              </a:rPr>
              <a:t>$1.5–2.5M</a:t>
            </a:r>
          </a:p>
        </p:txBody>
      </p:sp>
      <p:sp>
        <p:nvSpPr>
          <p:cNvPr id="11" name="TextBox 10"/>
          <p:cNvSpPr txBox="1"/>
          <p:nvPr/>
        </p:nvSpPr>
        <p:spPr>
          <a:xfrm>
            <a:off x="1339596" y="4389120"/>
            <a:ext cx="2286000" cy="256032"/>
          </a:xfrm>
          <a:prstGeom prst="rect">
            <a:avLst/>
          </a:prstGeom>
          <a:noFill/>
        </p:spPr>
        <p:txBody>
          <a:bodyPr wrap="square">
            <a:spAutoFit/>
          </a:bodyPr>
          <a:lstStyle/>
          <a:p>
            <a:pPr algn="ctr"/>
            <a:r>
              <a:rPr sz="1000" b="0" i="0">
                <a:solidFill>
                  <a:srgbClr val="94A3B8"/>
                </a:solidFill>
                <a:latin typeface="Calibri"/>
              </a:rPr>
              <a:t>Seed Ask</a:t>
            </a:r>
          </a:p>
        </p:txBody>
      </p:sp>
      <p:sp>
        <p:nvSpPr>
          <p:cNvPr id="12" name="Rectangle 11"/>
          <p:cNvSpPr/>
          <p:nvPr/>
        </p:nvSpPr>
        <p:spPr>
          <a:xfrm>
            <a:off x="3771900" y="3931920"/>
            <a:ext cx="2286000" cy="89611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71900" y="3968496"/>
            <a:ext cx="2286000" cy="438912"/>
          </a:xfrm>
          <a:prstGeom prst="rect">
            <a:avLst/>
          </a:prstGeom>
          <a:noFill/>
        </p:spPr>
        <p:txBody>
          <a:bodyPr wrap="square">
            <a:spAutoFit/>
          </a:bodyPr>
          <a:lstStyle/>
          <a:p>
            <a:pPr algn="ctr"/>
            <a:r>
              <a:rPr sz="2000" b="1" i="0">
                <a:solidFill>
                  <a:srgbClr val="FFFFFF"/>
                </a:solidFill>
                <a:latin typeface="Calibri"/>
              </a:rPr>
              <a:t>10K MAU</a:t>
            </a:r>
          </a:p>
        </p:txBody>
      </p:sp>
      <p:sp>
        <p:nvSpPr>
          <p:cNvPr id="14" name="TextBox 13"/>
          <p:cNvSpPr txBox="1"/>
          <p:nvPr/>
        </p:nvSpPr>
        <p:spPr>
          <a:xfrm>
            <a:off x="3771900" y="4389120"/>
            <a:ext cx="2286000" cy="256032"/>
          </a:xfrm>
          <a:prstGeom prst="rect">
            <a:avLst/>
          </a:prstGeom>
          <a:noFill/>
        </p:spPr>
        <p:txBody>
          <a:bodyPr wrap="square">
            <a:spAutoFit/>
          </a:bodyPr>
          <a:lstStyle/>
          <a:p>
            <a:pPr algn="ctr"/>
            <a:r>
              <a:rPr sz="1000" b="0" i="0">
                <a:solidFill>
                  <a:srgbClr val="94A3B8"/>
                </a:solidFill>
                <a:latin typeface="Calibri"/>
              </a:rPr>
              <a:t>12-mo Target</a:t>
            </a:r>
          </a:p>
        </p:txBody>
      </p:sp>
      <p:sp>
        <p:nvSpPr>
          <p:cNvPr id="15" name="Rectangle 14"/>
          <p:cNvSpPr/>
          <p:nvPr/>
        </p:nvSpPr>
        <p:spPr>
          <a:xfrm>
            <a:off x="6204204" y="3931920"/>
            <a:ext cx="2286000" cy="89611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04204" y="3968496"/>
            <a:ext cx="2286000" cy="438912"/>
          </a:xfrm>
          <a:prstGeom prst="rect">
            <a:avLst/>
          </a:prstGeom>
          <a:noFill/>
        </p:spPr>
        <p:txBody>
          <a:bodyPr wrap="square">
            <a:spAutoFit/>
          </a:bodyPr>
          <a:lstStyle/>
          <a:p>
            <a:pPr algn="ctr"/>
            <a:r>
              <a:rPr sz="2000" b="1" i="0">
                <a:solidFill>
                  <a:srgbClr val="FFFFFF"/>
                </a:solidFill>
                <a:latin typeface="Calibri"/>
              </a:rPr>
              <a:t>5%</a:t>
            </a:r>
          </a:p>
        </p:txBody>
      </p:sp>
      <p:sp>
        <p:nvSpPr>
          <p:cNvPr id="17" name="TextBox 16"/>
          <p:cNvSpPr txBox="1"/>
          <p:nvPr/>
        </p:nvSpPr>
        <p:spPr>
          <a:xfrm>
            <a:off x="6204204" y="4389120"/>
            <a:ext cx="2286000" cy="256032"/>
          </a:xfrm>
          <a:prstGeom prst="rect">
            <a:avLst/>
          </a:prstGeom>
          <a:noFill/>
        </p:spPr>
        <p:txBody>
          <a:bodyPr wrap="square">
            <a:spAutoFit/>
          </a:bodyPr>
          <a:lstStyle/>
          <a:p>
            <a:pPr algn="ctr"/>
            <a:r>
              <a:rPr sz="1000" b="0" i="0">
                <a:solidFill>
                  <a:srgbClr val="94A3B8"/>
                </a:solidFill>
                <a:latin typeface="Calibri"/>
              </a:rPr>
              <a:t>Free → Premium</a:t>
            </a:r>
          </a:p>
        </p:txBody>
      </p:sp>
      <p:sp>
        <p:nvSpPr>
          <p:cNvPr id="18" name="Rectangle 17"/>
          <p:cNvSpPr/>
          <p:nvPr/>
        </p:nvSpPr>
        <p:spPr>
          <a:xfrm>
            <a:off x="8636508" y="3931920"/>
            <a:ext cx="2286000" cy="89611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36508" y="3968496"/>
            <a:ext cx="2286000" cy="438912"/>
          </a:xfrm>
          <a:prstGeom prst="rect">
            <a:avLst/>
          </a:prstGeom>
          <a:noFill/>
        </p:spPr>
        <p:txBody>
          <a:bodyPr wrap="square">
            <a:spAutoFit/>
          </a:bodyPr>
          <a:lstStyle/>
          <a:p>
            <a:pPr algn="ctr"/>
            <a:r>
              <a:rPr sz="2000" b="1" i="0">
                <a:solidFill>
                  <a:srgbClr val="FFFFFF"/>
                </a:solidFill>
                <a:latin typeface="Calibri"/>
              </a:rPr>
              <a:t>40%+</a:t>
            </a:r>
          </a:p>
        </p:txBody>
      </p:sp>
      <p:sp>
        <p:nvSpPr>
          <p:cNvPr id="20" name="TextBox 19"/>
          <p:cNvSpPr txBox="1"/>
          <p:nvPr/>
        </p:nvSpPr>
        <p:spPr>
          <a:xfrm>
            <a:off x="8636508" y="4389120"/>
            <a:ext cx="2286000" cy="256032"/>
          </a:xfrm>
          <a:prstGeom prst="rect">
            <a:avLst/>
          </a:prstGeom>
          <a:noFill/>
        </p:spPr>
        <p:txBody>
          <a:bodyPr wrap="square">
            <a:spAutoFit/>
          </a:bodyPr>
          <a:lstStyle/>
          <a:p>
            <a:pPr algn="ctr"/>
            <a:r>
              <a:rPr sz="1000" b="0" i="0">
                <a:solidFill>
                  <a:srgbClr val="94A3B8"/>
                </a:solidFill>
                <a:latin typeface="Calibri"/>
              </a:rPr>
              <a:t>90-day Retention</a:t>
            </a:r>
          </a:p>
        </p:txBody>
      </p:sp>
      <p:sp>
        <p:nvSpPr>
          <p:cNvPr id="21" name="TextBox 20"/>
          <p:cNvSpPr txBox="1"/>
          <p:nvPr/>
        </p:nvSpPr>
        <p:spPr>
          <a:xfrm>
            <a:off x="0" y="6263640"/>
            <a:ext cx="12188952" cy="347472"/>
          </a:xfrm>
          <a:prstGeom prst="rect">
            <a:avLst/>
          </a:prstGeom>
          <a:noFill/>
        </p:spPr>
        <p:txBody>
          <a:bodyPr wrap="square">
            <a:spAutoFit/>
          </a:bodyPr>
          <a:lstStyle/>
          <a:p>
            <a:pPr algn="ctr"/>
            <a:r>
              <a:rPr sz="1000" b="0" i="0">
                <a:solidFill>
                  <a:srgbClr val="2A3450"/>
                </a:solidFill>
                <a:latin typeface="Calibri"/>
              </a:rPr>
              <a:t>saudamini@gmail.com  ·  Family Budget Assistant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5865</Words>
  <Application>Microsoft Macintosh PowerPoint</Application>
  <PresentationFormat>Custom</PresentationFormat>
  <Paragraphs>626</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Saudamini Baru</cp:lastModifiedBy>
  <cp:revision>3</cp:revision>
  <dcterms:created xsi:type="dcterms:W3CDTF">2013-01-27T09:14:16Z</dcterms:created>
  <dcterms:modified xsi:type="dcterms:W3CDTF">2026-06-04T23:01:45Z</dcterms:modified>
  <cp:category/>
</cp:coreProperties>
</file>